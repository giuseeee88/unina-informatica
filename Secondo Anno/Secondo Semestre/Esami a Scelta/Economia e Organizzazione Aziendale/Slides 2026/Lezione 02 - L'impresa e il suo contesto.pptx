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98" r:id="rId5"/>
  </p:sldMasterIdLst>
  <p:notesMasterIdLst>
    <p:notesMasterId r:id="rId23"/>
  </p:notesMasterIdLst>
  <p:sldIdLst>
    <p:sldId id="367" r:id="rId6"/>
    <p:sldId id="327" r:id="rId7"/>
    <p:sldId id="328" r:id="rId8"/>
    <p:sldId id="329" r:id="rId9"/>
    <p:sldId id="342" r:id="rId10"/>
    <p:sldId id="257" r:id="rId11"/>
    <p:sldId id="324" r:id="rId12"/>
    <p:sldId id="343" r:id="rId13"/>
    <p:sldId id="344" r:id="rId14"/>
    <p:sldId id="345" r:id="rId15"/>
    <p:sldId id="346" r:id="rId16"/>
    <p:sldId id="347" r:id="rId17"/>
    <p:sldId id="363" r:id="rId18"/>
    <p:sldId id="368" r:id="rId19"/>
    <p:sldId id="364" r:id="rId20"/>
    <p:sldId id="365" r:id="rId21"/>
    <p:sldId id="362" r:id="rId22"/>
  </p:sldIdLst>
  <p:sldSz cx="9144000" cy="6858000" type="screen4x3"/>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1084" autoAdjust="0"/>
  </p:normalViewPr>
  <p:slideViewPr>
    <p:cSldViewPr snapToGrid="0" snapToObjects="1">
      <p:cViewPr varScale="1">
        <p:scale>
          <a:sx n="69" d="100"/>
          <a:sy n="69" d="100"/>
        </p:scale>
        <p:origin x="1858"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32FF45-6C2B-BF43-A6E6-455C162C6C48}" type="datetimeFigureOut">
              <a:rPr lang="it-IT" smtClean="0"/>
              <a:pPr/>
              <a:t>01/06/2026</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69C97A-4DF7-F042-A965-1FB79971CB2E}"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367AC0-BB0E-EE45-B67E-6606AB89C3E0}"/>
              </a:ext>
            </a:extLst>
          </p:cNvPr>
          <p:cNvSpPr>
            <a:spLocks noGrp="1"/>
          </p:cNvSpPr>
          <p:nvPr>
            <p:ph type="ctrTitle"/>
          </p:nvPr>
        </p:nvSpPr>
        <p:spPr>
          <a:xfrm>
            <a:off x="1143000" y="1122363"/>
            <a:ext cx="6858000" cy="2387600"/>
          </a:xfrm>
        </p:spPr>
        <p:txBody>
          <a:bodyPr anchor="b"/>
          <a:lstStyle>
            <a:lvl1pPr algn="ctr">
              <a:defRPr sz="45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FF53AB7-2040-6A4E-B8ED-67778AF88E5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D7FF3A72-D704-1841-96AA-28EC3DD8E2CE}"/>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5" name="Segnaposto piè di pagina 4">
            <a:extLst>
              <a:ext uri="{FF2B5EF4-FFF2-40B4-BE49-F238E27FC236}">
                <a16:creationId xmlns:a16="http://schemas.microsoft.com/office/drawing/2014/main" id="{A9CA5FEA-D3F6-8D4F-BD4F-ECA6856542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EAAD52E-67DD-4B40-8F63-C3017CBE6B68}"/>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509107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36CF00-FD7E-3F4B-9F94-8678F6E867F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92E0252-69EC-B644-974B-5C54AEBC12B1}"/>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6FA8D48-3180-EF46-9462-2E11F852B0FF}"/>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5" name="Segnaposto piè di pagina 4">
            <a:extLst>
              <a:ext uri="{FF2B5EF4-FFF2-40B4-BE49-F238E27FC236}">
                <a16:creationId xmlns:a16="http://schemas.microsoft.com/office/drawing/2014/main" id="{6E8CBD3E-9CC2-AB4D-9F84-714C51B156A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39A2179-0F5D-7A48-8EB5-044E5DCF17D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015906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D9337D-EA32-C342-971D-6F706E94AAA7}"/>
              </a:ext>
            </a:extLst>
          </p:cNvPr>
          <p:cNvSpPr>
            <a:spLocks noGrp="1"/>
          </p:cNvSpPr>
          <p:nvPr>
            <p:ph type="title"/>
          </p:nvPr>
        </p:nvSpPr>
        <p:spPr>
          <a:xfrm>
            <a:off x="623888" y="1709739"/>
            <a:ext cx="7886700" cy="2852737"/>
          </a:xfrm>
        </p:spPr>
        <p:txBody>
          <a:bodyPr anchor="b"/>
          <a:lstStyle>
            <a:lvl1pPr>
              <a:defRPr sz="45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F038567C-11D6-3149-815B-596D4EE5068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23841DE1-40FA-5541-A83E-AFF6A60DA277}"/>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5" name="Segnaposto piè di pagina 4">
            <a:extLst>
              <a:ext uri="{FF2B5EF4-FFF2-40B4-BE49-F238E27FC236}">
                <a16:creationId xmlns:a16="http://schemas.microsoft.com/office/drawing/2014/main" id="{DDE33406-5847-C144-9808-ECE09FA3E14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3DE7CB0-65E2-9D44-9CF8-6BF203218AB3}"/>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465915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A7A561-BA9A-1247-922E-6C11556BBC4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C522E11-E4F4-3542-8669-453F68FA8398}"/>
              </a:ext>
            </a:extLst>
          </p:cNvPr>
          <p:cNvSpPr>
            <a:spLocks noGrp="1"/>
          </p:cNvSpPr>
          <p:nvPr>
            <p:ph sz="half" idx="1"/>
          </p:nvPr>
        </p:nvSpPr>
        <p:spPr>
          <a:xfrm>
            <a:off x="6286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0F52616-68E6-BB4A-96A9-1B7ACBF51BEC}"/>
              </a:ext>
            </a:extLst>
          </p:cNvPr>
          <p:cNvSpPr>
            <a:spLocks noGrp="1"/>
          </p:cNvSpPr>
          <p:nvPr>
            <p:ph sz="half" idx="2"/>
          </p:nvPr>
        </p:nvSpPr>
        <p:spPr>
          <a:xfrm>
            <a:off x="46291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7CC6BDC-A9E5-AA42-A8A5-C1103F0C3C64}"/>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6" name="Segnaposto piè di pagina 5">
            <a:extLst>
              <a:ext uri="{FF2B5EF4-FFF2-40B4-BE49-F238E27FC236}">
                <a16:creationId xmlns:a16="http://schemas.microsoft.com/office/drawing/2014/main" id="{42F679D5-D7D6-4749-9054-BD128D89C9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89AA0E8-25D9-1E40-804D-997B6AEA01BD}"/>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50826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2B8D5F3-5523-B347-8B04-827E78F83122}"/>
              </a:ext>
            </a:extLst>
          </p:cNvPr>
          <p:cNvSpPr>
            <a:spLocks noGrp="1"/>
          </p:cNvSpPr>
          <p:nvPr>
            <p:ph type="title"/>
          </p:nvPr>
        </p:nvSpPr>
        <p:spPr>
          <a:xfrm>
            <a:off x="629841" y="365126"/>
            <a:ext cx="78867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B603646-5E6A-2F41-B712-8E476B6A62E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98D5E67-11E2-1046-A296-1CC9171C7BAB}"/>
              </a:ext>
            </a:extLst>
          </p:cNvPr>
          <p:cNvSpPr>
            <a:spLocks noGrp="1"/>
          </p:cNvSpPr>
          <p:nvPr>
            <p:ph sz="half" idx="2"/>
          </p:nvPr>
        </p:nvSpPr>
        <p:spPr>
          <a:xfrm>
            <a:off x="629842" y="2505075"/>
            <a:ext cx="3868340"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D30E96A8-2A9D-BA44-82AB-B82F09212EC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68018130-58EC-284C-A192-C371081C2517}"/>
              </a:ext>
            </a:extLst>
          </p:cNvPr>
          <p:cNvSpPr>
            <a:spLocks noGrp="1"/>
          </p:cNvSpPr>
          <p:nvPr>
            <p:ph sz="quarter" idx="4"/>
          </p:nvPr>
        </p:nvSpPr>
        <p:spPr>
          <a:xfrm>
            <a:off x="4629150" y="2505075"/>
            <a:ext cx="3887391"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CB29458A-6CF3-B94E-B727-939D1A471561}"/>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8" name="Segnaposto piè di pagina 7">
            <a:extLst>
              <a:ext uri="{FF2B5EF4-FFF2-40B4-BE49-F238E27FC236}">
                <a16:creationId xmlns:a16="http://schemas.microsoft.com/office/drawing/2014/main" id="{59E19C0E-0F91-0940-9385-12ABA967BD6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40768A48-068F-974D-98D6-0EC1DDB35679}"/>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460649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ED85C5-357B-0E40-828C-67A5C373E61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853762B7-CE4C-5348-82D8-7D04F258B97C}"/>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4" name="Segnaposto piè di pagina 3">
            <a:extLst>
              <a:ext uri="{FF2B5EF4-FFF2-40B4-BE49-F238E27FC236}">
                <a16:creationId xmlns:a16="http://schemas.microsoft.com/office/drawing/2014/main" id="{64DB46E7-B21B-A941-B987-55316164A5D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BEEB6E9-366B-B649-B905-E5A56D276216}"/>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023612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8D75B54-E12A-5442-8D55-468B050E0F6F}"/>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3" name="Segnaposto piè di pagina 2">
            <a:extLst>
              <a:ext uri="{FF2B5EF4-FFF2-40B4-BE49-F238E27FC236}">
                <a16:creationId xmlns:a16="http://schemas.microsoft.com/office/drawing/2014/main" id="{FAB2A5C5-1808-2946-8DFE-67203370BD81}"/>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F6E26AB-A10A-934A-A0EC-30A1322A1E35}"/>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030433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7E5C40B-E968-214F-8001-CA7591B0DD2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825A044-FBFB-9644-BF3A-2594AC0412A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B2B36071-4534-D54F-AFF1-F727D2DC2AB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8641952-BC71-5A4B-BC34-62A2DD8CBCC3}"/>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6" name="Segnaposto piè di pagina 5">
            <a:extLst>
              <a:ext uri="{FF2B5EF4-FFF2-40B4-BE49-F238E27FC236}">
                <a16:creationId xmlns:a16="http://schemas.microsoft.com/office/drawing/2014/main" id="{0E0AA137-16A9-154E-87E2-05B30FB762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4F91609-B2E7-2840-A72D-7EDA1C24F960}"/>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836420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F754E3-2D14-8F40-B464-14B90BB9B1E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4E2F00A2-A169-3647-A99A-786F0618B58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it-IT"/>
          </a:p>
        </p:txBody>
      </p:sp>
      <p:sp>
        <p:nvSpPr>
          <p:cNvPr id="4" name="Segnaposto testo 3">
            <a:extLst>
              <a:ext uri="{FF2B5EF4-FFF2-40B4-BE49-F238E27FC236}">
                <a16:creationId xmlns:a16="http://schemas.microsoft.com/office/drawing/2014/main" id="{CACC0AB3-6414-2145-B265-67BDAB7EE15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BB4EDBE-6213-DF4D-A4EE-AAF863ADF158}"/>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6" name="Segnaposto piè di pagina 5">
            <a:extLst>
              <a:ext uri="{FF2B5EF4-FFF2-40B4-BE49-F238E27FC236}">
                <a16:creationId xmlns:a16="http://schemas.microsoft.com/office/drawing/2014/main" id="{DDBE1ECD-E8FF-E24F-9FBA-9BB14237E8A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FBF896D-807F-2149-A5ED-B820001F78E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893616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EE0EDF-6CF5-A14C-99B4-55F664CB25B7}"/>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6562458-A655-544A-A151-8A948B62E3A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AF6DD5-DF38-A143-851C-B8924309AC7C}"/>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5" name="Segnaposto piè di pagina 4">
            <a:extLst>
              <a:ext uri="{FF2B5EF4-FFF2-40B4-BE49-F238E27FC236}">
                <a16:creationId xmlns:a16="http://schemas.microsoft.com/office/drawing/2014/main" id="{D3174AE1-61D9-8F49-9F60-D7301C88E36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B979509-6812-5346-836E-1B19A053E28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916118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E2465E9-337A-1545-8D0B-9B65F6A3D8D8}"/>
              </a:ext>
            </a:extLst>
          </p:cNvPr>
          <p:cNvSpPr>
            <a:spLocks noGrp="1"/>
          </p:cNvSpPr>
          <p:nvPr>
            <p:ph type="title" orient="vert"/>
          </p:nvPr>
        </p:nvSpPr>
        <p:spPr>
          <a:xfrm>
            <a:off x="6543675" y="365125"/>
            <a:ext cx="1971675"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0430FEB-0602-2D4E-AF90-10E335830C3A}"/>
              </a:ext>
            </a:extLst>
          </p:cNvPr>
          <p:cNvSpPr>
            <a:spLocks noGrp="1"/>
          </p:cNvSpPr>
          <p:nvPr>
            <p:ph type="body" orient="vert" idx="1"/>
          </p:nvPr>
        </p:nvSpPr>
        <p:spPr>
          <a:xfrm>
            <a:off x="628650" y="365125"/>
            <a:ext cx="5800725"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2C2387C-14AF-1547-87D4-20939D3E801F}"/>
              </a:ext>
            </a:extLst>
          </p:cNvPr>
          <p:cNvSpPr>
            <a:spLocks noGrp="1"/>
          </p:cNvSpPr>
          <p:nvPr>
            <p:ph type="dt" sz="half" idx="10"/>
          </p:nvPr>
        </p:nvSpPr>
        <p:spPr/>
        <p:txBody>
          <a:bodyPr/>
          <a:lstStyle/>
          <a:p>
            <a:fld id="{4CE450D7-51B2-DC41-A285-84B90542AA55}" type="datetimeFigureOut">
              <a:rPr lang="it-IT" smtClean="0"/>
              <a:t>01/06/2026</a:t>
            </a:fld>
            <a:endParaRPr lang="it-IT"/>
          </a:p>
        </p:txBody>
      </p:sp>
      <p:sp>
        <p:nvSpPr>
          <p:cNvPr id="5" name="Segnaposto piè di pagina 4">
            <a:extLst>
              <a:ext uri="{FF2B5EF4-FFF2-40B4-BE49-F238E27FC236}">
                <a16:creationId xmlns:a16="http://schemas.microsoft.com/office/drawing/2014/main" id="{9B85970C-D285-FC46-9BB1-94A16BE1E3F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5CA9C2E-F38A-3642-A45E-1F01AE95919B}"/>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845445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78" b="1" i="0">
                <a:solidFill>
                  <a:srgbClr val="330065"/>
                </a:solidFill>
                <a:latin typeface="Arial"/>
                <a:cs typeface="Arial"/>
              </a:defRPr>
            </a:lvl1pPr>
          </a:lstStyle>
          <a:p>
            <a:endParaRPr/>
          </a:p>
        </p:txBody>
      </p:sp>
      <p:sp>
        <p:nvSpPr>
          <p:cNvPr id="3" name="Holder 3"/>
          <p:cNvSpPr>
            <a:spLocks noGrp="1"/>
          </p:cNvSpPr>
          <p:nvPr>
            <p:ph sz="half" idx="2"/>
          </p:nvPr>
        </p:nvSpPr>
        <p:spPr>
          <a:xfrm>
            <a:off x="457201" y="1577340"/>
            <a:ext cx="3977640" cy="29084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1" y="1577340"/>
            <a:ext cx="3977640" cy="29084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545" b="0" i="0">
                <a:solidFill>
                  <a:schemeClr val="tx1"/>
                </a:solidFill>
                <a:latin typeface="Arial"/>
                <a:cs typeface="Arial"/>
              </a:defRPr>
            </a:lvl1pPr>
          </a:lstStyle>
          <a:p>
            <a:pPr marL="8645">
              <a:spcBef>
                <a:spcPts val="17"/>
              </a:spcBef>
            </a:pPr>
            <a:r>
              <a:rPr lang="it-IT"/>
              <a:t>Sergio Sciarelli - </a:t>
            </a:r>
            <a:r>
              <a:rPr lang="it-IT" spc="-4"/>
              <a:t>La gestione dell'impresa CEDAM </a:t>
            </a:r>
            <a:r>
              <a:rPr lang="it-IT"/>
              <a:t>© </a:t>
            </a:r>
            <a:r>
              <a:rPr lang="it-IT" spc="-4"/>
              <a:t>2011 </a:t>
            </a:r>
            <a:r>
              <a:rPr lang="it-IT"/>
              <a:t>Wolters Kluwer Italia</a:t>
            </a:r>
            <a:r>
              <a:rPr lang="it-IT" spc="-41"/>
              <a:t> </a:t>
            </a:r>
            <a:r>
              <a:rPr lang="it-IT"/>
              <a:t>S.r.l.</a:t>
            </a:r>
            <a:endParaRPr lang="it-IT"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5843044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177746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42900" y="1420283"/>
            <a:ext cx="38862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685800" y="2590800"/>
            <a:ext cx="3200400" cy="1168400"/>
          </a:xfrm>
          <a:prstGeom prst="rect">
            <a:avLst/>
          </a:prstGeom>
          <a:noFill/>
          <a:ln>
            <a:noFill/>
          </a:ln>
        </p:spPr>
        <p:txBody>
          <a:bodyPr spcFirstLastPara="1" wrap="square" lIns="91425" tIns="45700" rIns="91425" bIns="45700" anchor="t" anchorCtr="0">
            <a:normAutofit/>
          </a:bodyPr>
          <a:lstStyle>
            <a:lvl1pPr lvl="0" algn="ctr">
              <a:spcBef>
                <a:spcPts val="320"/>
              </a:spcBef>
              <a:spcAft>
                <a:spcPts val="0"/>
              </a:spcAft>
              <a:buClr>
                <a:srgbClr val="888888"/>
              </a:buClr>
              <a:buSzPts val="3200"/>
              <a:buNone/>
              <a:defRPr>
                <a:solidFill>
                  <a:srgbClr val="888888"/>
                </a:solidFill>
              </a:defRPr>
            </a:lvl1pPr>
            <a:lvl2pPr lvl="1" algn="ctr">
              <a:spcBef>
                <a:spcPts val="280"/>
              </a:spcBef>
              <a:spcAft>
                <a:spcPts val="0"/>
              </a:spcAft>
              <a:buClr>
                <a:srgbClr val="888888"/>
              </a:buClr>
              <a:buSzPts val="2800"/>
              <a:buNone/>
              <a:defRPr>
                <a:solidFill>
                  <a:srgbClr val="888888"/>
                </a:solidFill>
              </a:defRPr>
            </a:lvl2pPr>
            <a:lvl3pPr lvl="2" algn="ctr">
              <a:spcBef>
                <a:spcPts val="240"/>
              </a:spcBef>
              <a:spcAft>
                <a:spcPts val="0"/>
              </a:spcAft>
              <a:buClr>
                <a:srgbClr val="888888"/>
              </a:buClr>
              <a:buSzPts val="2400"/>
              <a:buNone/>
              <a:defRPr>
                <a:solidFill>
                  <a:srgbClr val="888888"/>
                </a:solidFill>
              </a:defRPr>
            </a:lvl3pPr>
            <a:lvl4pPr lvl="3" algn="ctr">
              <a:spcBef>
                <a:spcPts val="200"/>
              </a:spcBef>
              <a:spcAft>
                <a:spcPts val="0"/>
              </a:spcAft>
              <a:buClr>
                <a:srgbClr val="888888"/>
              </a:buClr>
              <a:buSzPts val="2000"/>
              <a:buNone/>
              <a:defRPr>
                <a:solidFill>
                  <a:srgbClr val="888888"/>
                </a:solidFill>
              </a:defRPr>
            </a:lvl4pPr>
            <a:lvl5pPr lvl="4" algn="ctr">
              <a:spcBef>
                <a:spcPts val="200"/>
              </a:spcBef>
              <a:spcAft>
                <a:spcPts val="0"/>
              </a:spcAft>
              <a:buClr>
                <a:srgbClr val="888888"/>
              </a:buClr>
              <a:buSzPts val="2000"/>
              <a:buNone/>
              <a:defRPr>
                <a:solidFill>
                  <a:srgbClr val="888888"/>
                </a:solidFill>
              </a:defRPr>
            </a:lvl5pPr>
            <a:lvl6pPr lvl="5" algn="ctr">
              <a:spcBef>
                <a:spcPts val="200"/>
              </a:spcBef>
              <a:spcAft>
                <a:spcPts val="0"/>
              </a:spcAft>
              <a:buClr>
                <a:srgbClr val="888888"/>
              </a:buClr>
              <a:buSzPts val="2000"/>
              <a:buNone/>
              <a:defRPr>
                <a:solidFill>
                  <a:srgbClr val="888888"/>
                </a:solidFill>
              </a:defRPr>
            </a:lvl6pPr>
            <a:lvl7pPr lvl="6" algn="ctr">
              <a:spcBef>
                <a:spcPts val="200"/>
              </a:spcBef>
              <a:spcAft>
                <a:spcPts val="0"/>
              </a:spcAft>
              <a:buClr>
                <a:srgbClr val="888888"/>
              </a:buClr>
              <a:buSzPts val="2000"/>
              <a:buNone/>
              <a:defRPr>
                <a:solidFill>
                  <a:srgbClr val="888888"/>
                </a:solidFill>
              </a:defRPr>
            </a:lvl7pPr>
            <a:lvl8pPr lvl="7" algn="ctr">
              <a:spcBef>
                <a:spcPts val="200"/>
              </a:spcBef>
              <a:spcAft>
                <a:spcPts val="0"/>
              </a:spcAft>
              <a:buClr>
                <a:srgbClr val="888888"/>
              </a:buClr>
              <a:buSzPts val="2000"/>
              <a:buNone/>
              <a:defRPr>
                <a:solidFill>
                  <a:srgbClr val="888888"/>
                </a:solidFill>
              </a:defRPr>
            </a:lvl8pPr>
            <a:lvl9pPr lvl="8" algn="ctr">
              <a:spcBef>
                <a:spcPts val="2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905121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794203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61157" y="2937934"/>
            <a:ext cx="38862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361157" y="1937810"/>
            <a:ext cx="3886200" cy="1000125"/>
          </a:xfrm>
          <a:prstGeom prst="rect">
            <a:avLst/>
          </a:prstGeom>
          <a:noFill/>
          <a:ln>
            <a:noFill/>
          </a:ln>
        </p:spPr>
        <p:txBody>
          <a:bodyPr spcFirstLastPara="1" wrap="square" lIns="91425" tIns="45700" rIns="91425" bIns="45700" anchor="b" anchorCtr="0">
            <a:normAutofit/>
          </a:bodyPr>
          <a:lstStyle>
            <a:lvl1pPr marL="228611" lvl="0" indent="-114306" algn="l">
              <a:spcBef>
                <a:spcPts val="200"/>
              </a:spcBef>
              <a:spcAft>
                <a:spcPts val="0"/>
              </a:spcAft>
              <a:buClr>
                <a:srgbClr val="888888"/>
              </a:buClr>
              <a:buSzPts val="2000"/>
              <a:buNone/>
              <a:defRPr sz="1000">
                <a:solidFill>
                  <a:srgbClr val="888888"/>
                </a:solidFill>
              </a:defRPr>
            </a:lvl1pPr>
            <a:lvl2pPr marL="457223" lvl="1" indent="-114306" algn="l">
              <a:spcBef>
                <a:spcPts val="180"/>
              </a:spcBef>
              <a:spcAft>
                <a:spcPts val="0"/>
              </a:spcAft>
              <a:buClr>
                <a:srgbClr val="888888"/>
              </a:buClr>
              <a:buSzPts val="1800"/>
              <a:buNone/>
              <a:defRPr sz="900">
                <a:solidFill>
                  <a:srgbClr val="888888"/>
                </a:solidFill>
              </a:defRPr>
            </a:lvl2pPr>
            <a:lvl3pPr marL="685835" lvl="2" indent="-114306" algn="l">
              <a:spcBef>
                <a:spcPts val="160"/>
              </a:spcBef>
              <a:spcAft>
                <a:spcPts val="0"/>
              </a:spcAft>
              <a:buClr>
                <a:srgbClr val="888888"/>
              </a:buClr>
              <a:buSzPts val="1600"/>
              <a:buNone/>
              <a:defRPr sz="800">
                <a:solidFill>
                  <a:srgbClr val="888888"/>
                </a:solidFill>
              </a:defRPr>
            </a:lvl3pPr>
            <a:lvl4pPr marL="914446" lvl="3" indent="-114306" algn="l">
              <a:spcBef>
                <a:spcPts val="140"/>
              </a:spcBef>
              <a:spcAft>
                <a:spcPts val="0"/>
              </a:spcAft>
              <a:buClr>
                <a:srgbClr val="888888"/>
              </a:buClr>
              <a:buSzPts val="1400"/>
              <a:buNone/>
              <a:defRPr sz="700">
                <a:solidFill>
                  <a:srgbClr val="888888"/>
                </a:solidFill>
              </a:defRPr>
            </a:lvl4pPr>
            <a:lvl5pPr marL="1143057" lvl="4" indent="-114306" algn="l">
              <a:spcBef>
                <a:spcPts val="140"/>
              </a:spcBef>
              <a:spcAft>
                <a:spcPts val="0"/>
              </a:spcAft>
              <a:buClr>
                <a:srgbClr val="888888"/>
              </a:buClr>
              <a:buSzPts val="1400"/>
              <a:buNone/>
              <a:defRPr sz="700">
                <a:solidFill>
                  <a:srgbClr val="888888"/>
                </a:solidFill>
              </a:defRPr>
            </a:lvl5pPr>
            <a:lvl6pPr marL="1371668" lvl="5" indent="-114306" algn="l">
              <a:spcBef>
                <a:spcPts val="140"/>
              </a:spcBef>
              <a:spcAft>
                <a:spcPts val="0"/>
              </a:spcAft>
              <a:buClr>
                <a:srgbClr val="888888"/>
              </a:buClr>
              <a:buSzPts val="1400"/>
              <a:buNone/>
              <a:defRPr sz="700">
                <a:solidFill>
                  <a:srgbClr val="888888"/>
                </a:solidFill>
              </a:defRPr>
            </a:lvl6pPr>
            <a:lvl7pPr marL="1600280" lvl="6" indent="-114306" algn="l">
              <a:spcBef>
                <a:spcPts val="140"/>
              </a:spcBef>
              <a:spcAft>
                <a:spcPts val="0"/>
              </a:spcAft>
              <a:buClr>
                <a:srgbClr val="888888"/>
              </a:buClr>
              <a:buSzPts val="1400"/>
              <a:buNone/>
              <a:defRPr sz="700">
                <a:solidFill>
                  <a:srgbClr val="888888"/>
                </a:solidFill>
              </a:defRPr>
            </a:lvl7pPr>
            <a:lvl8pPr marL="1828892" lvl="7" indent="-114306" algn="l">
              <a:spcBef>
                <a:spcPts val="140"/>
              </a:spcBef>
              <a:spcAft>
                <a:spcPts val="0"/>
              </a:spcAft>
              <a:buClr>
                <a:srgbClr val="888888"/>
              </a:buClr>
              <a:buSzPts val="1400"/>
              <a:buNone/>
              <a:defRPr sz="700">
                <a:solidFill>
                  <a:srgbClr val="888888"/>
                </a:solidFill>
              </a:defRPr>
            </a:lvl8pPr>
            <a:lvl9pPr marL="2057503" lvl="8" indent="-114306" algn="l">
              <a:spcBef>
                <a:spcPts val="140"/>
              </a:spcBef>
              <a:spcAft>
                <a:spcPts val="0"/>
              </a:spcAft>
              <a:buClr>
                <a:srgbClr val="888888"/>
              </a:buClr>
              <a:buSzPts val="1400"/>
              <a:buNone/>
              <a:defRPr sz="700">
                <a:solidFill>
                  <a:srgbClr val="888888"/>
                </a:solidFill>
              </a:defRPr>
            </a:lvl9pPr>
          </a:lstStyle>
          <a:p>
            <a:endParaRPr/>
          </a:p>
        </p:txBody>
      </p:sp>
      <p:sp>
        <p:nvSpPr>
          <p:cNvPr id="30" name="Google Shape;30;p5"/>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829352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86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6" name="Google Shape;36;p6"/>
          <p:cNvSpPr txBox="1">
            <a:spLocks noGrp="1"/>
          </p:cNvSpPr>
          <p:nvPr>
            <p:ph type="body" idx="2"/>
          </p:nvPr>
        </p:nvSpPr>
        <p:spPr>
          <a:xfrm>
            <a:off x="23241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7" name="Google Shape;37;p6"/>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6851099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8601" y="1023409"/>
            <a:ext cx="2020094"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3" name="Google Shape;43;p7"/>
          <p:cNvSpPr txBox="1">
            <a:spLocks noGrp="1"/>
          </p:cNvSpPr>
          <p:nvPr>
            <p:ph type="body" idx="2"/>
          </p:nvPr>
        </p:nvSpPr>
        <p:spPr>
          <a:xfrm>
            <a:off x="228601" y="1449917"/>
            <a:ext cx="2020094"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4" name="Google Shape;44;p7"/>
          <p:cNvSpPr txBox="1">
            <a:spLocks noGrp="1"/>
          </p:cNvSpPr>
          <p:nvPr>
            <p:ph type="body" idx="3"/>
          </p:nvPr>
        </p:nvSpPr>
        <p:spPr>
          <a:xfrm>
            <a:off x="2322513" y="1023409"/>
            <a:ext cx="2020888"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5" name="Google Shape;45;p7"/>
          <p:cNvSpPr txBox="1">
            <a:spLocks noGrp="1"/>
          </p:cNvSpPr>
          <p:nvPr>
            <p:ph type="body" idx="4"/>
          </p:nvPr>
        </p:nvSpPr>
        <p:spPr>
          <a:xfrm>
            <a:off x="2322513" y="1449917"/>
            <a:ext cx="2020888"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6" name="Google Shape;46;p7"/>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2229155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501607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28600" y="182033"/>
            <a:ext cx="1504157"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1787526" y="182035"/>
            <a:ext cx="2555875" cy="3902075"/>
          </a:xfrm>
          <a:prstGeom prst="rect">
            <a:avLst/>
          </a:prstGeom>
          <a:noFill/>
          <a:ln>
            <a:noFill/>
          </a:ln>
        </p:spPr>
        <p:txBody>
          <a:bodyPr spcFirstLastPara="1" wrap="square" lIns="91425" tIns="45700" rIns="91425" bIns="45700" anchor="t" anchorCtr="0">
            <a:normAutofit/>
          </a:bodyPr>
          <a:lstStyle>
            <a:lvl1pPr marL="228611" lvl="0" indent="-215911" algn="l">
              <a:spcBef>
                <a:spcPts val="320"/>
              </a:spcBef>
              <a:spcAft>
                <a:spcPts val="0"/>
              </a:spcAft>
              <a:buClr>
                <a:schemeClr val="dk1"/>
              </a:buClr>
              <a:buSzPts val="3200"/>
              <a:buChar char="•"/>
              <a:defRPr sz="1600"/>
            </a:lvl1pPr>
            <a:lvl2pPr marL="457223" lvl="1" indent="-203210" algn="l">
              <a:spcBef>
                <a:spcPts val="280"/>
              </a:spcBef>
              <a:spcAft>
                <a:spcPts val="0"/>
              </a:spcAft>
              <a:buClr>
                <a:schemeClr val="dk1"/>
              </a:buClr>
              <a:buSzPts val="2800"/>
              <a:buChar char="–"/>
              <a:defRPr sz="1400"/>
            </a:lvl2pPr>
            <a:lvl3pPr marL="685835" lvl="2" indent="-190510" algn="l">
              <a:spcBef>
                <a:spcPts val="240"/>
              </a:spcBef>
              <a:spcAft>
                <a:spcPts val="0"/>
              </a:spcAft>
              <a:buClr>
                <a:schemeClr val="dk1"/>
              </a:buClr>
              <a:buSzPts val="2400"/>
              <a:buChar char="•"/>
              <a:defRPr sz="1200"/>
            </a:lvl3pPr>
            <a:lvl4pPr marL="914446" lvl="3" indent="-177809" algn="l">
              <a:spcBef>
                <a:spcPts val="200"/>
              </a:spcBef>
              <a:spcAft>
                <a:spcPts val="0"/>
              </a:spcAft>
              <a:buClr>
                <a:schemeClr val="dk1"/>
              </a:buClr>
              <a:buSzPts val="2000"/>
              <a:buChar char="–"/>
              <a:defRPr sz="1000"/>
            </a:lvl4pPr>
            <a:lvl5pPr marL="1143057" lvl="4" indent="-177809" algn="l">
              <a:spcBef>
                <a:spcPts val="200"/>
              </a:spcBef>
              <a:spcAft>
                <a:spcPts val="0"/>
              </a:spcAft>
              <a:buClr>
                <a:schemeClr val="dk1"/>
              </a:buClr>
              <a:buSzPts val="2000"/>
              <a:buChar char="»"/>
              <a:defRPr sz="1000"/>
            </a:lvl5pPr>
            <a:lvl6pPr marL="1371668" lvl="5" indent="-177809" algn="l">
              <a:spcBef>
                <a:spcPts val="200"/>
              </a:spcBef>
              <a:spcAft>
                <a:spcPts val="0"/>
              </a:spcAft>
              <a:buClr>
                <a:schemeClr val="dk1"/>
              </a:buClr>
              <a:buSzPts val="2000"/>
              <a:buChar char="•"/>
              <a:defRPr sz="1000"/>
            </a:lvl6pPr>
            <a:lvl7pPr marL="1600280" lvl="6" indent="-177809" algn="l">
              <a:spcBef>
                <a:spcPts val="200"/>
              </a:spcBef>
              <a:spcAft>
                <a:spcPts val="0"/>
              </a:spcAft>
              <a:buClr>
                <a:schemeClr val="dk1"/>
              </a:buClr>
              <a:buSzPts val="2000"/>
              <a:buChar char="•"/>
              <a:defRPr sz="1000"/>
            </a:lvl7pPr>
            <a:lvl8pPr marL="1828892" lvl="7" indent="-177809" algn="l">
              <a:spcBef>
                <a:spcPts val="200"/>
              </a:spcBef>
              <a:spcAft>
                <a:spcPts val="0"/>
              </a:spcAft>
              <a:buClr>
                <a:schemeClr val="dk1"/>
              </a:buClr>
              <a:buSzPts val="2000"/>
              <a:buChar char="•"/>
              <a:defRPr sz="1000"/>
            </a:lvl8pPr>
            <a:lvl9pPr marL="2057503" lvl="8" indent="-177809" algn="l">
              <a:spcBef>
                <a:spcPts val="200"/>
              </a:spcBef>
              <a:spcAft>
                <a:spcPts val="0"/>
              </a:spcAft>
              <a:buClr>
                <a:schemeClr val="dk1"/>
              </a:buClr>
              <a:buSzPts val="2000"/>
              <a:buChar char="•"/>
              <a:defRPr sz="1000"/>
            </a:lvl9pPr>
          </a:lstStyle>
          <a:p>
            <a:endParaRPr/>
          </a:p>
        </p:txBody>
      </p:sp>
      <p:sp>
        <p:nvSpPr>
          <p:cNvPr id="57" name="Google Shape;57;p9"/>
          <p:cNvSpPr txBox="1">
            <a:spLocks noGrp="1"/>
          </p:cNvSpPr>
          <p:nvPr>
            <p:ph type="body" idx="2"/>
          </p:nvPr>
        </p:nvSpPr>
        <p:spPr>
          <a:xfrm>
            <a:off x="228600" y="956735"/>
            <a:ext cx="1504157" cy="31273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58" name="Google Shape;58;p9"/>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9210182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96144" y="3200401"/>
            <a:ext cx="27432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896144" y="408517"/>
            <a:ext cx="2743200" cy="2743200"/>
          </a:xfrm>
          <a:prstGeom prst="rect">
            <a:avLst/>
          </a:prstGeom>
          <a:noFill/>
          <a:ln>
            <a:noFill/>
          </a:ln>
        </p:spPr>
      </p:sp>
      <p:sp>
        <p:nvSpPr>
          <p:cNvPr id="64" name="Google Shape;64;p10"/>
          <p:cNvSpPr txBox="1">
            <a:spLocks noGrp="1"/>
          </p:cNvSpPr>
          <p:nvPr>
            <p:ph type="body" idx="1"/>
          </p:nvPr>
        </p:nvSpPr>
        <p:spPr>
          <a:xfrm>
            <a:off x="896144" y="3578226"/>
            <a:ext cx="2743200" cy="5365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65" name="Google Shape;65;p10"/>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0057384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777346" y="518055"/>
            <a:ext cx="3017309" cy="41148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6296049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878542" y="1619251"/>
            <a:ext cx="3901017" cy="10287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216958" y="628650"/>
            <a:ext cx="3901017" cy="30099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381931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3FA82C02-2C4D-1F4D-851E-B56DA3E878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830BE5C-47B3-8640-86D1-69594D99527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585972A-A66B-ED47-A758-27225C85438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CE450D7-51B2-DC41-A285-84B90542AA55}" type="datetimeFigureOut">
              <a:rPr lang="it-IT" smtClean="0"/>
              <a:t>01/06/2026</a:t>
            </a:fld>
            <a:endParaRPr lang="it-IT"/>
          </a:p>
        </p:txBody>
      </p:sp>
      <p:sp>
        <p:nvSpPr>
          <p:cNvPr id="5" name="Segnaposto piè di pagina 4">
            <a:extLst>
              <a:ext uri="{FF2B5EF4-FFF2-40B4-BE49-F238E27FC236}">
                <a16:creationId xmlns:a16="http://schemas.microsoft.com/office/drawing/2014/main" id="{87CFA4B0-5065-6C44-81B0-58ACBBDA063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6DE9C76E-E86C-AF43-9FF0-BF8CC7B7DD0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5E9258-7551-F54F-B974-076C20A398B3}" type="slidenum">
              <a:rPr lang="it-IT" smtClean="0"/>
              <a:t>‹N›</a:t>
            </a:fld>
            <a:endParaRPr lang="it-IT"/>
          </a:p>
        </p:txBody>
      </p:sp>
    </p:spTree>
    <p:extLst>
      <p:ext uri="{BB962C8B-B14F-4D97-AF65-F5344CB8AC3E}">
        <p14:creationId xmlns:p14="http://schemas.microsoft.com/office/powerpoint/2010/main" val="386899932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7"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0033240"/>
      </p:ext>
    </p:extLst>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ideo" Target="https://www.youtube.com/embed/doNzIAPn56g" TargetMode="Externa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ideo" Target="https://www.youtube.com/embed/7g_bG7MUZSs" TargetMode="Externa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514350" y="1482961"/>
            <a:ext cx="2029975" cy="721763"/>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5825763" y="3143850"/>
            <a:ext cx="2803888" cy="2229091"/>
          </a:xfrm>
          <a:prstGeom prst="rect">
            <a:avLst/>
          </a:prstGeom>
          <a:noFill/>
          <a:ln>
            <a:noFill/>
          </a:ln>
        </p:spPr>
      </p:pic>
      <p:sp>
        <p:nvSpPr>
          <p:cNvPr id="86" name="Google Shape;86;p13"/>
          <p:cNvSpPr txBox="1"/>
          <p:nvPr/>
        </p:nvSpPr>
        <p:spPr>
          <a:xfrm>
            <a:off x="514350" y="3258471"/>
            <a:ext cx="3624493" cy="775597"/>
          </a:xfrm>
          <a:prstGeom prst="rect">
            <a:avLst/>
          </a:prstGeom>
          <a:noFill/>
          <a:ln>
            <a:noFill/>
          </a:ln>
        </p:spPr>
        <p:txBody>
          <a:bodyPr spcFirstLastPara="1" wrap="square" lIns="0" tIns="0" rIns="0" bIns="0" anchor="t" anchorCtr="0">
            <a:spAutoFit/>
          </a:bodyPr>
          <a:lstStyle/>
          <a:p>
            <a:pPr defTabSz="457223">
              <a:lnSpc>
                <a:spcPct val="120000"/>
              </a:lnSpc>
              <a:buClr>
                <a:srgbClr val="000000"/>
              </a:buClr>
            </a:pPr>
            <a:r>
              <a:rPr lang="en-US" sz="4200" b="1" kern="0" dirty="0">
                <a:solidFill>
                  <a:srgbClr val="FFFFFF"/>
                </a:solidFill>
                <a:latin typeface="Poppins SemiBold"/>
                <a:ea typeface="Poppins SemiBold"/>
                <a:cs typeface="Poppins SemiBold"/>
                <a:sym typeface="Poppins SemiBold"/>
              </a:rPr>
              <a:t>Corso EOA</a:t>
            </a:r>
            <a:endParaRPr sz="700" kern="0" dirty="0">
              <a:solidFill>
                <a:srgbClr val="000000"/>
              </a:solidFill>
              <a:latin typeface="Arial"/>
              <a:cs typeface="Arial"/>
              <a:sym typeface="Arial"/>
            </a:endParaRPr>
          </a:p>
        </p:txBody>
      </p:sp>
      <p:sp>
        <p:nvSpPr>
          <p:cNvPr id="87" name="Google Shape;87;p13"/>
          <p:cNvSpPr txBox="1"/>
          <p:nvPr/>
        </p:nvSpPr>
        <p:spPr>
          <a:xfrm>
            <a:off x="2689059" y="1534035"/>
            <a:ext cx="2363986" cy="247760"/>
          </a:xfrm>
          <a:prstGeom prst="rect">
            <a:avLst/>
          </a:prstGeom>
          <a:noFill/>
          <a:ln>
            <a:noFill/>
          </a:ln>
        </p:spPr>
        <p:txBody>
          <a:bodyPr spcFirstLastPara="1" wrap="square" lIns="0" tIns="0" rIns="0" bIns="0" anchor="t" anchorCtr="0">
            <a:spAutoFit/>
          </a:bodyPr>
          <a:lstStyle/>
          <a:p>
            <a:pPr defTabSz="457223">
              <a:lnSpc>
                <a:spcPct val="161030"/>
              </a:lnSpc>
              <a:buClr>
                <a:srgbClr val="000000"/>
              </a:buClr>
            </a:pPr>
            <a:r>
              <a:rPr lang="en-US" sz="1000" b="1" kern="0" dirty="0">
                <a:solidFill>
                  <a:srgbClr val="FFFFFF"/>
                </a:solidFill>
                <a:latin typeface="Poppins"/>
                <a:ea typeface="Poppins"/>
                <a:cs typeface="Poppins"/>
                <a:sym typeface="Poppins"/>
              </a:rPr>
              <a:t>LAUREA TRIENNALE IN INFORMATICA </a:t>
            </a:r>
            <a:endParaRPr sz="700" kern="0" dirty="0">
              <a:solidFill>
                <a:srgbClr val="000000"/>
              </a:solidFill>
              <a:latin typeface="Arial"/>
              <a:cs typeface="Arial"/>
              <a:sym typeface="Arial"/>
            </a:endParaRPr>
          </a:p>
        </p:txBody>
      </p:sp>
      <p:sp>
        <p:nvSpPr>
          <p:cNvPr id="88" name="Google Shape;88;p13"/>
          <p:cNvSpPr txBox="1"/>
          <p:nvPr/>
        </p:nvSpPr>
        <p:spPr>
          <a:xfrm>
            <a:off x="515759" y="4004430"/>
            <a:ext cx="3355293" cy="443198"/>
          </a:xfrm>
          <a:prstGeom prst="rect">
            <a:avLst/>
          </a:prstGeom>
          <a:noFill/>
          <a:ln>
            <a:noFill/>
          </a:ln>
        </p:spPr>
        <p:txBody>
          <a:bodyPr spcFirstLastPara="1" wrap="square" lIns="0" tIns="0" rIns="0" bIns="0" anchor="t" anchorCtr="0">
            <a:spAutoFit/>
          </a:bodyPr>
          <a:lstStyle/>
          <a:p>
            <a:pPr defTabSz="457223">
              <a:lnSpc>
                <a:spcPct val="120010"/>
              </a:lnSpc>
              <a:buClr>
                <a:srgbClr val="000000"/>
              </a:buClr>
            </a:pPr>
            <a:r>
              <a:rPr lang="en-US" sz="1400" b="1" kern="0" dirty="0">
                <a:solidFill>
                  <a:srgbClr val="FFFFFF"/>
                </a:solidFill>
                <a:latin typeface="Poppins"/>
                <a:ea typeface="Poppins"/>
                <a:cs typeface="Poppins"/>
                <a:sym typeface="Poppins"/>
              </a:rPr>
              <a:t>Prof. Giuseppe </a:t>
            </a:r>
            <a:r>
              <a:rPr lang="en-US" sz="1400" b="1" kern="0" dirty="0" err="1">
                <a:solidFill>
                  <a:srgbClr val="FFFFFF"/>
                </a:solidFill>
                <a:latin typeface="Poppins"/>
                <a:ea typeface="Poppins"/>
                <a:cs typeface="Poppins"/>
                <a:sym typeface="Poppins"/>
              </a:rPr>
              <a:t>Piccirillo</a:t>
            </a:r>
            <a:endParaRPr sz="1000" kern="0" dirty="0">
              <a:solidFill>
                <a:srgbClr val="000000"/>
              </a:solidFill>
              <a:latin typeface="Arial"/>
              <a:cs typeface="Arial"/>
              <a:sym typeface="Arial"/>
            </a:endParaRPr>
          </a:p>
          <a:p>
            <a:pPr defTabSz="457223">
              <a:lnSpc>
                <a:spcPct val="120010"/>
              </a:lnSpc>
              <a:buClr>
                <a:srgbClr val="000000"/>
              </a:buClr>
            </a:pPr>
            <a:endParaRPr sz="1000" b="1" kern="0" dirty="0">
              <a:solidFill>
                <a:srgbClr val="FFFFFF"/>
              </a:solidFill>
              <a:latin typeface="Poppins"/>
              <a:ea typeface="Poppins"/>
              <a:cs typeface="Poppins"/>
              <a:sym typeface="Poppins"/>
            </a:endParaRPr>
          </a:p>
        </p:txBody>
      </p:sp>
      <p:sp>
        <p:nvSpPr>
          <p:cNvPr id="89" name="Google Shape;89;p13"/>
          <p:cNvSpPr txBox="1"/>
          <p:nvPr/>
        </p:nvSpPr>
        <p:spPr>
          <a:xfrm>
            <a:off x="5225617" y="1576898"/>
            <a:ext cx="2770550" cy="369332"/>
          </a:xfrm>
          <a:prstGeom prst="rect">
            <a:avLst/>
          </a:prstGeom>
          <a:noFill/>
          <a:ln>
            <a:noFill/>
          </a:ln>
        </p:spPr>
        <p:txBody>
          <a:bodyPr spcFirstLastPara="1" wrap="square" lIns="0" tIns="0" rIns="0" bIns="0" anchor="t" anchorCtr="0">
            <a:spAutoFit/>
          </a:bodyPr>
          <a:lstStyle/>
          <a:p>
            <a:pPr defTabSz="457223">
              <a:lnSpc>
                <a:spcPct val="120010"/>
              </a:lnSpc>
              <a:buClr>
                <a:srgbClr val="000000"/>
              </a:buClr>
            </a:pPr>
            <a:r>
              <a:rPr lang="en-US" sz="1000" b="1" kern="0" dirty="0">
                <a:solidFill>
                  <a:srgbClr val="FFFFFF"/>
                </a:solidFill>
                <a:latin typeface="Poppins"/>
                <a:ea typeface="Poppins"/>
                <a:cs typeface="Poppins"/>
                <a:sym typeface="Poppins"/>
              </a:rPr>
              <a:t>CORSO II SEMESTRE</a:t>
            </a:r>
            <a:endParaRPr sz="700" kern="0" dirty="0">
              <a:solidFill>
                <a:srgbClr val="000000"/>
              </a:solidFill>
              <a:latin typeface="Arial"/>
              <a:cs typeface="Arial"/>
              <a:sym typeface="Arial"/>
            </a:endParaRPr>
          </a:p>
          <a:p>
            <a:pPr defTabSz="457223">
              <a:lnSpc>
                <a:spcPct val="120010"/>
              </a:lnSpc>
              <a:buClr>
                <a:srgbClr val="000000"/>
              </a:buClr>
            </a:pPr>
            <a:r>
              <a:rPr lang="en-US" sz="1000" b="1" kern="0">
                <a:solidFill>
                  <a:srgbClr val="FFFFFF"/>
                </a:solidFill>
                <a:latin typeface="Poppins"/>
                <a:ea typeface="Poppins"/>
                <a:cs typeface="Poppins"/>
                <a:sym typeface="Poppins"/>
              </a:rPr>
              <a:t>2025 - 2026</a:t>
            </a:r>
            <a:endParaRPr sz="700" kern="0" dirty="0">
              <a:solidFill>
                <a:srgbClr val="000000"/>
              </a:solidFill>
              <a:latin typeface="Arial"/>
              <a:cs typeface="Arial"/>
              <a:sym typeface="Arial"/>
            </a:endParaRPr>
          </a:p>
        </p:txBody>
      </p:sp>
      <p:sp>
        <p:nvSpPr>
          <p:cNvPr id="91" name="Google Shape;91;p13"/>
          <p:cNvSpPr txBox="1"/>
          <p:nvPr/>
        </p:nvSpPr>
        <p:spPr>
          <a:xfrm>
            <a:off x="514350" y="2697341"/>
            <a:ext cx="7593594" cy="276871"/>
          </a:xfrm>
          <a:prstGeom prst="rect">
            <a:avLst/>
          </a:prstGeom>
          <a:noFill/>
          <a:ln>
            <a:noFill/>
          </a:ln>
        </p:spPr>
        <p:txBody>
          <a:bodyPr spcFirstLastPara="1" wrap="square" lIns="0" tIns="0" rIns="0" bIns="0" anchor="t" anchorCtr="0">
            <a:spAutoFit/>
          </a:bodyPr>
          <a:lstStyle/>
          <a:p>
            <a:pPr defTabSz="457223">
              <a:lnSpc>
                <a:spcPct val="120006"/>
              </a:lnSpc>
              <a:buClr>
                <a:srgbClr val="000000"/>
              </a:buClr>
            </a:pPr>
            <a:r>
              <a:rPr lang="en-US" sz="1499" b="1" kern="0" dirty="0">
                <a:solidFill>
                  <a:srgbClr val="FFFFFF"/>
                </a:solidFill>
                <a:latin typeface="Poppins"/>
                <a:ea typeface="Poppins"/>
                <a:cs typeface="Poppins"/>
                <a:sym typeface="Poppins"/>
              </a:rPr>
              <a:t>LEZIONE. 2 -  L’IMPRESA E IL SUO AMBIENTE – CONTESTO SOCIO ECONOMICO</a:t>
            </a:r>
            <a:endParaRPr sz="700" kern="0" dirty="0">
              <a:solidFill>
                <a:srgbClr val="000000"/>
              </a:solidFill>
              <a:latin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200" spc="-4" dirty="0">
                <a:solidFill>
                  <a:srgbClr val="FFFFFF"/>
                </a:solidFill>
                <a:latin typeface="Poppins" panose="020B0604020202020204"/>
              </a:rPr>
              <a:t>IMPRESA</a:t>
            </a:r>
            <a:endParaRPr lang="en-US" sz="3200" spc="-7" dirty="0">
              <a:solidFill>
                <a:srgbClr val="FFFFFF"/>
              </a:solidFill>
              <a:latin typeface="Poppins" panose="020B0604020202020204"/>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884420" y="3176978"/>
            <a:ext cx="7375161" cy="2020482"/>
          </a:xfrm>
          <a:prstGeom prst="rect">
            <a:avLst/>
          </a:prstGeom>
        </p:spPr>
        <p:txBody>
          <a:bodyPr vert="horz" lIns="68580" tIns="34290" rIns="68580" bIns="34290" rtlCol="0">
            <a:normAutofit fontScale="92500" lnSpcReduction="10000"/>
          </a:bodyPr>
          <a:lstStyle/>
          <a:p>
            <a:pPr marR="3458" algn="just" defTabSz="685800">
              <a:lnSpc>
                <a:spcPct val="90000"/>
              </a:lnSpc>
              <a:spcBef>
                <a:spcPts val="68"/>
              </a:spcBef>
            </a:pPr>
            <a:r>
              <a:rPr lang="en-US" sz="2800" b="1" i="1" spc="-7" dirty="0" err="1">
                <a:solidFill>
                  <a:srgbClr val="0070C0"/>
                </a:solidFill>
                <a:latin typeface="Poppins" panose="020B0604020202020204"/>
              </a:rPr>
              <a:t>Organizzazione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economica</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che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mediante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l’impiego</a:t>
            </a:r>
            <a:r>
              <a:rPr lang="en-US" sz="2800" i="1" spc="-7" dirty="0">
                <a:solidFill>
                  <a:srgbClr val="0070C0"/>
                </a:solidFill>
                <a:latin typeface="Poppins" panose="020B0604020202020204"/>
              </a:rPr>
              <a:t> di un </a:t>
            </a:r>
            <a:r>
              <a:rPr lang="en-US" sz="2800" i="1" spc="-7" dirty="0" err="1">
                <a:solidFill>
                  <a:srgbClr val="0070C0"/>
                </a:solidFill>
                <a:latin typeface="Poppins" panose="020B0604020202020204"/>
              </a:rPr>
              <a:t>complesso</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differenziato</a:t>
            </a:r>
            <a:r>
              <a:rPr lang="en-US" sz="2800" i="1" spc="-7" dirty="0">
                <a:solidFill>
                  <a:srgbClr val="0070C0"/>
                </a:solidFill>
                <a:latin typeface="Poppins" panose="020B0604020202020204"/>
              </a:rPr>
              <a:t> di </a:t>
            </a:r>
            <a:r>
              <a:rPr lang="en-US" sz="2800" b="1" i="1" spc="-7" dirty="0" err="1">
                <a:solidFill>
                  <a:srgbClr val="0070C0"/>
                </a:solidFill>
                <a:latin typeface="Poppins" panose="020B0604020202020204"/>
              </a:rPr>
              <a:t>risorse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svolge</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processi</a:t>
            </a:r>
            <a:r>
              <a:rPr lang="en-US" sz="2800" i="1" spc="-7" dirty="0">
                <a:solidFill>
                  <a:srgbClr val="0070C0"/>
                </a:solidFill>
                <a:latin typeface="Poppins" panose="020B0604020202020204"/>
              </a:rPr>
              <a:t> di </a:t>
            </a:r>
            <a:r>
              <a:rPr lang="en-US" sz="2800" b="1" i="1" spc="-7" dirty="0" err="1">
                <a:solidFill>
                  <a:srgbClr val="0070C0"/>
                </a:solidFill>
                <a:latin typeface="Poppins" panose="020B0604020202020204"/>
              </a:rPr>
              <a:t>acquisizione</a:t>
            </a:r>
            <a:r>
              <a:rPr lang="en-US" sz="2800" i="1" spc="-7" dirty="0">
                <a:solidFill>
                  <a:srgbClr val="0070C0"/>
                </a:solidFill>
                <a:latin typeface="Poppins" panose="020B0604020202020204"/>
              </a:rPr>
              <a:t>, e di </a:t>
            </a:r>
            <a:r>
              <a:rPr lang="en-US" sz="2800" b="1" i="1" spc="-7" dirty="0" err="1">
                <a:solidFill>
                  <a:srgbClr val="0070C0"/>
                </a:solidFill>
                <a:latin typeface="Poppins" panose="020B0604020202020204"/>
              </a:rPr>
              <a:t>produzione</a:t>
            </a:r>
            <a:r>
              <a:rPr lang="en-US" sz="2800" i="1" spc="-7" dirty="0">
                <a:solidFill>
                  <a:srgbClr val="0070C0"/>
                </a:solidFill>
                <a:latin typeface="Poppins" panose="020B0604020202020204"/>
              </a:rPr>
              <a:t> di </a:t>
            </a:r>
            <a:r>
              <a:rPr lang="en-US" sz="2800" i="1" spc="-7" dirty="0" err="1">
                <a:solidFill>
                  <a:srgbClr val="0070C0"/>
                </a:solidFill>
                <a:latin typeface="Poppins" panose="020B0604020202020204"/>
              </a:rPr>
              <a:t>beni</a:t>
            </a:r>
            <a:r>
              <a:rPr lang="en-US" sz="2800" i="1" spc="-7" dirty="0">
                <a:solidFill>
                  <a:srgbClr val="0070C0"/>
                </a:solidFill>
                <a:latin typeface="Poppins" panose="020B0604020202020204"/>
              </a:rPr>
              <a:t> o </a:t>
            </a:r>
            <a:r>
              <a:rPr lang="en-US" sz="2800" i="1" spc="-7" dirty="0" err="1">
                <a:solidFill>
                  <a:srgbClr val="0070C0"/>
                </a:solidFill>
                <a:latin typeface="Poppins" panose="020B0604020202020204"/>
              </a:rPr>
              <a:t>servizi</a:t>
            </a:r>
            <a:r>
              <a:rPr lang="en-US" sz="2800" i="1" spc="-7" dirty="0">
                <a:solidFill>
                  <a:srgbClr val="0070C0"/>
                </a:solidFill>
                <a:latin typeface="Poppins" panose="020B0604020202020204"/>
              </a:rPr>
              <a:t> da </a:t>
            </a:r>
            <a:r>
              <a:rPr lang="en-US" sz="2800" b="1" i="1" spc="-7" dirty="0" err="1">
                <a:solidFill>
                  <a:srgbClr val="0070C0"/>
                </a:solidFill>
                <a:latin typeface="Poppins" panose="020B0604020202020204"/>
              </a:rPr>
              <a:t>scambiare</a:t>
            </a:r>
            <a:r>
              <a:rPr lang="en-US" sz="2800" i="1" spc="-7" dirty="0">
                <a:solidFill>
                  <a:srgbClr val="0070C0"/>
                </a:solidFill>
                <a:latin typeface="Poppins" panose="020B0604020202020204"/>
              </a:rPr>
              <a:t> con </a:t>
            </a:r>
            <a:r>
              <a:rPr lang="en-US" sz="2800" i="1" spc="-7" dirty="0" err="1">
                <a:solidFill>
                  <a:srgbClr val="0070C0"/>
                </a:solidFill>
                <a:latin typeface="Poppins" panose="020B0604020202020204"/>
              </a:rPr>
              <a:t>entità</a:t>
            </a:r>
            <a:r>
              <a:rPr lang="en-US" sz="2800" i="1" spc="-7" dirty="0">
                <a:solidFill>
                  <a:srgbClr val="0070C0"/>
                </a:solidFill>
                <a:latin typeface="Poppins" panose="020B0604020202020204"/>
              </a:rPr>
              <a:t> </a:t>
            </a:r>
            <a:r>
              <a:rPr lang="en-US" sz="2800" i="1" spc="-7" dirty="0" err="1">
                <a:solidFill>
                  <a:srgbClr val="0070C0"/>
                </a:solidFill>
                <a:latin typeface="Poppins" panose="020B0604020202020204"/>
              </a:rPr>
              <a:t>esterne</a:t>
            </a:r>
            <a:r>
              <a:rPr lang="en-US" sz="2800" i="1" spc="-7" dirty="0">
                <a:solidFill>
                  <a:srgbClr val="0070C0"/>
                </a:solidFill>
                <a:latin typeface="Poppins" panose="020B0604020202020204"/>
              </a:rPr>
              <a:t> al fine di </a:t>
            </a:r>
            <a:r>
              <a:rPr lang="en-US" sz="2800" i="1" spc="-7" dirty="0" err="1">
                <a:solidFill>
                  <a:srgbClr val="0070C0"/>
                </a:solidFill>
                <a:latin typeface="Poppins" panose="020B0604020202020204"/>
              </a:rPr>
              <a:t>conseguire</a:t>
            </a:r>
            <a:r>
              <a:rPr lang="en-US" sz="2800" i="1" spc="-7" dirty="0">
                <a:solidFill>
                  <a:srgbClr val="0070C0"/>
                </a:solidFill>
                <a:latin typeface="Poppins" panose="020B0604020202020204"/>
              </a:rPr>
              <a:t> un </a:t>
            </a:r>
            <a:r>
              <a:rPr lang="en-US" sz="2800" b="1" i="1" spc="-7" dirty="0" err="1">
                <a:solidFill>
                  <a:srgbClr val="0070C0"/>
                </a:solidFill>
                <a:latin typeface="Poppins" panose="020B0604020202020204"/>
              </a:rPr>
              <a:t>reddito</a:t>
            </a:r>
            <a:r>
              <a:rPr lang="en-US" sz="2800" i="1" spc="-7" dirty="0">
                <a:solidFill>
                  <a:srgbClr val="0070C0"/>
                </a:solidFill>
                <a:latin typeface="Poppins" panose="020B0604020202020204"/>
              </a:rPr>
              <a:t>.</a:t>
            </a:r>
            <a:endParaRPr lang="en-US" sz="2800" i="1" dirty="0">
              <a:solidFill>
                <a:srgbClr val="0070C0"/>
              </a:solidFill>
              <a:latin typeface="Poppins" panose="020B0604020202020204"/>
            </a:endParaRPr>
          </a:p>
        </p:txBody>
      </p:sp>
    </p:spTree>
    <p:extLst>
      <p:ext uri="{BB962C8B-B14F-4D97-AF65-F5344CB8AC3E}">
        <p14:creationId xmlns:p14="http://schemas.microsoft.com/office/powerpoint/2010/main" val="695000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200" spc="-4" dirty="0">
                <a:solidFill>
                  <a:srgbClr val="FFFFFF"/>
                </a:solidFill>
                <a:latin typeface="Poppins" panose="020B0604020202020204"/>
              </a:rPr>
              <a:t>AMBIENTE</a:t>
            </a:r>
            <a:endParaRPr lang="en-US" sz="3200" spc="-7" dirty="0">
              <a:solidFill>
                <a:srgbClr val="FFFFFF"/>
              </a:solidFill>
              <a:latin typeface="Poppins" panose="020B0604020202020204"/>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884420" y="3176978"/>
            <a:ext cx="7375161" cy="2020482"/>
          </a:xfrm>
          <a:prstGeom prst="rect">
            <a:avLst/>
          </a:prstGeom>
        </p:spPr>
        <p:txBody>
          <a:bodyPr vert="horz" lIns="68580" tIns="34290" rIns="68580" bIns="34290" rtlCol="0">
            <a:normAutofit fontScale="92500" lnSpcReduction="20000"/>
          </a:bodyPr>
          <a:lstStyle/>
          <a:p>
            <a:pPr algn="just"/>
            <a:r>
              <a:rPr lang="it-IT" sz="2800" i="1" dirty="0">
                <a:solidFill>
                  <a:srgbClr val="0070C0"/>
                </a:solidFill>
                <a:latin typeface="Poppins" panose="020B0604020202020204"/>
              </a:rPr>
              <a:t>Contesto nel quale l’impresa svolge le sue funzioni. </a:t>
            </a:r>
          </a:p>
          <a:p>
            <a:pPr algn="just"/>
            <a:r>
              <a:rPr lang="it-IT" sz="2800" i="1" dirty="0">
                <a:solidFill>
                  <a:srgbClr val="0070C0"/>
                </a:solidFill>
                <a:latin typeface="Poppins" panose="020B0604020202020204"/>
              </a:rPr>
              <a:t>Nel suo ambiente l’impresa attiva un sistema di scambi con gli altri attori dell’ambiente stesso, generando </a:t>
            </a:r>
            <a:r>
              <a:rPr lang="it-IT" sz="2800" b="1" i="1" dirty="0">
                <a:solidFill>
                  <a:srgbClr val="0070C0"/>
                </a:solidFill>
                <a:latin typeface="Poppins" panose="020B0604020202020204"/>
              </a:rPr>
              <a:t>mercati </a:t>
            </a:r>
            <a:r>
              <a:rPr lang="it-IT" sz="2800" i="1" dirty="0">
                <a:solidFill>
                  <a:srgbClr val="0070C0"/>
                </a:solidFill>
                <a:latin typeface="Poppins" panose="020B0604020202020204"/>
              </a:rPr>
              <a:t>distinti.</a:t>
            </a:r>
          </a:p>
          <a:p>
            <a:endParaRPr lang="it-IT" sz="2800" dirty="0"/>
          </a:p>
        </p:txBody>
      </p:sp>
    </p:spTree>
    <p:extLst>
      <p:ext uri="{BB962C8B-B14F-4D97-AF65-F5344CB8AC3E}">
        <p14:creationId xmlns:p14="http://schemas.microsoft.com/office/powerpoint/2010/main" val="921319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200" spc="-4" dirty="0">
                <a:solidFill>
                  <a:srgbClr val="FFFFFF"/>
                </a:solidFill>
                <a:latin typeface="Poppins" panose="020B0604020202020204"/>
              </a:rPr>
              <a:t>MERCATO</a:t>
            </a:r>
            <a:endParaRPr lang="en-US" sz="3200" spc="-7" dirty="0">
              <a:solidFill>
                <a:srgbClr val="FFFFFF"/>
              </a:solidFill>
              <a:latin typeface="Poppins" panose="020B0604020202020204"/>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884420" y="3176978"/>
            <a:ext cx="7375161" cy="2020482"/>
          </a:xfrm>
          <a:prstGeom prst="rect">
            <a:avLst/>
          </a:prstGeom>
        </p:spPr>
        <p:txBody>
          <a:bodyPr vert="horz" lIns="68580" tIns="34290" rIns="68580" bIns="34290" rtlCol="0">
            <a:normAutofit fontScale="85000" lnSpcReduction="10000"/>
          </a:bodyPr>
          <a:lstStyle/>
          <a:p>
            <a:pPr algn="just"/>
            <a:r>
              <a:rPr lang="it-IT" sz="2800" i="1" dirty="0">
                <a:solidFill>
                  <a:srgbClr val="0070C0"/>
                </a:solidFill>
                <a:latin typeface="Poppins" panose="020B0604020202020204"/>
              </a:rPr>
              <a:t>In termini economici si ha un mercato quando ci sono almeno due contraenti disposti a scambiare fra di loro i beni posseduti. </a:t>
            </a:r>
          </a:p>
          <a:p>
            <a:pPr algn="just"/>
            <a:r>
              <a:rPr lang="it-IT" sz="2800" i="1" dirty="0">
                <a:solidFill>
                  <a:srgbClr val="0070C0"/>
                </a:solidFill>
                <a:latin typeface="Poppins" panose="020B0604020202020204"/>
              </a:rPr>
              <a:t>Un mercato è perciò formato dagli </a:t>
            </a:r>
            <a:r>
              <a:rPr lang="it-IT" sz="2800" b="1" i="1" dirty="0">
                <a:solidFill>
                  <a:srgbClr val="0070C0"/>
                </a:solidFill>
                <a:latin typeface="Poppins" panose="020B0604020202020204"/>
              </a:rPr>
              <a:t>acquirenti</a:t>
            </a:r>
            <a:r>
              <a:rPr lang="it-IT" sz="2800" i="1" dirty="0">
                <a:solidFill>
                  <a:srgbClr val="0070C0"/>
                </a:solidFill>
                <a:latin typeface="Poppins" panose="020B0604020202020204"/>
              </a:rPr>
              <a:t> e dai </a:t>
            </a:r>
            <a:r>
              <a:rPr lang="it-IT" sz="2800" b="1" i="1" dirty="0">
                <a:solidFill>
                  <a:srgbClr val="0070C0"/>
                </a:solidFill>
                <a:latin typeface="Poppins" panose="020B0604020202020204"/>
              </a:rPr>
              <a:t>venditori</a:t>
            </a:r>
            <a:r>
              <a:rPr lang="it-IT" sz="2800" i="1" dirty="0">
                <a:solidFill>
                  <a:srgbClr val="0070C0"/>
                </a:solidFill>
                <a:latin typeface="Poppins" panose="020B0604020202020204"/>
              </a:rPr>
              <a:t> di un particolare prodotto.</a:t>
            </a:r>
          </a:p>
          <a:p>
            <a:endParaRPr lang="it-IT" sz="2800" dirty="0"/>
          </a:p>
        </p:txBody>
      </p:sp>
    </p:spTree>
    <p:extLst>
      <p:ext uri="{BB962C8B-B14F-4D97-AF65-F5344CB8AC3E}">
        <p14:creationId xmlns:p14="http://schemas.microsoft.com/office/powerpoint/2010/main" val="599910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a 3">
            <a:extLst>
              <a:ext uri="{FF2B5EF4-FFF2-40B4-BE49-F238E27FC236}">
                <a16:creationId xmlns:a16="http://schemas.microsoft.com/office/drawing/2014/main" id="{E9348F96-5AE9-4BE2-960C-1D47B877E358}"/>
              </a:ext>
            </a:extLst>
          </p:cNvPr>
          <p:cNvGraphicFramePr>
            <a:graphicFrameLocks noGrp="1"/>
          </p:cNvGraphicFramePr>
          <p:nvPr>
            <p:extLst>
              <p:ext uri="{D42A27DB-BD31-4B8C-83A1-F6EECF244321}">
                <p14:modId xmlns:p14="http://schemas.microsoft.com/office/powerpoint/2010/main" val="2889796007"/>
              </p:ext>
            </p:extLst>
          </p:nvPr>
        </p:nvGraphicFramePr>
        <p:xfrm>
          <a:off x="725864" y="1180183"/>
          <a:ext cx="7843100" cy="4768130"/>
        </p:xfrm>
        <a:graphic>
          <a:graphicData uri="http://schemas.openxmlformats.org/drawingml/2006/table">
            <a:tbl>
              <a:tblPr firstRow="1" bandRow="1">
                <a:tableStyleId>{5C22544A-7EE6-4342-B048-85BDC9FD1C3A}</a:tableStyleId>
              </a:tblPr>
              <a:tblGrid>
                <a:gridCol w="1960775">
                  <a:extLst>
                    <a:ext uri="{9D8B030D-6E8A-4147-A177-3AD203B41FA5}">
                      <a16:colId xmlns:a16="http://schemas.microsoft.com/office/drawing/2014/main" val="798329780"/>
                    </a:ext>
                  </a:extLst>
                </a:gridCol>
                <a:gridCol w="1960775">
                  <a:extLst>
                    <a:ext uri="{9D8B030D-6E8A-4147-A177-3AD203B41FA5}">
                      <a16:colId xmlns:a16="http://schemas.microsoft.com/office/drawing/2014/main" val="487550049"/>
                    </a:ext>
                  </a:extLst>
                </a:gridCol>
                <a:gridCol w="1960775">
                  <a:extLst>
                    <a:ext uri="{9D8B030D-6E8A-4147-A177-3AD203B41FA5}">
                      <a16:colId xmlns:a16="http://schemas.microsoft.com/office/drawing/2014/main" val="2835129463"/>
                    </a:ext>
                  </a:extLst>
                </a:gridCol>
                <a:gridCol w="1960775">
                  <a:extLst>
                    <a:ext uri="{9D8B030D-6E8A-4147-A177-3AD203B41FA5}">
                      <a16:colId xmlns:a16="http://schemas.microsoft.com/office/drawing/2014/main" val="2245290826"/>
                    </a:ext>
                  </a:extLst>
                </a:gridCol>
              </a:tblGrid>
              <a:tr h="953626">
                <a:tc>
                  <a:txBody>
                    <a:bodyPr/>
                    <a:lstStyle/>
                    <a:p>
                      <a:pPr algn="ctr"/>
                      <a:endParaRPr lang="it-IT" sz="1800" dirty="0"/>
                    </a:p>
                  </a:txBody>
                  <a:tcPr anchor="ctr">
                    <a:noFill/>
                  </a:tcPr>
                </a:tc>
                <a:tc>
                  <a:txBody>
                    <a:bodyPr/>
                    <a:lstStyle/>
                    <a:p>
                      <a:pPr algn="ctr"/>
                      <a:r>
                        <a:rPr lang="it-IT" sz="1800" dirty="0">
                          <a:latin typeface="Poppins" panose="020B0604020202020204"/>
                        </a:rPr>
                        <a:t>Acquirente/i</a:t>
                      </a:r>
                    </a:p>
                  </a:txBody>
                  <a:tcPr anchor="ctr"/>
                </a:tc>
                <a:tc>
                  <a:txBody>
                    <a:bodyPr/>
                    <a:lstStyle/>
                    <a:p>
                      <a:pPr algn="ctr"/>
                      <a:r>
                        <a:rPr lang="it-IT" sz="1800" dirty="0">
                          <a:latin typeface="Poppins" panose="020B0604020202020204"/>
                        </a:rPr>
                        <a:t>Venditore/i</a:t>
                      </a:r>
                    </a:p>
                  </a:txBody>
                  <a:tcPr anchor="ctr"/>
                </a:tc>
                <a:tc>
                  <a:txBody>
                    <a:bodyPr/>
                    <a:lstStyle/>
                    <a:p>
                      <a:pPr algn="ctr"/>
                      <a:r>
                        <a:rPr lang="it-IT" sz="1800" dirty="0">
                          <a:latin typeface="Poppins" panose="020B0604020202020204"/>
                        </a:rPr>
                        <a:t>Bene/i</a:t>
                      </a:r>
                    </a:p>
                  </a:txBody>
                  <a:tcPr anchor="ctr"/>
                </a:tc>
                <a:extLst>
                  <a:ext uri="{0D108BD9-81ED-4DB2-BD59-A6C34878D82A}">
                    <a16:rowId xmlns:a16="http://schemas.microsoft.com/office/drawing/2014/main" val="1516750710"/>
                  </a:ext>
                </a:extLst>
              </a:tr>
              <a:tr h="953626">
                <a:tc>
                  <a:txBody>
                    <a:bodyPr/>
                    <a:lstStyle/>
                    <a:p>
                      <a:pPr marL="0" algn="ctr" defTabSz="685800" rtl="0" eaLnBrk="1" latinLnBrk="0" hangingPunct="1"/>
                      <a:r>
                        <a:rPr lang="it-IT" sz="1800" b="1" kern="1200" dirty="0">
                          <a:solidFill>
                            <a:schemeClr val="lt1"/>
                          </a:solidFill>
                          <a:latin typeface="+mn-lt"/>
                          <a:ea typeface="+mn-ea"/>
                          <a:cs typeface="+mn-cs"/>
                        </a:rPr>
                        <a:t>Mercato del Lavoro</a:t>
                      </a:r>
                    </a:p>
                  </a:txBody>
                  <a:tcPr anchor="ctr">
                    <a:solidFill>
                      <a:schemeClr val="accent1"/>
                    </a:solidFill>
                  </a:tcPr>
                </a:tc>
                <a:tc>
                  <a:txBody>
                    <a:bodyPr/>
                    <a:lstStyle/>
                    <a:p>
                      <a:pPr algn="ctr"/>
                      <a:r>
                        <a:rPr lang="it-IT" sz="1800" dirty="0">
                          <a:latin typeface="Poppins" panose="020B0604020202020204"/>
                        </a:rPr>
                        <a:t>Impresa</a:t>
                      </a:r>
                    </a:p>
                  </a:txBody>
                  <a:tcPr anchor="ctr"/>
                </a:tc>
                <a:tc>
                  <a:txBody>
                    <a:bodyPr/>
                    <a:lstStyle/>
                    <a:p>
                      <a:pPr algn="ctr"/>
                      <a:r>
                        <a:rPr lang="it-IT" sz="1800" dirty="0">
                          <a:latin typeface="Poppins" panose="020B0604020202020204"/>
                        </a:rPr>
                        <a:t>Lavoratori</a:t>
                      </a:r>
                    </a:p>
                  </a:txBody>
                  <a:tcPr anchor="ctr"/>
                </a:tc>
                <a:tc>
                  <a:txBody>
                    <a:bodyPr/>
                    <a:lstStyle/>
                    <a:p>
                      <a:pPr algn="ctr"/>
                      <a:r>
                        <a:rPr lang="it-IT" sz="1800" dirty="0">
                          <a:latin typeface="Poppins" panose="020B0604020202020204"/>
                        </a:rPr>
                        <a:t>Forza Lavoro</a:t>
                      </a:r>
                    </a:p>
                  </a:txBody>
                  <a:tcPr anchor="ctr"/>
                </a:tc>
                <a:extLst>
                  <a:ext uri="{0D108BD9-81ED-4DB2-BD59-A6C34878D82A}">
                    <a16:rowId xmlns:a16="http://schemas.microsoft.com/office/drawing/2014/main" val="1574307263"/>
                  </a:ext>
                </a:extLst>
              </a:tr>
              <a:tr h="953626">
                <a:tc>
                  <a:txBody>
                    <a:bodyPr/>
                    <a:lstStyle/>
                    <a:p>
                      <a:pPr marL="0" algn="ctr" defTabSz="685800" rtl="0" eaLnBrk="1" latinLnBrk="0" hangingPunct="1"/>
                      <a:r>
                        <a:rPr lang="it-IT" sz="1800" b="1" kern="1200" dirty="0">
                          <a:solidFill>
                            <a:schemeClr val="lt1"/>
                          </a:solidFill>
                          <a:latin typeface="+mn-lt"/>
                          <a:ea typeface="+mn-ea"/>
                          <a:cs typeface="+mn-cs"/>
                        </a:rPr>
                        <a:t>Mercato Finanziario</a:t>
                      </a:r>
                    </a:p>
                  </a:txBody>
                  <a:tcPr anchor="ctr">
                    <a:solidFill>
                      <a:schemeClr val="accent1"/>
                    </a:solidFill>
                  </a:tcPr>
                </a:tc>
                <a:tc>
                  <a:txBody>
                    <a:bodyPr/>
                    <a:lstStyle/>
                    <a:p>
                      <a:pPr algn="ctr"/>
                      <a:r>
                        <a:rPr lang="it-IT" sz="1800" dirty="0">
                          <a:latin typeface="Poppins" panose="020B0604020202020204"/>
                        </a:rPr>
                        <a:t>Impresa</a:t>
                      </a:r>
                    </a:p>
                    <a:p>
                      <a:pPr algn="ctr"/>
                      <a:r>
                        <a:rPr lang="it-IT" sz="1800" dirty="0">
                          <a:latin typeface="Poppins" panose="020B0604020202020204"/>
                        </a:rPr>
                        <a:t>Investitori</a:t>
                      </a:r>
                    </a:p>
                  </a:txBody>
                  <a:tcPr anchor="ctr"/>
                </a:tc>
                <a:tc>
                  <a:txBody>
                    <a:bodyPr/>
                    <a:lstStyle/>
                    <a:p>
                      <a:pPr algn="ctr"/>
                      <a:r>
                        <a:rPr lang="it-IT" sz="1800" dirty="0">
                          <a:latin typeface="Poppins" panose="020B0604020202020204"/>
                        </a:rPr>
                        <a:t>Impresa</a:t>
                      </a:r>
                    </a:p>
                    <a:p>
                      <a:pPr algn="ctr"/>
                      <a:r>
                        <a:rPr lang="it-IT" sz="1800" dirty="0">
                          <a:latin typeface="Poppins" panose="020B0604020202020204"/>
                        </a:rPr>
                        <a:t>Banche </a:t>
                      </a:r>
                    </a:p>
                    <a:p>
                      <a:pPr algn="ctr"/>
                      <a:r>
                        <a:rPr lang="it-IT" sz="1800" dirty="0" err="1">
                          <a:latin typeface="Poppins" panose="020B0604020202020204"/>
                        </a:rPr>
                        <a:t>Etc</a:t>
                      </a:r>
                      <a:r>
                        <a:rPr lang="it-IT" sz="1800" dirty="0">
                          <a:latin typeface="Poppins" panose="020B0604020202020204"/>
                        </a:rPr>
                        <a:t>…</a:t>
                      </a:r>
                    </a:p>
                  </a:txBody>
                  <a:tcPr anchor="ctr"/>
                </a:tc>
                <a:tc>
                  <a:txBody>
                    <a:bodyPr/>
                    <a:lstStyle/>
                    <a:p>
                      <a:pPr algn="ctr"/>
                      <a:r>
                        <a:rPr lang="it-IT" sz="1800" dirty="0">
                          <a:latin typeface="Poppins" panose="020B0604020202020204"/>
                        </a:rPr>
                        <a:t>Capitali</a:t>
                      </a:r>
                    </a:p>
                    <a:p>
                      <a:pPr algn="ctr"/>
                      <a:r>
                        <a:rPr lang="it-IT" sz="1800" dirty="0">
                          <a:latin typeface="Poppins" panose="020B0604020202020204"/>
                        </a:rPr>
                        <a:t>Azioni</a:t>
                      </a:r>
                    </a:p>
                    <a:p>
                      <a:pPr algn="ctr"/>
                      <a:r>
                        <a:rPr lang="it-IT" sz="1800" dirty="0" err="1">
                          <a:latin typeface="Poppins" panose="020B0604020202020204"/>
                        </a:rPr>
                        <a:t>Etc</a:t>
                      </a:r>
                      <a:r>
                        <a:rPr lang="it-IT" sz="1800" dirty="0">
                          <a:latin typeface="Poppins" panose="020B0604020202020204"/>
                        </a:rPr>
                        <a:t>…</a:t>
                      </a:r>
                    </a:p>
                  </a:txBody>
                  <a:tcPr anchor="ctr"/>
                </a:tc>
                <a:extLst>
                  <a:ext uri="{0D108BD9-81ED-4DB2-BD59-A6C34878D82A}">
                    <a16:rowId xmlns:a16="http://schemas.microsoft.com/office/drawing/2014/main" val="3286280103"/>
                  </a:ext>
                </a:extLst>
              </a:tr>
              <a:tr h="953626">
                <a:tc>
                  <a:txBody>
                    <a:bodyPr/>
                    <a:lstStyle/>
                    <a:p>
                      <a:pPr marL="0" algn="ctr" defTabSz="685800" rtl="0" eaLnBrk="1" latinLnBrk="0" hangingPunct="1"/>
                      <a:r>
                        <a:rPr lang="it-IT" sz="1800" b="1" kern="1200" dirty="0">
                          <a:solidFill>
                            <a:schemeClr val="lt1"/>
                          </a:solidFill>
                          <a:latin typeface="+mn-lt"/>
                          <a:ea typeface="+mn-ea"/>
                          <a:cs typeface="+mn-cs"/>
                        </a:rPr>
                        <a:t>Mercato della Produzione</a:t>
                      </a:r>
                    </a:p>
                  </a:txBody>
                  <a:tcPr anchor="ctr">
                    <a:solidFill>
                      <a:schemeClr val="accent1"/>
                    </a:solidFill>
                  </a:tcPr>
                </a:tc>
                <a:tc>
                  <a:txBody>
                    <a:bodyPr/>
                    <a:lstStyle/>
                    <a:p>
                      <a:pPr algn="ctr"/>
                      <a:r>
                        <a:rPr lang="it-IT" sz="1800" dirty="0">
                          <a:latin typeface="Poppins" panose="020B0604020202020204"/>
                        </a:rPr>
                        <a:t>Impresa</a:t>
                      </a:r>
                    </a:p>
                  </a:txBody>
                  <a:tcPr anchor="ctr"/>
                </a:tc>
                <a:tc>
                  <a:txBody>
                    <a:bodyPr/>
                    <a:lstStyle/>
                    <a:p>
                      <a:pPr algn="ctr"/>
                      <a:r>
                        <a:rPr lang="it-IT" sz="1800" dirty="0">
                          <a:latin typeface="Poppins" panose="020B0604020202020204"/>
                        </a:rPr>
                        <a:t>Fornitori</a:t>
                      </a:r>
                    </a:p>
                  </a:txBody>
                  <a:tcPr anchor="ctr"/>
                </a:tc>
                <a:tc>
                  <a:txBody>
                    <a:bodyPr/>
                    <a:lstStyle/>
                    <a:p>
                      <a:pPr algn="ctr"/>
                      <a:r>
                        <a:rPr lang="it-IT" sz="1800" dirty="0">
                          <a:latin typeface="Poppins" panose="020B0604020202020204"/>
                        </a:rPr>
                        <a:t>Materie Prime</a:t>
                      </a:r>
                    </a:p>
                    <a:p>
                      <a:pPr algn="ctr"/>
                      <a:r>
                        <a:rPr lang="it-IT" sz="1800" dirty="0">
                          <a:latin typeface="Poppins" panose="020B0604020202020204"/>
                        </a:rPr>
                        <a:t>Semilavorati</a:t>
                      </a:r>
                    </a:p>
                    <a:p>
                      <a:pPr algn="ctr"/>
                      <a:r>
                        <a:rPr lang="it-IT" sz="1800" dirty="0" err="1">
                          <a:latin typeface="Poppins" panose="020B0604020202020204"/>
                        </a:rPr>
                        <a:t>Etc</a:t>
                      </a:r>
                      <a:r>
                        <a:rPr lang="it-IT" sz="1800" dirty="0">
                          <a:latin typeface="Poppins" panose="020B0604020202020204"/>
                        </a:rPr>
                        <a:t>…</a:t>
                      </a:r>
                    </a:p>
                  </a:txBody>
                  <a:tcPr anchor="ctr"/>
                </a:tc>
                <a:extLst>
                  <a:ext uri="{0D108BD9-81ED-4DB2-BD59-A6C34878D82A}">
                    <a16:rowId xmlns:a16="http://schemas.microsoft.com/office/drawing/2014/main" val="3377882717"/>
                  </a:ext>
                </a:extLst>
              </a:tr>
              <a:tr h="953626">
                <a:tc>
                  <a:txBody>
                    <a:bodyPr/>
                    <a:lstStyle/>
                    <a:p>
                      <a:pPr marL="0" algn="ctr" defTabSz="685800" rtl="0" eaLnBrk="1" latinLnBrk="0" hangingPunct="1"/>
                      <a:r>
                        <a:rPr lang="it-IT" sz="1800" b="1" kern="1200" dirty="0">
                          <a:solidFill>
                            <a:schemeClr val="lt1"/>
                          </a:solidFill>
                          <a:latin typeface="+mn-lt"/>
                          <a:ea typeface="+mn-ea"/>
                          <a:cs typeface="+mn-cs"/>
                        </a:rPr>
                        <a:t>Mercato di Sbocco</a:t>
                      </a:r>
                    </a:p>
                  </a:txBody>
                  <a:tcPr anchor="ctr">
                    <a:solidFill>
                      <a:schemeClr val="accent1"/>
                    </a:solidFill>
                  </a:tcPr>
                </a:tc>
                <a:tc>
                  <a:txBody>
                    <a:bodyPr/>
                    <a:lstStyle/>
                    <a:p>
                      <a:pPr algn="ctr"/>
                      <a:r>
                        <a:rPr lang="it-IT" sz="1800" dirty="0">
                          <a:latin typeface="Poppins" panose="020B0604020202020204"/>
                        </a:rPr>
                        <a:t>Clienti</a:t>
                      </a:r>
                    </a:p>
                  </a:txBody>
                  <a:tcPr anchor="ctr"/>
                </a:tc>
                <a:tc>
                  <a:txBody>
                    <a:bodyPr/>
                    <a:lstStyle/>
                    <a:p>
                      <a:pPr algn="ctr"/>
                      <a:r>
                        <a:rPr lang="it-IT" sz="1800" dirty="0">
                          <a:latin typeface="Poppins" panose="020B0604020202020204"/>
                        </a:rPr>
                        <a:t>Impresa</a:t>
                      </a:r>
                    </a:p>
                  </a:txBody>
                  <a:tcPr anchor="ctr"/>
                </a:tc>
                <a:tc>
                  <a:txBody>
                    <a:bodyPr/>
                    <a:lstStyle/>
                    <a:p>
                      <a:pPr algn="ctr"/>
                      <a:r>
                        <a:rPr lang="it-IT" sz="1800" dirty="0">
                          <a:latin typeface="Poppins" panose="020B0604020202020204"/>
                        </a:rPr>
                        <a:t>Prodotti/Servizi dell’Impresa</a:t>
                      </a:r>
                    </a:p>
                  </a:txBody>
                  <a:tcPr anchor="ctr"/>
                </a:tc>
                <a:extLst>
                  <a:ext uri="{0D108BD9-81ED-4DB2-BD59-A6C34878D82A}">
                    <a16:rowId xmlns:a16="http://schemas.microsoft.com/office/drawing/2014/main" val="3063212620"/>
                  </a:ext>
                </a:extLst>
              </a:tr>
            </a:tbl>
          </a:graphicData>
        </a:graphic>
      </p:graphicFrame>
      <p:sp>
        <p:nvSpPr>
          <p:cNvPr id="6" name="CasellaDiTesto 5">
            <a:extLst>
              <a:ext uri="{FF2B5EF4-FFF2-40B4-BE49-F238E27FC236}">
                <a16:creationId xmlns:a16="http://schemas.microsoft.com/office/drawing/2014/main" id="{85A452C9-B079-4032-BD62-9FBDAAA1EDF9}"/>
              </a:ext>
            </a:extLst>
          </p:cNvPr>
          <p:cNvSpPr txBox="1"/>
          <p:nvPr/>
        </p:nvSpPr>
        <p:spPr>
          <a:xfrm>
            <a:off x="443060" y="311085"/>
            <a:ext cx="2950589" cy="646331"/>
          </a:xfrm>
          <a:prstGeom prst="rect">
            <a:avLst/>
          </a:prstGeom>
          <a:noFill/>
        </p:spPr>
        <p:txBody>
          <a:bodyPr wrap="square" rtlCol="0">
            <a:spAutoFit/>
          </a:bodyPr>
          <a:lstStyle/>
          <a:p>
            <a:r>
              <a:rPr lang="it-IT" sz="3600" b="1" dirty="0">
                <a:latin typeface="Poppins" panose="020B0604020202020204"/>
              </a:rPr>
              <a:t>ESEMPIO</a:t>
            </a:r>
          </a:p>
        </p:txBody>
      </p:sp>
    </p:spTree>
    <p:extLst>
      <p:ext uri="{BB962C8B-B14F-4D97-AF65-F5344CB8AC3E}">
        <p14:creationId xmlns:p14="http://schemas.microsoft.com/office/powerpoint/2010/main" val="1380060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225311" y="485858"/>
            <a:ext cx="5469314" cy="564416"/>
          </a:xfrm>
          <a:prstGeom prst="rect">
            <a:avLst/>
          </a:prstGeom>
        </p:spPr>
        <p:txBody>
          <a:bodyPr vert="horz" wrap="square" lIns="0" tIns="10317" rIns="0" bIns="0" rtlCol="0" anchor="b">
            <a:spAutoFit/>
          </a:bodyPr>
          <a:lstStyle/>
          <a:p>
            <a:pPr marL="10860">
              <a:spcBef>
                <a:spcPts val="81"/>
              </a:spcBef>
            </a:pPr>
            <a:r>
              <a:rPr lang="it-IT" sz="4000" b="1" cap="none" spc="-4" dirty="0">
                <a:solidFill>
                  <a:srgbClr val="0070C0"/>
                </a:solidFill>
                <a:latin typeface="Poppins" panose="020B0604020202020204"/>
                <a:ea typeface="Calibri Light" panose="020F0302020204030204" pitchFamily="34" charset="0"/>
                <a:cs typeface="Calibri Light" panose="020F0302020204030204" pitchFamily="34" charset="0"/>
              </a:rPr>
              <a:t>IMPRESA e AMBIENTE</a:t>
            </a:r>
            <a:endParaRPr sz="4000" b="1" cap="none" spc="-9" dirty="0">
              <a:solidFill>
                <a:srgbClr val="0070C0"/>
              </a:solidFill>
              <a:latin typeface="Poppins" panose="020B0604020202020204"/>
              <a:ea typeface="Calibri Light" panose="020F0302020204030204" pitchFamily="34" charset="0"/>
              <a:cs typeface="Calibri Light" panose="020F0302020204030204" pitchFamily="34" charset="0"/>
            </a:endParaRPr>
          </a:p>
        </p:txBody>
      </p:sp>
      <p:sp>
        <p:nvSpPr>
          <p:cNvPr id="3" name="object 3"/>
          <p:cNvSpPr txBox="1"/>
          <p:nvPr/>
        </p:nvSpPr>
        <p:spPr>
          <a:xfrm>
            <a:off x="2832576" y="4005659"/>
            <a:ext cx="1284721" cy="318194"/>
          </a:xfrm>
          <a:prstGeom prst="rect">
            <a:avLst/>
          </a:prstGeom>
        </p:spPr>
        <p:txBody>
          <a:bodyPr vert="horz" wrap="square" lIns="0" tIns="10317" rIns="0" bIns="0" rtlCol="0">
            <a:spAutoFit/>
          </a:bodyPr>
          <a:lstStyle/>
          <a:p>
            <a:pPr marL="10860">
              <a:spcBef>
                <a:spcPts val="81"/>
              </a:spcBef>
            </a:pPr>
            <a:r>
              <a:rPr sz="2000" b="1" spc="-4" dirty="0">
                <a:solidFill>
                  <a:srgbClr val="009A00"/>
                </a:solidFill>
                <a:latin typeface="Poppins" panose="020B0604020202020204"/>
                <a:cs typeface="Arial"/>
              </a:rPr>
              <a:t>IMPRESA</a:t>
            </a:r>
            <a:endParaRPr sz="2000" dirty="0">
              <a:latin typeface="Poppins" panose="020B0604020202020204"/>
              <a:cs typeface="Arial"/>
            </a:endParaRPr>
          </a:p>
        </p:txBody>
      </p:sp>
      <p:sp>
        <p:nvSpPr>
          <p:cNvPr id="4" name="object 4"/>
          <p:cNvSpPr txBox="1"/>
          <p:nvPr/>
        </p:nvSpPr>
        <p:spPr>
          <a:xfrm>
            <a:off x="5308968" y="4005659"/>
            <a:ext cx="1393490" cy="318194"/>
          </a:xfrm>
          <a:prstGeom prst="rect">
            <a:avLst/>
          </a:prstGeom>
        </p:spPr>
        <p:txBody>
          <a:bodyPr vert="horz" wrap="square" lIns="0" tIns="10317" rIns="0" bIns="0" rtlCol="0">
            <a:spAutoFit/>
          </a:bodyPr>
          <a:lstStyle/>
          <a:p>
            <a:pPr marL="10860">
              <a:spcBef>
                <a:spcPts val="81"/>
              </a:spcBef>
            </a:pPr>
            <a:r>
              <a:rPr sz="2000" b="1" spc="-4" dirty="0">
                <a:solidFill>
                  <a:srgbClr val="009A00"/>
                </a:solidFill>
                <a:latin typeface="Poppins" panose="020B0604020202020204"/>
                <a:cs typeface="Arial"/>
              </a:rPr>
              <a:t>AMBIENTE</a:t>
            </a:r>
            <a:endParaRPr sz="2000" dirty="0">
              <a:latin typeface="Poppins" panose="020B0604020202020204"/>
              <a:cs typeface="Arial"/>
            </a:endParaRPr>
          </a:p>
        </p:txBody>
      </p:sp>
      <p:sp>
        <p:nvSpPr>
          <p:cNvPr id="5" name="object 5"/>
          <p:cNvSpPr/>
          <p:nvPr/>
        </p:nvSpPr>
        <p:spPr>
          <a:xfrm>
            <a:off x="3400558" y="4536488"/>
            <a:ext cx="2288715" cy="308420"/>
          </a:xfrm>
          <a:custGeom>
            <a:avLst/>
            <a:gdLst/>
            <a:ahLst/>
            <a:cxnLst/>
            <a:rect l="l" t="t" r="r" b="b"/>
            <a:pathLst>
              <a:path w="2676525" h="360679">
                <a:moveTo>
                  <a:pt x="1856994" y="334556"/>
                </a:moveTo>
                <a:lnTo>
                  <a:pt x="1856994" y="120395"/>
                </a:lnTo>
                <a:lnTo>
                  <a:pt x="1833133" y="143199"/>
                </a:lnTo>
                <a:lnTo>
                  <a:pt x="1805417" y="165198"/>
                </a:lnTo>
                <a:lnTo>
                  <a:pt x="1739046" y="206548"/>
                </a:lnTo>
                <a:lnTo>
                  <a:pt x="1700703" y="225783"/>
                </a:lnTo>
                <a:lnTo>
                  <a:pt x="1659131" y="243979"/>
                </a:lnTo>
                <a:lnTo>
                  <a:pt x="1614487" y="261080"/>
                </a:lnTo>
                <a:lnTo>
                  <a:pt x="1566927" y="277025"/>
                </a:lnTo>
                <a:lnTo>
                  <a:pt x="1516608" y="291758"/>
                </a:lnTo>
                <a:lnTo>
                  <a:pt x="1463686" y="305219"/>
                </a:lnTo>
                <a:lnTo>
                  <a:pt x="1408318" y="317351"/>
                </a:lnTo>
                <a:lnTo>
                  <a:pt x="1350661" y="328095"/>
                </a:lnTo>
                <a:lnTo>
                  <a:pt x="1290871" y="337392"/>
                </a:lnTo>
                <a:lnTo>
                  <a:pt x="1229106" y="345185"/>
                </a:lnTo>
                <a:lnTo>
                  <a:pt x="1228344" y="345185"/>
                </a:lnTo>
                <a:lnTo>
                  <a:pt x="1158291" y="336152"/>
                </a:lnTo>
                <a:lnTo>
                  <a:pt x="1091064" y="325248"/>
                </a:lnTo>
                <a:lnTo>
                  <a:pt x="1026846" y="312568"/>
                </a:lnTo>
                <a:lnTo>
                  <a:pt x="965819" y="298202"/>
                </a:lnTo>
                <a:lnTo>
                  <a:pt x="908168" y="282243"/>
                </a:lnTo>
                <a:lnTo>
                  <a:pt x="854075" y="264782"/>
                </a:lnTo>
                <a:lnTo>
                  <a:pt x="803724" y="245913"/>
                </a:lnTo>
                <a:lnTo>
                  <a:pt x="757299" y="225727"/>
                </a:lnTo>
                <a:lnTo>
                  <a:pt x="714982" y="204317"/>
                </a:lnTo>
                <a:lnTo>
                  <a:pt x="676957" y="181773"/>
                </a:lnTo>
                <a:lnTo>
                  <a:pt x="643407" y="158190"/>
                </a:lnTo>
                <a:lnTo>
                  <a:pt x="590466" y="108270"/>
                </a:lnTo>
                <a:lnTo>
                  <a:pt x="557626" y="55294"/>
                </a:lnTo>
                <a:lnTo>
                  <a:pt x="546354" y="0"/>
                </a:lnTo>
                <a:lnTo>
                  <a:pt x="0" y="0"/>
                </a:lnTo>
                <a:lnTo>
                  <a:pt x="9482" y="50953"/>
                </a:lnTo>
                <a:lnTo>
                  <a:pt x="37069" y="99723"/>
                </a:lnTo>
                <a:lnTo>
                  <a:pt x="81470" y="145818"/>
                </a:lnTo>
                <a:lnTo>
                  <a:pt x="141397" y="188750"/>
                </a:lnTo>
                <a:lnTo>
                  <a:pt x="176780" y="208876"/>
                </a:lnTo>
                <a:lnTo>
                  <a:pt x="215560" y="228028"/>
                </a:lnTo>
                <a:lnTo>
                  <a:pt x="257577" y="246143"/>
                </a:lnTo>
                <a:lnTo>
                  <a:pt x="302669" y="263161"/>
                </a:lnTo>
                <a:lnTo>
                  <a:pt x="350675" y="279021"/>
                </a:lnTo>
                <a:lnTo>
                  <a:pt x="401434" y="293661"/>
                </a:lnTo>
                <a:lnTo>
                  <a:pt x="454785" y="307020"/>
                </a:lnTo>
                <a:lnTo>
                  <a:pt x="510566" y="319037"/>
                </a:lnTo>
                <a:lnTo>
                  <a:pt x="568617" y="329650"/>
                </a:lnTo>
                <a:lnTo>
                  <a:pt x="628776" y="338798"/>
                </a:lnTo>
                <a:lnTo>
                  <a:pt x="690881" y="346421"/>
                </a:lnTo>
                <a:lnTo>
                  <a:pt x="754772" y="352456"/>
                </a:lnTo>
                <a:lnTo>
                  <a:pt x="820288" y="356843"/>
                </a:lnTo>
                <a:lnTo>
                  <a:pt x="887267" y="359520"/>
                </a:lnTo>
                <a:lnTo>
                  <a:pt x="955547" y="360425"/>
                </a:lnTo>
                <a:lnTo>
                  <a:pt x="1501902" y="360425"/>
                </a:lnTo>
                <a:lnTo>
                  <a:pt x="1565402" y="359635"/>
                </a:lnTo>
                <a:lnTo>
                  <a:pt x="1628020" y="357290"/>
                </a:lnTo>
                <a:lnTo>
                  <a:pt x="1689596" y="353434"/>
                </a:lnTo>
                <a:lnTo>
                  <a:pt x="1749971" y="348107"/>
                </a:lnTo>
                <a:lnTo>
                  <a:pt x="1808983" y="341353"/>
                </a:lnTo>
                <a:lnTo>
                  <a:pt x="1856994" y="334556"/>
                </a:lnTo>
                <a:close/>
              </a:path>
              <a:path w="2676525" h="360679">
                <a:moveTo>
                  <a:pt x="2676144" y="120395"/>
                </a:moveTo>
                <a:lnTo>
                  <a:pt x="2184654" y="0"/>
                </a:lnTo>
                <a:lnTo>
                  <a:pt x="1583436" y="120395"/>
                </a:lnTo>
                <a:lnTo>
                  <a:pt x="1856994" y="120395"/>
                </a:lnTo>
                <a:lnTo>
                  <a:pt x="1856994" y="334556"/>
                </a:lnTo>
                <a:lnTo>
                  <a:pt x="1922284" y="323730"/>
                </a:lnTo>
                <a:lnTo>
                  <a:pt x="1976251" y="312944"/>
                </a:lnTo>
                <a:lnTo>
                  <a:pt x="2028217" y="300899"/>
                </a:lnTo>
                <a:lnTo>
                  <a:pt x="2078021" y="287636"/>
                </a:lnTo>
                <a:lnTo>
                  <a:pt x="2125503" y="273197"/>
                </a:lnTo>
                <a:lnTo>
                  <a:pt x="2170504" y="257624"/>
                </a:lnTo>
                <a:lnTo>
                  <a:pt x="2212863" y="240960"/>
                </a:lnTo>
                <a:lnTo>
                  <a:pt x="2252421" y="223246"/>
                </a:lnTo>
                <a:lnTo>
                  <a:pt x="2289017" y="204523"/>
                </a:lnTo>
                <a:lnTo>
                  <a:pt x="2322491" y="184835"/>
                </a:lnTo>
                <a:lnTo>
                  <a:pt x="2379436" y="142729"/>
                </a:lnTo>
                <a:lnTo>
                  <a:pt x="2402586" y="120395"/>
                </a:lnTo>
                <a:lnTo>
                  <a:pt x="2676144" y="120395"/>
                </a:lnTo>
                <a:close/>
              </a:path>
            </a:pathLst>
          </a:custGeom>
          <a:solidFill>
            <a:srgbClr val="33CCCC"/>
          </a:solidFill>
        </p:spPr>
        <p:txBody>
          <a:bodyPr wrap="square" lIns="0" tIns="0" rIns="0" bIns="0" rtlCol="0"/>
          <a:lstStyle/>
          <a:p>
            <a:endParaRPr sz="1539"/>
          </a:p>
        </p:txBody>
      </p:sp>
      <p:sp>
        <p:nvSpPr>
          <p:cNvPr id="6" name="object 6"/>
          <p:cNvSpPr/>
          <p:nvPr/>
        </p:nvSpPr>
        <p:spPr>
          <a:xfrm>
            <a:off x="3400558" y="4536488"/>
            <a:ext cx="1284721" cy="308420"/>
          </a:xfrm>
          <a:custGeom>
            <a:avLst/>
            <a:gdLst/>
            <a:ahLst/>
            <a:cxnLst/>
            <a:rect l="l" t="t" r="r" b="b"/>
            <a:pathLst>
              <a:path w="1502410" h="360679">
                <a:moveTo>
                  <a:pt x="1501902" y="360425"/>
                </a:moveTo>
                <a:lnTo>
                  <a:pt x="1433621" y="359520"/>
                </a:lnTo>
                <a:lnTo>
                  <a:pt x="1366642" y="356843"/>
                </a:lnTo>
                <a:lnTo>
                  <a:pt x="1301126" y="352456"/>
                </a:lnTo>
                <a:lnTo>
                  <a:pt x="1237235" y="346421"/>
                </a:lnTo>
                <a:lnTo>
                  <a:pt x="1175130" y="338798"/>
                </a:lnTo>
                <a:lnTo>
                  <a:pt x="1114971" y="329650"/>
                </a:lnTo>
                <a:lnTo>
                  <a:pt x="1056920" y="319037"/>
                </a:lnTo>
                <a:lnTo>
                  <a:pt x="1001139" y="307020"/>
                </a:lnTo>
                <a:lnTo>
                  <a:pt x="947788" y="293661"/>
                </a:lnTo>
                <a:lnTo>
                  <a:pt x="897029" y="279021"/>
                </a:lnTo>
                <a:lnTo>
                  <a:pt x="849023" y="263161"/>
                </a:lnTo>
                <a:lnTo>
                  <a:pt x="803931" y="246143"/>
                </a:lnTo>
                <a:lnTo>
                  <a:pt x="761914" y="228028"/>
                </a:lnTo>
                <a:lnTo>
                  <a:pt x="723134" y="208876"/>
                </a:lnTo>
                <a:lnTo>
                  <a:pt x="687751" y="188750"/>
                </a:lnTo>
                <a:lnTo>
                  <a:pt x="655928" y="167710"/>
                </a:lnTo>
                <a:lnTo>
                  <a:pt x="603602" y="123135"/>
                </a:lnTo>
                <a:lnTo>
                  <a:pt x="567447" y="75642"/>
                </a:lnTo>
                <a:lnTo>
                  <a:pt x="548751" y="25719"/>
                </a:lnTo>
                <a:lnTo>
                  <a:pt x="546354" y="0"/>
                </a:lnTo>
                <a:lnTo>
                  <a:pt x="0" y="0"/>
                </a:lnTo>
                <a:lnTo>
                  <a:pt x="9482" y="50953"/>
                </a:lnTo>
                <a:lnTo>
                  <a:pt x="37069" y="99723"/>
                </a:lnTo>
                <a:lnTo>
                  <a:pt x="81470" y="145818"/>
                </a:lnTo>
                <a:lnTo>
                  <a:pt x="141397" y="188750"/>
                </a:lnTo>
                <a:lnTo>
                  <a:pt x="176780" y="208876"/>
                </a:lnTo>
                <a:lnTo>
                  <a:pt x="215560" y="228028"/>
                </a:lnTo>
                <a:lnTo>
                  <a:pt x="257577" y="246143"/>
                </a:lnTo>
                <a:lnTo>
                  <a:pt x="302669" y="263161"/>
                </a:lnTo>
                <a:lnTo>
                  <a:pt x="350675" y="279021"/>
                </a:lnTo>
                <a:lnTo>
                  <a:pt x="401434" y="293661"/>
                </a:lnTo>
                <a:lnTo>
                  <a:pt x="454785" y="307020"/>
                </a:lnTo>
                <a:lnTo>
                  <a:pt x="510566" y="319037"/>
                </a:lnTo>
                <a:lnTo>
                  <a:pt x="568617" y="329650"/>
                </a:lnTo>
                <a:lnTo>
                  <a:pt x="628776" y="338798"/>
                </a:lnTo>
                <a:lnTo>
                  <a:pt x="690881" y="346421"/>
                </a:lnTo>
                <a:lnTo>
                  <a:pt x="754772" y="352456"/>
                </a:lnTo>
                <a:lnTo>
                  <a:pt x="820288" y="356843"/>
                </a:lnTo>
                <a:lnTo>
                  <a:pt x="887267" y="359520"/>
                </a:lnTo>
                <a:lnTo>
                  <a:pt x="947788" y="360323"/>
                </a:lnTo>
                <a:lnTo>
                  <a:pt x="1501902" y="360425"/>
                </a:lnTo>
                <a:close/>
              </a:path>
            </a:pathLst>
          </a:custGeom>
          <a:solidFill>
            <a:srgbClr val="29A4A4"/>
          </a:solidFill>
        </p:spPr>
        <p:txBody>
          <a:bodyPr wrap="square" lIns="0" tIns="0" rIns="0" bIns="0" rtlCol="0"/>
          <a:lstStyle/>
          <a:p>
            <a:endParaRPr sz="1539"/>
          </a:p>
        </p:txBody>
      </p:sp>
      <p:sp>
        <p:nvSpPr>
          <p:cNvPr id="7" name="object 7"/>
          <p:cNvSpPr/>
          <p:nvPr/>
        </p:nvSpPr>
        <p:spPr>
          <a:xfrm>
            <a:off x="3400558" y="4536488"/>
            <a:ext cx="2288715" cy="308420"/>
          </a:xfrm>
          <a:custGeom>
            <a:avLst/>
            <a:gdLst/>
            <a:ahLst/>
            <a:cxnLst/>
            <a:rect l="l" t="t" r="r" b="b"/>
            <a:pathLst>
              <a:path w="2676525" h="360679">
                <a:moveTo>
                  <a:pt x="0" y="0"/>
                </a:moveTo>
                <a:lnTo>
                  <a:pt x="9482" y="50953"/>
                </a:lnTo>
                <a:lnTo>
                  <a:pt x="37069" y="99723"/>
                </a:lnTo>
                <a:lnTo>
                  <a:pt x="81470" y="145818"/>
                </a:lnTo>
                <a:lnTo>
                  <a:pt x="141397" y="188750"/>
                </a:lnTo>
                <a:lnTo>
                  <a:pt x="176780" y="208876"/>
                </a:lnTo>
                <a:lnTo>
                  <a:pt x="215560" y="228028"/>
                </a:lnTo>
                <a:lnTo>
                  <a:pt x="257577" y="246143"/>
                </a:lnTo>
                <a:lnTo>
                  <a:pt x="302669" y="263161"/>
                </a:lnTo>
                <a:lnTo>
                  <a:pt x="350675" y="279021"/>
                </a:lnTo>
                <a:lnTo>
                  <a:pt x="401434" y="293661"/>
                </a:lnTo>
                <a:lnTo>
                  <a:pt x="454785" y="307020"/>
                </a:lnTo>
                <a:lnTo>
                  <a:pt x="510566" y="319037"/>
                </a:lnTo>
                <a:lnTo>
                  <a:pt x="568617" y="329650"/>
                </a:lnTo>
                <a:lnTo>
                  <a:pt x="628776" y="338798"/>
                </a:lnTo>
                <a:lnTo>
                  <a:pt x="690881" y="346421"/>
                </a:lnTo>
                <a:lnTo>
                  <a:pt x="754772" y="352456"/>
                </a:lnTo>
                <a:lnTo>
                  <a:pt x="820288" y="356843"/>
                </a:lnTo>
                <a:lnTo>
                  <a:pt x="887267" y="359520"/>
                </a:lnTo>
                <a:lnTo>
                  <a:pt x="955547" y="360425"/>
                </a:lnTo>
                <a:lnTo>
                  <a:pt x="1501902" y="360425"/>
                </a:lnTo>
                <a:lnTo>
                  <a:pt x="1565402" y="359635"/>
                </a:lnTo>
                <a:lnTo>
                  <a:pt x="1628020" y="357290"/>
                </a:lnTo>
                <a:lnTo>
                  <a:pt x="1689596" y="353434"/>
                </a:lnTo>
                <a:lnTo>
                  <a:pt x="1749971" y="348107"/>
                </a:lnTo>
                <a:lnTo>
                  <a:pt x="1808983" y="341353"/>
                </a:lnTo>
                <a:lnTo>
                  <a:pt x="1866474" y="333213"/>
                </a:lnTo>
                <a:lnTo>
                  <a:pt x="1922284" y="323730"/>
                </a:lnTo>
                <a:lnTo>
                  <a:pt x="1976251" y="312944"/>
                </a:lnTo>
                <a:lnTo>
                  <a:pt x="2028217" y="300899"/>
                </a:lnTo>
                <a:lnTo>
                  <a:pt x="2078021" y="287636"/>
                </a:lnTo>
                <a:lnTo>
                  <a:pt x="2125503" y="273197"/>
                </a:lnTo>
                <a:lnTo>
                  <a:pt x="2170504" y="257624"/>
                </a:lnTo>
                <a:lnTo>
                  <a:pt x="2212863" y="240960"/>
                </a:lnTo>
                <a:lnTo>
                  <a:pt x="2252421" y="223246"/>
                </a:lnTo>
                <a:lnTo>
                  <a:pt x="2289017" y="204523"/>
                </a:lnTo>
                <a:lnTo>
                  <a:pt x="2322491" y="184835"/>
                </a:lnTo>
                <a:lnTo>
                  <a:pt x="2379436" y="142729"/>
                </a:lnTo>
                <a:lnTo>
                  <a:pt x="2402586" y="120395"/>
                </a:lnTo>
                <a:lnTo>
                  <a:pt x="2676144" y="120395"/>
                </a:lnTo>
                <a:lnTo>
                  <a:pt x="2184654" y="0"/>
                </a:lnTo>
                <a:lnTo>
                  <a:pt x="1583436" y="120395"/>
                </a:lnTo>
                <a:lnTo>
                  <a:pt x="1856994" y="120395"/>
                </a:lnTo>
                <a:lnTo>
                  <a:pt x="1833133" y="143199"/>
                </a:lnTo>
                <a:lnTo>
                  <a:pt x="1774003" y="186334"/>
                </a:lnTo>
                <a:lnTo>
                  <a:pt x="1739046" y="206548"/>
                </a:lnTo>
                <a:lnTo>
                  <a:pt x="1700703" y="225783"/>
                </a:lnTo>
                <a:lnTo>
                  <a:pt x="1659131" y="243979"/>
                </a:lnTo>
                <a:lnTo>
                  <a:pt x="1614487" y="261080"/>
                </a:lnTo>
                <a:lnTo>
                  <a:pt x="1566927" y="277025"/>
                </a:lnTo>
                <a:lnTo>
                  <a:pt x="1516608" y="291758"/>
                </a:lnTo>
                <a:lnTo>
                  <a:pt x="1463686" y="305219"/>
                </a:lnTo>
                <a:lnTo>
                  <a:pt x="1408318" y="317351"/>
                </a:lnTo>
                <a:lnTo>
                  <a:pt x="1350661" y="328095"/>
                </a:lnTo>
                <a:lnTo>
                  <a:pt x="1290871" y="337392"/>
                </a:lnTo>
                <a:lnTo>
                  <a:pt x="1229106" y="345185"/>
                </a:lnTo>
                <a:lnTo>
                  <a:pt x="1228344" y="345185"/>
                </a:lnTo>
                <a:lnTo>
                  <a:pt x="1158291" y="336152"/>
                </a:lnTo>
                <a:lnTo>
                  <a:pt x="1091064" y="325248"/>
                </a:lnTo>
                <a:lnTo>
                  <a:pt x="1026846" y="312568"/>
                </a:lnTo>
                <a:lnTo>
                  <a:pt x="965819" y="298202"/>
                </a:lnTo>
                <a:lnTo>
                  <a:pt x="908168" y="282243"/>
                </a:lnTo>
                <a:lnTo>
                  <a:pt x="854075" y="264782"/>
                </a:lnTo>
                <a:lnTo>
                  <a:pt x="803724" y="245913"/>
                </a:lnTo>
                <a:lnTo>
                  <a:pt x="757299" y="225727"/>
                </a:lnTo>
                <a:lnTo>
                  <a:pt x="714982" y="204317"/>
                </a:lnTo>
                <a:lnTo>
                  <a:pt x="676957" y="181773"/>
                </a:lnTo>
                <a:lnTo>
                  <a:pt x="643407" y="158190"/>
                </a:lnTo>
                <a:lnTo>
                  <a:pt x="590466" y="108270"/>
                </a:lnTo>
                <a:lnTo>
                  <a:pt x="557626" y="55294"/>
                </a:lnTo>
                <a:lnTo>
                  <a:pt x="546354" y="0"/>
                </a:lnTo>
                <a:lnTo>
                  <a:pt x="0" y="0"/>
                </a:lnTo>
                <a:close/>
              </a:path>
            </a:pathLst>
          </a:custGeom>
          <a:ln w="12954">
            <a:solidFill>
              <a:srgbClr val="CCCC00"/>
            </a:solidFill>
          </a:ln>
        </p:spPr>
        <p:txBody>
          <a:bodyPr wrap="square" lIns="0" tIns="0" rIns="0" bIns="0" rtlCol="0"/>
          <a:lstStyle/>
          <a:p>
            <a:endParaRPr sz="1539"/>
          </a:p>
        </p:txBody>
      </p:sp>
      <p:sp>
        <p:nvSpPr>
          <p:cNvPr id="8" name="object 8"/>
          <p:cNvSpPr/>
          <p:nvPr/>
        </p:nvSpPr>
        <p:spPr>
          <a:xfrm>
            <a:off x="4450923" y="4831659"/>
            <a:ext cx="234030" cy="13032"/>
          </a:xfrm>
          <a:custGeom>
            <a:avLst/>
            <a:gdLst/>
            <a:ahLst/>
            <a:cxnLst/>
            <a:rect l="l" t="t" r="r" b="b"/>
            <a:pathLst>
              <a:path w="273685" h="15239">
                <a:moveTo>
                  <a:pt x="273558" y="15239"/>
                </a:moveTo>
                <a:lnTo>
                  <a:pt x="217968" y="14606"/>
                </a:lnTo>
                <a:lnTo>
                  <a:pt x="162781" y="12728"/>
                </a:lnTo>
                <a:lnTo>
                  <a:pt x="108033" y="9643"/>
                </a:lnTo>
                <a:lnTo>
                  <a:pt x="53760" y="5388"/>
                </a:lnTo>
                <a:lnTo>
                  <a:pt x="0" y="0"/>
                </a:lnTo>
              </a:path>
            </a:pathLst>
          </a:custGeom>
          <a:ln w="12954">
            <a:solidFill>
              <a:srgbClr val="CCCC00"/>
            </a:solidFill>
          </a:ln>
        </p:spPr>
        <p:txBody>
          <a:bodyPr wrap="square" lIns="0" tIns="0" rIns="0" bIns="0" rtlCol="0"/>
          <a:lstStyle/>
          <a:p>
            <a:endParaRPr sz="1539"/>
          </a:p>
        </p:txBody>
      </p:sp>
      <p:sp>
        <p:nvSpPr>
          <p:cNvPr id="9" name="object 9"/>
          <p:cNvSpPr/>
          <p:nvPr/>
        </p:nvSpPr>
        <p:spPr>
          <a:xfrm>
            <a:off x="3313233" y="3552586"/>
            <a:ext cx="2289258" cy="307877"/>
          </a:xfrm>
          <a:custGeom>
            <a:avLst/>
            <a:gdLst/>
            <a:ahLst/>
            <a:cxnLst/>
            <a:rect l="l" t="t" r="r" b="b"/>
            <a:pathLst>
              <a:path w="2677159" h="360045">
                <a:moveTo>
                  <a:pt x="2676905" y="359663"/>
                </a:moveTo>
                <a:lnTo>
                  <a:pt x="2667423" y="308726"/>
                </a:lnTo>
                <a:lnTo>
                  <a:pt x="2639836" y="260001"/>
                </a:lnTo>
                <a:lnTo>
                  <a:pt x="2595435" y="213973"/>
                </a:lnTo>
                <a:lnTo>
                  <a:pt x="2535508" y="171125"/>
                </a:lnTo>
                <a:lnTo>
                  <a:pt x="2500125" y="151045"/>
                </a:lnTo>
                <a:lnTo>
                  <a:pt x="2461345" y="131942"/>
                </a:lnTo>
                <a:lnTo>
                  <a:pt x="2419328" y="113876"/>
                </a:lnTo>
                <a:lnTo>
                  <a:pt x="2374236" y="96907"/>
                </a:lnTo>
                <a:lnTo>
                  <a:pt x="2326230" y="81097"/>
                </a:lnTo>
                <a:lnTo>
                  <a:pt x="2275471" y="66505"/>
                </a:lnTo>
                <a:lnTo>
                  <a:pt x="2222120" y="53193"/>
                </a:lnTo>
                <a:lnTo>
                  <a:pt x="2166339" y="41220"/>
                </a:lnTo>
                <a:lnTo>
                  <a:pt x="2108288" y="30647"/>
                </a:lnTo>
                <a:lnTo>
                  <a:pt x="2048129" y="21534"/>
                </a:lnTo>
                <a:lnTo>
                  <a:pt x="1986024" y="13943"/>
                </a:lnTo>
                <a:lnTo>
                  <a:pt x="1922133" y="7934"/>
                </a:lnTo>
                <a:lnTo>
                  <a:pt x="1856617" y="3566"/>
                </a:lnTo>
                <a:lnTo>
                  <a:pt x="1789638" y="901"/>
                </a:lnTo>
                <a:lnTo>
                  <a:pt x="1721357" y="0"/>
                </a:lnTo>
                <a:lnTo>
                  <a:pt x="1174241" y="0"/>
                </a:lnTo>
                <a:lnTo>
                  <a:pt x="1110741" y="790"/>
                </a:lnTo>
                <a:lnTo>
                  <a:pt x="1048122" y="3135"/>
                </a:lnTo>
                <a:lnTo>
                  <a:pt x="986544" y="6991"/>
                </a:lnTo>
                <a:lnTo>
                  <a:pt x="926165" y="12318"/>
                </a:lnTo>
                <a:lnTo>
                  <a:pt x="867146" y="19072"/>
                </a:lnTo>
                <a:lnTo>
                  <a:pt x="809645" y="27212"/>
                </a:lnTo>
                <a:lnTo>
                  <a:pt x="753821" y="36695"/>
                </a:lnTo>
                <a:lnTo>
                  <a:pt x="699835" y="47481"/>
                </a:lnTo>
                <a:lnTo>
                  <a:pt x="647845" y="59526"/>
                </a:lnTo>
                <a:lnTo>
                  <a:pt x="598011" y="72789"/>
                </a:lnTo>
                <a:lnTo>
                  <a:pt x="550492" y="87228"/>
                </a:lnTo>
                <a:lnTo>
                  <a:pt x="505447" y="102801"/>
                </a:lnTo>
                <a:lnTo>
                  <a:pt x="463036" y="119465"/>
                </a:lnTo>
                <a:lnTo>
                  <a:pt x="423417" y="137179"/>
                </a:lnTo>
                <a:lnTo>
                  <a:pt x="386751" y="155902"/>
                </a:lnTo>
                <a:lnTo>
                  <a:pt x="353197" y="175590"/>
                </a:lnTo>
                <a:lnTo>
                  <a:pt x="296060" y="217696"/>
                </a:lnTo>
                <a:lnTo>
                  <a:pt x="272795" y="240030"/>
                </a:lnTo>
                <a:lnTo>
                  <a:pt x="0" y="240030"/>
                </a:lnTo>
                <a:lnTo>
                  <a:pt x="491489" y="359664"/>
                </a:lnTo>
                <a:lnTo>
                  <a:pt x="819149" y="294464"/>
                </a:lnTo>
                <a:lnTo>
                  <a:pt x="819149" y="240030"/>
                </a:lnTo>
                <a:lnTo>
                  <a:pt x="843021" y="217085"/>
                </a:lnTo>
                <a:lnTo>
                  <a:pt x="902230" y="173781"/>
                </a:lnTo>
                <a:lnTo>
                  <a:pt x="937248" y="153526"/>
                </a:lnTo>
                <a:lnTo>
                  <a:pt x="975662" y="134270"/>
                </a:lnTo>
                <a:lnTo>
                  <a:pt x="1017312" y="116066"/>
                </a:lnTo>
                <a:lnTo>
                  <a:pt x="1062037" y="98964"/>
                </a:lnTo>
                <a:lnTo>
                  <a:pt x="1109678" y="83018"/>
                </a:lnTo>
                <a:lnTo>
                  <a:pt x="1160075" y="68277"/>
                </a:lnTo>
                <a:lnTo>
                  <a:pt x="1213068" y="54795"/>
                </a:lnTo>
                <a:lnTo>
                  <a:pt x="1268497" y="42622"/>
                </a:lnTo>
                <a:lnTo>
                  <a:pt x="1326202" y="31810"/>
                </a:lnTo>
                <a:lnTo>
                  <a:pt x="1386023" y="22412"/>
                </a:lnTo>
                <a:lnTo>
                  <a:pt x="1447799" y="14478"/>
                </a:lnTo>
                <a:lnTo>
                  <a:pt x="1517979" y="23511"/>
                </a:lnTo>
                <a:lnTo>
                  <a:pt x="1585317" y="34415"/>
                </a:lnTo>
                <a:lnTo>
                  <a:pt x="1649634" y="47095"/>
                </a:lnTo>
                <a:lnTo>
                  <a:pt x="1710745" y="61461"/>
                </a:lnTo>
                <a:lnTo>
                  <a:pt x="1768469" y="77420"/>
                </a:lnTo>
                <a:lnTo>
                  <a:pt x="1822623" y="94881"/>
                </a:lnTo>
                <a:lnTo>
                  <a:pt x="1873026" y="113750"/>
                </a:lnTo>
                <a:lnTo>
                  <a:pt x="1919493" y="133936"/>
                </a:lnTo>
                <a:lnTo>
                  <a:pt x="1961844" y="155346"/>
                </a:lnTo>
                <a:lnTo>
                  <a:pt x="1999895" y="177890"/>
                </a:lnTo>
                <a:lnTo>
                  <a:pt x="2033465" y="201473"/>
                </a:lnTo>
                <a:lnTo>
                  <a:pt x="2086429" y="251393"/>
                </a:lnTo>
                <a:lnTo>
                  <a:pt x="2119278" y="304369"/>
                </a:lnTo>
                <a:lnTo>
                  <a:pt x="2130551" y="359663"/>
                </a:lnTo>
                <a:lnTo>
                  <a:pt x="2676905" y="359663"/>
                </a:lnTo>
                <a:close/>
              </a:path>
              <a:path w="2677159" h="360045">
                <a:moveTo>
                  <a:pt x="1092707" y="240029"/>
                </a:moveTo>
                <a:lnTo>
                  <a:pt x="819149" y="240030"/>
                </a:lnTo>
                <a:lnTo>
                  <a:pt x="819149" y="294464"/>
                </a:lnTo>
                <a:lnTo>
                  <a:pt x="1092707" y="240029"/>
                </a:lnTo>
                <a:close/>
              </a:path>
            </a:pathLst>
          </a:custGeom>
          <a:solidFill>
            <a:srgbClr val="008080"/>
          </a:solidFill>
        </p:spPr>
        <p:txBody>
          <a:bodyPr wrap="square" lIns="0" tIns="0" rIns="0" bIns="0" rtlCol="0"/>
          <a:lstStyle/>
          <a:p>
            <a:endParaRPr sz="1539"/>
          </a:p>
        </p:txBody>
      </p:sp>
      <p:sp>
        <p:nvSpPr>
          <p:cNvPr id="10" name="object 10"/>
          <p:cNvSpPr/>
          <p:nvPr/>
        </p:nvSpPr>
        <p:spPr>
          <a:xfrm>
            <a:off x="4317336" y="3552586"/>
            <a:ext cx="1285264" cy="307877"/>
          </a:xfrm>
          <a:custGeom>
            <a:avLst/>
            <a:gdLst/>
            <a:ahLst/>
            <a:cxnLst/>
            <a:rect l="l" t="t" r="r" b="b"/>
            <a:pathLst>
              <a:path w="1503045" h="360045">
                <a:moveTo>
                  <a:pt x="1502664" y="359663"/>
                </a:moveTo>
                <a:lnTo>
                  <a:pt x="1493181" y="308726"/>
                </a:lnTo>
                <a:lnTo>
                  <a:pt x="1465594" y="260001"/>
                </a:lnTo>
                <a:lnTo>
                  <a:pt x="1421193" y="213973"/>
                </a:lnTo>
                <a:lnTo>
                  <a:pt x="1361266" y="171125"/>
                </a:lnTo>
                <a:lnTo>
                  <a:pt x="1325883" y="151045"/>
                </a:lnTo>
                <a:lnTo>
                  <a:pt x="1287103" y="131942"/>
                </a:lnTo>
                <a:lnTo>
                  <a:pt x="1245086" y="113876"/>
                </a:lnTo>
                <a:lnTo>
                  <a:pt x="1199994" y="96907"/>
                </a:lnTo>
                <a:lnTo>
                  <a:pt x="1151988" y="81097"/>
                </a:lnTo>
                <a:lnTo>
                  <a:pt x="1101229" y="66505"/>
                </a:lnTo>
                <a:lnTo>
                  <a:pt x="1047878" y="53193"/>
                </a:lnTo>
                <a:lnTo>
                  <a:pt x="992097" y="41220"/>
                </a:lnTo>
                <a:lnTo>
                  <a:pt x="934046" y="30647"/>
                </a:lnTo>
                <a:lnTo>
                  <a:pt x="873887" y="21534"/>
                </a:lnTo>
                <a:lnTo>
                  <a:pt x="811782" y="13943"/>
                </a:lnTo>
                <a:lnTo>
                  <a:pt x="747891" y="7934"/>
                </a:lnTo>
                <a:lnTo>
                  <a:pt x="682375" y="3566"/>
                </a:lnTo>
                <a:lnTo>
                  <a:pt x="615396" y="901"/>
                </a:lnTo>
                <a:lnTo>
                  <a:pt x="554371" y="95"/>
                </a:lnTo>
                <a:lnTo>
                  <a:pt x="0" y="0"/>
                </a:lnTo>
                <a:lnTo>
                  <a:pt x="68285" y="901"/>
                </a:lnTo>
                <a:lnTo>
                  <a:pt x="135276" y="3566"/>
                </a:lnTo>
                <a:lnTo>
                  <a:pt x="200810" y="7934"/>
                </a:lnTo>
                <a:lnTo>
                  <a:pt x="264727" y="13943"/>
                </a:lnTo>
                <a:lnTo>
                  <a:pt x="326864" y="21534"/>
                </a:lnTo>
                <a:lnTo>
                  <a:pt x="387059" y="30647"/>
                </a:lnTo>
                <a:lnTo>
                  <a:pt x="445149" y="41220"/>
                </a:lnTo>
                <a:lnTo>
                  <a:pt x="500974" y="53193"/>
                </a:lnTo>
                <a:lnTo>
                  <a:pt x="554371" y="66505"/>
                </a:lnTo>
                <a:lnTo>
                  <a:pt x="605179" y="81097"/>
                </a:lnTo>
                <a:lnTo>
                  <a:pt x="653234" y="96907"/>
                </a:lnTo>
                <a:lnTo>
                  <a:pt x="698376" y="113876"/>
                </a:lnTo>
                <a:lnTo>
                  <a:pt x="740442" y="131942"/>
                </a:lnTo>
                <a:lnTo>
                  <a:pt x="779270" y="151045"/>
                </a:lnTo>
                <a:lnTo>
                  <a:pt x="814699" y="171125"/>
                </a:lnTo>
                <a:lnTo>
                  <a:pt x="846566" y="192121"/>
                </a:lnTo>
                <a:lnTo>
                  <a:pt x="898968" y="236620"/>
                </a:lnTo>
                <a:lnTo>
                  <a:pt x="935181" y="284057"/>
                </a:lnTo>
                <a:lnTo>
                  <a:pt x="953908" y="333949"/>
                </a:lnTo>
                <a:lnTo>
                  <a:pt x="956309" y="359663"/>
                </a:lnTo>
                <a:lnTo>
                  <a:pt x="1502664" y="359663"/>
                </a:lnTo>
                <a:close/>
              </a:path>
            </a:pathLst>
          </a:custGeom>
          <a:solidFill>
            <a:srgbClr val="006767"/>
          </a:solidFill>
        </p:spPr>
        <p:txBody>
          <a:bodyPr wrap="square" lIns="0" tIns="0" rIns="0" bIns="0" rtlCol="0"/>
          <a:lstStyle/>
          <a:p>
            <a:endParaRPr sz="1539"/>
          </a:p>
        </p:txBody>
      </p:sp>
      <p:sp>
        <p:nvSpPr>
          <p:cNvPr id="11" name="object 11"/>
          <p:cNvSpPr/>
          <p:nvPr/>
        </p:nvSpPr>
        <p:spPr>
          <a:xfrm>
            <a:off x="3313233" y="3552586"/>
            <a:ext cx="2289258" cy="307877"/>
          </a:xfrm>
          <a:custGeom>
            <a:avLst/>
            <a:gdLst/>
            <a:ahLst/>
            <a:cxnLst/>
            <a:rect l="l" t="t" r="r" b="b"/>
            <a:pathLst>
              <a:path w="2677159" h="360045">
                <a:moveTo>
                  <a:pt x="2676905" y="359663"/>
                </a:moveTo>
                <a:lnTo>
                  <a:pt x="2667423" y="308726"/>
                </a:lnTo>
                <a:lnTo>
                  <a:pt x="2639836" y="260001"/>
                </a:lnTo>
                <a:lnTo>
                  <a:pt x="2595435" y="213973"/>
                </a:lnTo>
                <a:lnTo>
                  <a:pt x="2535508" y="171125"/>
                </a:lnTo>
                <a:lnTo>
                  <a:pt x="2500125" y="151045"/>
                </a:lnTo>
                <a:lnTo>
                  <a:pt x="2461345" y="131942"/>
                </a:lnTo>
                <a:lnTo>
                  <a:pt x="2419328" y="113876"/>
                </a:lnTo>
                <a:lnTo>
                  <a:pt x="2374236" y="96907"/>
                </a:lnTo>
                <a:lnTo>
                  <a:pt x="2326230" y="81097"/>
                </a:lnTo>
                <a:lnTo>
                  <a:pt x="2275471" y="66505"/>
                </a:lnTo>
                <a:lnTo>
                  <a:pt x="2222120" y="53193"/>
                </a:lnTo>
                <a:lnTo>
                  <a:pt x="2166339" y="41220"/>
                </a:lnTo>
                <a:lnTo>
                  <a:pt x="2108288" y="30647"/>
                </a:lnTo>
                <a:lnTo>
                  <a:pt x="2048129" y="21534"/>
                </a:lnTo>
                <a:lnTo>
                  <a:pt x="1986024" y="13943"/>
                </a:lnTo>
                <a:lnTo>
                  <a:pt x="1922133" y="7934"/>
                </a:lnTo>
                <a:lnTo>
                  <a:pt x="1856617" y="3566"/>
                </a:lnTo>
                <a:lnTo>
                  <a:pt x="1789638" y="901"/>
                </a:lnTo>
                <a:lnTo>
                  <a:pt x="1721357" y="0"/>
                </a:lnTo>
                <a:lnTo>
                  <a:pt x="1174241" y="0"/>
                </a:lnTo>
                <a:lnTo>
                  <a:pt x="1110741" y="790"/>
                </a:lnTo>
                <a:lnTo>
                  <a:pt x="1048122" y="3135"/>
                </a:lnTo>
                <a:lnTo>
                  <a:pt x="986544" y="6991"/>
                </a:lnTo>
                <a:lnTo>
                  <a:pt x="926165" y="12318"/>
                </a:lnTo>
                <a:lnTo>
                  <a:pt x="867146" y="19072"/>
                </a:lnTo>
                <a:lnTo>
                  <a:pt x="809645" y="27212"/>
                </a:lnTo>
                <a:lnTo>
                  <a:pt x="753821" y="36695"/>
                </a:lnTo>
                <a:lnTo>
                  <a:pt x="699835" y="47481"/>
                </a:lnTo>
                <a:lnTo>
                  <a:pt x="647845" y="59526"/>
                </a:lnTo>
                <a:lnTo>
                  <a:pt x="598011" y="72789"/>
                </a:lnTo>
                <a:lnTo>
                  <a:pt x="550492" y="87228"/>
                </a:lnTo>
                <a:lnTo>
                  <a:pt x="505447" y="102801"/>
                </a:lnTo>
                <a:lnTo>
                  <a:pt x="463036" y="119465"/>
                </a:lnTo>
                <a:lnTo>
                  <a:pt x="423417" y="137179"/>
                </a:lnTo>
                <a:lnTo>
                  <a:pt x="386751" y="155902"/>
                </a:lnTo>
                <a:lnTo>
                  <a:pt x="353197" y="175590"/>
                </a:lnTo>
                <a:lnTo>
                  <a:pt x="296060" y="217696"/>
                </a:lnTo>
                <a:lnTo>
                  <a:pt x="272795" y="240030"/>
                </a:lnTo>
                <a:lnTo>
                  <a:pt x="0" y="240030"/>
                </a:lnTo>
                <a:lnTo>
                  <a:pt x="491489" y="359664"/>
                </a:lnTo>
                <a:lnTo>
                  <a:pt x="1092707" y="240029"/>
                </a:lnTo>
                <a:lnTo>
                  <a:pt x="819149" y="240030"/>
                </a:lnTo>
                <a:lnTo>
                  <a:pt x="843021" y="217085"/>
                </a:lnTo>
                <a:lnTo>
                  <a:pt x="902230" y="173781"/>
                </a:lnTo>
                <a:lnTo>
                  <a:pt x="937248" y="153526"/>
                </a:lnTo>
                <a:lnTo>
                  <a:pt x="975662" y="134270"/>
                </a:lnTo>
                <a:lnTo>
                  <a:pt x="1017312" y="116066"/>
                </a:lnTo>
                <a:lnTo>
                  <a:pt x="1062037" y="98964"/>
                </a:lnTo>
                <a:lnTo>
                  <a:pt x="1109678" y="83018"/>
                </a:lnTo>
                <a:lnTo>
                  <a:pt x="1160075" y="68277"/>
                </a:lnTo>
                <a:lnTo>
                  <a:pt x="1213068" y="54795"/>
                </a:lnTo>
                <a:lnTo>
                  <a:pt x="1268497" y="42622"/>
                </a:lnTo>
                <a:lnTo>
                  <a:pt x="1326202" y="31810"/>
                </a:lnTo>
                <a:lnTo>
                  <a:pt x="1386023" y="22412"/>
                </a:lnTo>
                <a:lnTo>
                  <a:pt x="1447799" y="14478"/>
                </a:lnTo>
                <a:lnTo>
                  <a:pt x="1517979" y="23511"/>
                </a:lnTo>
                <a:lnTo>
                  <a:pt x="1585317" y="34415"/>
                </a:lnTo>
                <a:lnTo>
                  <a:pt x="1649634" y="47095"/>
                </a:lnTo>
                <a:lnTo>
                  <a:pt x="1710745" y="61461"/>
                </a:lnTo>
                <a:lnTo>
                  <a:pt x="1768469" y="77420"/>
                </a:lnTo>
                <a:lnTo>
                  <a:pt x="1822623" y="94881"/>
                </a:lnTo>
                <a:lnTo>
                  <a:pt x="1873026" y="113750"/>
                </a:lnTo>
                <a:lnTo>
                  <a:pt x="1919493" y="133936"/>
                </a:lnTo>
                <a:lnTo>
                  <a:pt x="1961844" y="155346"/>
                </a:lnTo>
                <a:lnTo>
                  <a:pt x="1999895" y="177890"/>
                </a:lnTo>
                <a:lnTo>
                  <a:pt x="2033465" y="201473"/>
                </a:lnTo>
                <a:lnTo>
                  <a:pt x="2086429" y="251393"/>
                </a:lnTo>
                <a:lnTo>
                  <a:pt x="2119278" y="304369"/>
                </a:lnTo>
                <a:lnTo>
                  <a:pt x="2130551" y="359663"/>
                </a:lnTo>
                <a:lnTo>
                  <a:pt x="2676905" y="359663"/>
                </a:lnTo>
                <a:close/>
              </a:path>
            </a:pathLst>
          </a:custGeom>
          <a:ln w="12954">
            <a:solidFill>
              <a:srgbClr val="CCCC00"/>
            </a:solidFill>
          </a:ln>
        </p:spPr>
        <p:txBody>
          <a:bodyPr wrap="square" lIns="0" tIns="0" rIns="0" bIns="0" rtlCol="0"/>
          <a:lstStyle/>
          <a:p>
            <a:endParaRPr sz="1539"/>
          </a:p>
        </p:txBody>
      </p:sp>
      <p:sp>
        <p:nvSpPr>
          <p:cNvPr id="12" name="object 12"/>
          <p:cNvSpPr/>
          <p:nvPr/>
        </p:nvSpPr>
        <p:spPr>
          <a:xfrm>
            <a:off x="4317336" y="3552585"/>
            <a:ext cx="234030" cy="12488"/>
          </a:xfrm>
          <a:custGeom>
            <a:avLst/>
            <a:gdLst/>
            <a:ahLst/>
            <a:cxnLst/>
            <a:rect l="l" t="t" r="r" b="b"/>
            <a:pathLst>
              <a:path w="273685" h="14604">
                <a:moveTo>
                  <a:pt x="0" y="0"/>
                </a:moveTo>
                <a:lnTo>
                  <a:pt x="55662" y="554"/>
                </a:lnTo>
                <a:lnTo>
                  <a:pt x="110995" y="2243"/>
                </a:lnTo>
                <a:lnTo>
                  <a:pt x="165853" y="5102"/>
                </a:lnTo>
                <a:lnTo>
                  <a:pt x="220089" y="9168"/>
                </a:lnTo>
                <a:lnTo>
                  <a:pt x="273558" y="14477"/>
                </a:lnTo>
              </a:path>
            </a:pathLst>
          </a:custGeom>
          <a:ln w="12954">
            <a:solidFill>
              <a:srgbClr val="CCCC00"/>
            </a:solidFill>
          </a:ln>
        </p:spPr>
        <p:txBody>
          <a:bodyPr wrap="square" lIns="0" tIns="0" rIns="0" bIns="0" rtlCol="0"/>
          <a:lstStyle/>
          <a:p>
            <a:endParaRPr sz="1539"/>
          </a:p>
        </p:txBody>
      </p:sp>
      <p:sp>
        <p:nvSpPr>
          <p:cNvPr id="13" name="object 13"/>
          <p:cNvSpPr txBox="1"/>
          <p:nvPr/>
        </p:nvSpPr>
        <p:spPr>
          <a:xfrm>
            <a:off x="1266813" y="1468512"/>
            <a:ext cx="6836280" cy="1303628"/>
          </a:xfrm>
          <a:prstGeom prst="rect">
            <a:avLst/>
          </a:prstGeom>
        </p:spPr>
        <p:txBody>
          <a:bodyPr vert="horz" wrap="square" lIns="0" tIns="10860" rIns="0" bIns="0" rtlCol="0">
            <a:spAutoFit/>
          </a:bodyPr>
          <a:lstStyle/>
          <a:p>
            <a:pPr marL="10860" marR="4344" algn="just">
              <a:spcBef>
                <a:spcPts val="86"/>
              </a:spcBef>
            </a:pPr>
            <a:r>
              <a:rPr sz="2800" dirty="0">
                <a:solidFill>
                  <a:srgbClr val="0070C0"/>
                </a:solidFill>
                <a:latin typeface="Poppins" panose="020B0604020202020204"/>
                <a:ea typeface="Calibri" panose="020F0502020204030204" pitchFamily="34" charset="0"/>
                <a:cs typeface="Calibri" panose="020F0502020204030204" pitchFamily="34" charset="0"/>
              </a:rPr>
              <a:t>L’impresa, </a:t>
            </a:r>
            <a:r>
              <a:rPr sz="2800" spc="-4" dirty="0">
                <a:solidFill>
                  <a:srgbClr val="0070C0"/>
                </a:solidFill>
                <a:latin typeface="Poppins" panose="020B0604020202020204"/>
                <a:ea typeface="Calibri" panose="020F0502020204030204" pitchFamily="34" charset="0"/>
                <a:cs typeface="Calibri" panose="020F0502020204030204" pitchFamily="34" charset="0"/>
              </a:rPr>
              <a:t>cellula </a:t>
            </a:r>
            <a:r>
              <a:rPr sz="2800" dirty="0">
                <a:solidFill>
                  <a:srgbClr val="0070C0"/>
                </a:solidFill>
                <a:latin typeface="Poppins" panose="020B0604020202020204"/>
                <a:ea typeface="Calibri" panose="020F0502020204030204" pitchFamily="34" charset="0"/>
                <a:cs typeface="Calibri" panose="020F0502020204030204" pitchFamily="34" charset="0"/>
              </a:rPr>
              <a:t>fondamentale del </a:t>
            </a:r>
            <a:r>
              <a:rPr sz="2800" spc="-4" dirty="0">
                <a:solidFill>
                  <a:srgbClr val="0070C0"/>
                </a:solidFill>
                <a:latin typeface="Poppins" panose="020B0604020202020204"/>
                <a:ea typeface="Calibri" panose="020F0502020204030204" pitchFamily="34" charset="0"/>
                <a:cs typeface="Calibri" panose="020F0502020204030204" pitchFamily="34" charset="0"/>
              </a:rPr>
              <a:t>sistema  economico-produttivo, </a:t>
            </a:r>
            <a:r>
              <a:rPr sz="2800" dirty="0">
                <a:solidFill>
                  <a:srgbClr val="0070C0"/>
                </a:solidFill>
                <a:latin typeface="Poppins" panose="020B0604020202020204"/>
                <a:ea typeface="Calibri" panose="020F0502020204030204" pitchFamily="34" charset="0"/>
                <a:cs typeface="Calibri" panose="020F0502020204030204" pitchFamily="34" charset="0"/>
              </a:rPr>
              <a:t>opera </a:t>
            </a:r>
            <a:r>
              <a:rPr sz="2800" spc="-4" dirty="0">
                <a:solidFill>
                  <a:srgbClr val="0070C0"/>
                </a:solidFill>
                <a:latin typeface="Poppins" panose="020B0604020202020204"/>
                <a:ea typeface="Calibri" panose="020F0502020204030204" pitchFamily="34" charset="0"/>
                <a:cs typeface="Calibri" panose="020F0502020204030204" pitchFamily="34" charset="0"/>
              </a:rPr>
              <a:t>all’interno </a:t>
            </a:r>
            <a:r>
              <a:rPr sz="2800" dirty="0">
                <a:solidFill>
                  <a:srgbClr val="0070C0"/>
                </a:solidFill>
                <a:latin typeface="Poppins" panose="020B0604020202020204"/>
                <a:ea typeface="Calibri" panose="020F0502020204030204" pitchFamily="34" charset="0"/>
                <a:cs typeface="Calibri" panose="020F0502020204030204" pitchFamily="34" charset="0"/>
              </a:rPr>
              <a:t>di un  </a:t>
            </a:r>
            <a:r>
              <a:rPr sz="2800" b="1" dirty="0">
                <a:solidFill>
                  <a:srgbClr val="0070C0"/>
                </a:solidFill>
                <a:uFill>
                  <a:solidFill>
                    <a:srgbClr val="009A9A"/>
                  </a:solidFill>
                </a:uFill>
                <a:latin typeface="Poppins" panose="020B0604020202020204"/>
                <a:ea typeface="Calibri" panose="020F0502020204030204" pitchFamily="34" charset="0"/>
                <a:cs typeface="Calibri" panose="020F0502020204030204" pitchFamily="34" charset="0"/>
              </a:rPr>
              <a:t>ambiente</a:t>
            </a:r>
            <a:r>
              <a:rPr sz="2800" dirty="0">
                <a:solidFill>
                  <a:srgbClr val="0070C0"/>
                </a:solidFill>
                <a:latin typeface="Poppins" panose="020B0604020202020204"/>
                <a:ea typeface="Calibri" panose="020F0502020204030204" pitchFamily="34" charset="0"/>
                <a:cs typeface="Calibri" panose="020F0502020204030204" pitchFamily="34" charset="0"/>
              </a:rPr>
              <a:t> più </a:t>
            </a:r>
            <a:r>
              <a:rPr sz="2800" spc="-4" dirty="0">
                <a:solidFill>
                  <a:srgbClr val="0070C0"/>
                </a:solidFill>
                <a:latin typeface="Poppins" panose="020B0604020202020204"/>
                <a:ea typeface="Calibri" panose="020F0502020204030204" pitchFamily="34" charset="0"/>
                <a:cs typeface="Calibri" panose="020F0502020204030204" pitchFamily="34" charset="0"/>
              </a:rPr>
              <a:t>vasto con cui scambia</a:t>
            </a:r>
            <a:r>
              <a:rPr sz="2800" spc="-13" dirty="0">
                <a:solidFill>
                  <a:srgbClr val="0070C0"/>
                </a:solidFill>
                <a:latin typeface="Poppins" panose="020B0604020202020204"/>
                <a:ea typeface="Calibri" panose="020F0502020204030204" pitchFamily="34" charset="0"/>
                <a:cs typeface="Calibri" panose="020F0502020204030204" pitchFamily="34" charset="0"/>
              </a:rPr>
              <a:t> </a:t>
            </a:r>
            <a:r>
              <a:rPr sz="2800" spc="-4" dirty="0">
                <a:solidFill>
                  <a:srgbClr val="0070C0"/>
                </a:solidFill>
                <a:latin typeface="Poppins" panose="020B0604020202020204"/>
                <a:ea typeface="Calibri" panose="020F0502020204030204" pitchFamily="34" charset="0"/>
                <a:cs typeface="Calibri" panose="020F0502020204030204" pitchFamily="34" charset="0"/>
              </a:rPr>
              <a:t>risorse</a:t>
            </a:r>
            <a:endParaRPr sz="2800" dirty="0">
              <a:solidFill>
                <a:srgbClr val="0070C0"/>
              </a:solidFill>
              <a:latin typeface="Poppins" panose="020B0604020202020204"/>
              <a:ea typeface="Calibri" panose="020F0502020204030204" pitchFamily="34" charset="0"/>
              <a:cs typeface="Calibri" panose="020F0502020204030204" pitchFamily="34" charset="0"/>
            </a:endParaRPr>
          </a:p>
        </p:txBody>
      </p:sp>
      <p:sp>
        <p:nvSpPr>
          <p:cNvPr id="14" name="object 14"/>
          <p:cNvSpPr txBox="1"/>
          <p:nvPr/>
        </p:nvSpPr>
        <p:spPr>
          <a:xfrm>
            <a:off x="1126775" y="5403474"/>
            <a:ext cx="6836280" cy="747834"/>
          </a:xfrm>
          <a:prstGeom prst="rect">
            <a:avLst/>
          </a:prstGeom>
        </p:spPr>
        <p:txBody>
          <a:bodyPr vert="horz" wrap="square" lIns="0" tIns="10860" rIns="0" bIns="0" rtlCol="0">
            <a:spAutoFit/>
          </a:bodyPr>
          <a:lstStyle/>
          <a:p>
            <a:pPr marL="10860" marR="4344" algn="just">
              <a:spcBef>
                <a:spcPts val="86"/>
              </a:spcBef>
            </a:pPr>
            <a:r>
              <a:rPr sz="2400" dirty="0">
                <a:solidFill>
                  <a:srgbClr val="0070C0"/>
                </a:solidFill>
                <a:latin typeface="Poppins" panose="020B0604020202020204"/>
                <a:ea typeface="Calibri" panose="020F0502020204030204" pitchFamily="34" charset="0"/>
                <a:cs typeface="Calibri" panose="020F0502020204030204" pitchFamily="34" charset="0"/>
              </a:rPr>
              <a:t>Tale </a:t>
            </a:r>
            <a:r>
              <a:rPr sz="2400" spc="-4" dirty="0">
                <a:solidFill>
                  <a:srgbClr val="0070C0"/>
                </a:solidFill>
                <a:latin typeface="Poppins" panose="020B0604020202020204"/>
                <a:ea typeface="Calibri" panose="020F0502020204030204" pitchFamily="34" charset="0"/>
                <a:cs typeface="Calibri" panose="020F0502020204030204" pitchFamily="34" charset="0"/>
              </a:rPr>
              <a:t>ambiente </a:t>
            </a:r>
            <a:r>
              <a:rPr sz="2400" dirty="0">
                <a:solidFill>
                  <a:srgbClr val="0070C0"/>
                </a:solidFill>
                <a:latin typeface="Poppins" panose="020B0604020202020204"/>
                <a:ea typeface="Calibri" panose="020F0502020204030204" pitchFamily="34" charset="0"/>
                <a:cs typeface="Calibri" panose="020F0502020204030204" pitchFamily="34" charset="0"/>
              </a:rPr>
              <a:t>può </a:t>
            </a:r>
            <a:r>
              <a:rPr sz="2400" spc="-4" dirty="0">
                <a:solidFill>
                  <a:srgbClr val="0070C0"/>
                </a:solidFill>
                <a:latin typeface="Poppins" panose="020B0604020202020204"/>
                <a:ea typeface="Calibri" panose="020F0502020204030204" pitchFamily="34" charset="0"/>
                <a:cs typeface="Calibri" panose="020F0502020204030204" pitchFamily="34" charset="0"/>
              </a:rPr>
              <a:t>essere convenzionalmente  suddiviso </a:t>
            </a:r>
            <a:r>
              <a:rPr sz="2400" dirty="0">
                <a:solidFill>
                  <a:srgbClr val="0070C0"/>
                </a:solidFill>
                <a:latin typeface="Poppins" panose="020B0604020202020204"/>
                <a:ea typeface="Calibri" panose="020F0502020204030204" pitchFamily="34" charset="0"/>
                <a:cs typeface="Calibri" panose="020F0502020204030204" pitchFamily="34" charset="0"/>
              </a:rPr>
              <a:t>in </a:t>
            </a:r>
            <a:r>
              <a:rPr sz="2400" b="1" spc="-4" dirty="0">
                <a:solidFill>
                  <a:srgbClr val="0070C0"/>
                </a:solidFill>
                <a:latin typeface="Poppins" panose="020B0604020202020204"/>
                <a:ea typeface="Calibri" panose="020F0502020204030204" pitchFamily="34" charset="0"/>
                <a:cs typeface="Calibri" panose="020F0502020204030204" pitchFamily="34" charset="0"/>
              </a:rPr>
              <a:t>micro-ambiente </a:t>
            </a:r>
            <a:r>
              <a:rPr sz="2400" dirty="0">
                <a:solidFill>
                  <a:srgbClr val="0070C0"/>
                </a:solidFill>
                <a:latin typeface="Poppins" panose="020B0604020202020204"/>
                <a:ea typeface="Calibri" panose="020F0502020204030204" pitchFamily="34" charset="0"/>
                <a:cs typeface="Calibri" panose="020F0502020204030204" pitchFamily="34" charset="0"/>
              </a:rPr>
              <a:t>e</a:t>
            </a:r>
            <a:r>
              <a:rPr sz="2400" spc="-30" dirty="0">
                <a:solidFill>
                  <a:srgbClr val="0070C0"/>
                </a:solidFill>
                <a:latin typeface="Poppins" panose="020B0604020202020204"/>
                <a:ea typeface="Calibri" panose="020F0502020204030204" pitchFamily="34" charset="0"/>
                <a:cs typeface="Calibri" panose="020F0502020204030204" pitchFamily="34" charset="0"/>
              </a:rPr>
              <a:t> </a:t>
            </a:r>
            <a:r>
              <a:rPr sz="2400" b="1" dirty="0">
                <a:solidFill>
                  <a:srgbClr val="0070C0"/>
                </a:solidFill>
                <a:latin typeface="Poppins" panose="020B0604020202020204"/>
                <a:ea typeface="Calibri" panose="020F0502020204030204" pitchFamily="34" charset="0"/>
                <a:cs typeface="Calibri" panose="020F0502020204030204" pitchFamily="34" charset="0"/>
              </a:rPr>
              <a:t>macro-ambiente</a:t>
            </a:r>
          </a:p>
        </p:txBody>
      </p:sp>
    </p:spTree>
    <p:extLst>
      <p:ext uri="{BB962C8B-B14F-4D97-AF65-F5344CB8AC3E}">
        <p14:creationId xmlns:p14="http://schemas.microsoft.com/office/powerpoint/2010/main" val="2280772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magine 3">
            <a:extLst>
              <a:ext uri="{FF2B5EF4-FFF2-40B4-BE49-F238E27FC236}">
                <a16:creationId xmlns:a16="http://schemas.microsoft.com/office/drawing/2014/main" id="{DEF7A5E2-419B-EB48-956A-5487E19CE6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9991" y="399319"/>
            <a:ext cx="7008779" cy="4529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6">
            <a:extLst>
              <a:ext uri="{FF2B5EF4-FFF2-40B4-BE49-F238E27FC236}">
                <a16:creationId xmlns:a16="http://schemas.microsoft.com/office/drawing/2014/main" id="{722D5E93-DA37-1F49-BA04-C68BAE380B17}"/>
              </a:ext>
            </a:extLst>
          </p:cNvPr>
          <p:cNvSpPr txBox="1">
            <a:spLocks noChangeArrowheads="1"/>
          </p:cNvSpPr>
          <p:nvPr/>
        </p:nvSpPr>
        <p:spPr bwMode="auto">
          <a:xfrm>
            <a:off x="527900" y="5047781"/>
            <a:ext cx="8458200"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Micro-ambiente</a:t>
            </a:r>
            <a:r>
              <a:rPr lang="it-IT" altLang="it-IT" sz="1800" b="0" dirty="0">
                <a:solidFill>
                  <a:srgbClr val="000000"/>
                </a:solidFill>
                <a:latin typeface="Poppins" panose="020B0604020202020204"/>
                <a:ea typeface="Calibri" panose="020F0502020204030204" pitchFamily="34" charset="0"/>
                <a:cs typeface="Calibri" panose="020F0502020204030204" pitchFamily="34" charset="0"/>
              </a:rPr>
              <a:t>, (che nella figura è rappresentato dalla area più interna) definito dai mercati con cui si realizzano relazioni di scambio di risorse o di tipo competitivo</a:t>
            </a:r>
          </a:p>
          <a:p>
            <a:pPr>
              <a:spcBef>
                <a:spcPts val="300"/>
              </a:spcBef>
              <a:buClr>
                <a:srgbClr val="000000"/>
              </a:buClr>
              <a:buSzPct val="100000"/>
            </a:pP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Macro-ambiente</a:t>
            </a:r>
            <a:r>
              <a:rPr lang="it-IT" altLang="it-IT" sz="1800" b="0" dirty="0">
                <a:solidFill>
                  <a:srgbClr val="000000"/>
                </a:solidFill>
                <a:latin typeface="Poppins" panose="020B0604020202020204"/>
                <a:ea typeface="Calibri" panose="020F0502020204030204" pitchFamily="34" charset="0"/>
                <a:cs typeface="Calibri" panose="020F0502020204030204" pitchFamily="34" charset="0"/>
              </a:rPr>
              <a:t>, di carattere più ampio (che nella figura corrisponde alla cornice esterna), che genera le condizioni ed i vincoli entro cui l’impresa può operare</a:t>
            </a:r>
          </a:p>
          <a:p>
            <a:pPr>
              <a:spcBef>
                <a:spcPts val="300"/>
              </a:spcBef>
              <a:buClr>
                <a:srgbClr val="000000"/>
              </a:buClr>
              <a:buSzPct val="100000"/>
              <a:buFont typeface="Verdana" panose="020B0604030504040204" pitchFamily="34" charset="0"/>
              <a:buNone/>
            </a:pPr>
            <a:endParaRPr lang="it-IT" altLang="it-IT" sz="1200" dirty="0">
              <a:solidFill>
                <a:srgbClr val="000000"/>
              </a:solidFill>
            </a:endParaRPr>
          </a:p>
        </p:txBody>
      </p:sp>
    </p:spTree>
    <p:extLst>
      <p:ext uri="{BB962C8B-B14F-4D97-AF65-F5344CB8AC3E}">
        <p14:creationId xmlns:p14="http://schemas.microsoft.com/office/powerpoint/2010/main" val="4224197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magine 3">
            <a:extLst>
              <a:ext uri="{FF2B5EF4-FFF2-40B4-BE49-F238E27FC236}">
                <a16:creationId xmlns:a16="http://schemas.microsoft.com/office/drawing/2014/main" id="{DEF7A5E2-419B-EB48-956A-5487E19CE6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900" y="644416"/>
            <a:ext cx="4108076" cy="265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20791"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MICRO-AMBIENTE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1/3</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436334" y="4117730"/>
            <a:ext cx="8399283" cy="1938992"/>
          </a:xfrm>
          <a:prstGeom prst="rect">
            <a:avLst/>
          </a:prstGeom>
        </p:spPr>
        <p:txBody>
          <a:bodyPr wrap="square">
            <a:spAutoFit/>
          </a:bodyPr>
          <a:lstStyle/>
          <a:p>
            <a:pPr algn="just"/>
            <a:r>
              <a:rPr lang="it-IT" sz="2000" dirty="0">
                <a:latin typeface="Poppins" panose="020B0604020202020204"/>
              </a:rPr>
              <a:t>Il micro-ambiente viene a sua volta suddiviso in </a:t>
            </a:r>
            <a:r>
              <a:rPr lang="it-IT" sz="2000" b="1" dirty="0">
                <a:latin typeface="Poppins" panose="020B0604020202020204"/>
              </a:rPr>
              <a:t>ambiente transazionale </a:t>
            </a:r>
            <a:r>
              <a:rPr lang="it-IT" sz="2000" dirty="0">
                <a:latin typeface="Poppins" panose="020B0604020202020204"/>
              </a:rPr>
              <a:t>ed </a:t>
            </a:r>
            <a:r>
              <a:rPr lang="it-IT" sz="2000" b="1" dirty="0">
                <a:latin typeface="Poppins" panose="020B0604020202020204"/>
              </a:rPr>
              <a:t>ambiente competitivo</a:t>
            </a:r>
            <a:r>
              <a:rPr lang="it-IT" sz="2000" dirty="0">
                <a:latin typeface="Poppins" panose="020B0604020202020204"/>
              </a:rPr>
              <a:t>. </a:t>
            </a:r>
          </a:p>
          <a:p>
            <a:pPr algn="just"/>
            <a:r>
              <a:rPr lang="it-IT" sz="2000" dirty="0">
                <a:latin typeface="Poppins" panose="020B0604020202020204"/>
              </a:rPr>
              <a:t>L’impresa si collega con il mercato del lavoro (da cui trae le risorse umane), il mercato finanziario (da cui trae le fonti di finanziamento), il mercato della produzione (da cui acquista tecnologie, impianti, materiali e servizi) e con il mercato di vendita (a cui cede i propri beni e servizi). </a:t>
            </a:r>
          </a:p>
        </p:txBody>
      </p:sp>
      <p:sp>
        <p:nvSpPr>
          <p:cNvPr id="3" name="Ovale 2">
            <a:extLst>
              <a:ext uri="{FF2B5EF4-FFF2-40B4-BE49-F238E27FC236}">
                <a16:creationId xmlns:a16="http://schemas.microsoft.com/office/drawing/2014/main" id="{EED3069A-96D7-4739-9977-1D77E828FB6B}"/>
              </a:ext>
            </a:extLst>
          </p:cNvPr>
          <p:cNvSpPr/>
          <p:nvPr/>
        </p:nvSpPr>
        <p:spPr>
          <a:xfrm>
            <a:off x="763571" y="801278"/>
            <a:ext cx="3667027" cy="2347275"/>
          </a:xfrm>
          <a:prstGeom prst="ellipse">
            <a:avLst/>
          </a:prstGeom>
          <a:noFill/>
          <a:ln w="1016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41964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magine 3">
            <a:extLst>
              <a:ext uri="{FF2B5EF4-FFF2-40B4-BE49-F238E27FC236}">
                <a16:creationId xmlns:a16="http://schemas.microsoft.com/office/drawing/2014/main" id="{DEF7A5E2-419B-EB48-956A-5487E19CE6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900" y="644416"/>
            <a:ext cx="4108076" cy="265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20791"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MICRO-AMBIENTE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2/3</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436334" y="4220982"/>
            <a:ext cx="8399283" cy="1015663"/>
          </a:xfrm>
          <a:prstGeom prst="rect">
            <a:avLst/>
          </a:prstGeom>
        </p:spPr>
        <p:txBody>
          <a:bodyPr wrap="square">
            <a:spAutoFit/>
          </a:bodyPr>
          <a:lstStyle/>
          <a:p>
            <a:pPr algn="just"/>
            <a:r>
              <a:rPr lang="it-IT" sz="2000" dirty="0">
                <a:latin typeface="Poppins" panose="020B0604020202020204"/>
              </a:rPr>
              <a:t>L’</a:t>
            </a:r>
            <a:r>
              <a:rPr lang="it-IT" sz="2000" b="1" dirty="0">
                <a:latin typeface="Poppins" panose="020B0604020202020204"/>
              </a:rPr>
              <a:t>ambiente transazionale </a:t>
            </a:r>
            <a:r>
              <a:rPr lang="it-IT" sz="2000" dirty="0">
                <a:latin typeface="Poppins" panose="020B0604020202020204"/>
              </a:rPr>
              <a:t>dipende dal grado di autonomia che l’impresa intende darsi per produrre all’interno i materiali, le parti ed i componenti da utilizzare per la produzione di beni e servizi.</a:t>
            </a:r>
          </a:p>
        </p:txBody>
      </p:sp>
      <p:sp>
        <p:nvSpPr>
          <p:cNvPr id="3" name="Ovale 2">
            <a:extLst>
              <a:ext uri="{FF2B5EF4-FFF2-40B4-BE49-F238E27FC236}">
                <a16:creationId xmlns:a16="http://schemas.microsoft.com/office/drawing/2014/main" id="{EED3069A-96D7-4739-9977-1D77E828FB6B}"/>
              </a:ext>
            </a:extLst>
          </p:cNvPr>
          <p:cNvSpPr/>
          <p:nvPr/>
        </p:nvSpPr>
        <p:spPr>
          <a:xfrm>
            <a:off x="763571" y="801278"/>
            <a:ext cx="3667027" cy="2347275"/>
          </a:xfrm>
          <a:prstGeom prst="ellipse">
            <a:avLst/>
          </a:prstGeom>
          <a:noFill/>
          <a:ln w="1016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4383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magine 3">
            <a:extLst>
              <a:ext uri="{FF2B5EF4-FFF2-40B4-BE49-F238E27FC236}">
                <a16:creationId xmlns:a16="http://schemas.microsoft.com/office/drawing/2014/main" id="{DEF7A5E2-419B-EB48-956A-5487E19CE6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900" y="644416"/>
            <a:ext cx="4108076" cy="2654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20791"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MICRO-AMBIENTE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3/3</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436334" y="4220982"/>
            <a:ext cx="8399283" cy="1015663"/>
          </a:xfrm>
          <a:prstGeom prst="rect">
            <a:avLst/>
          </a:prstGeom>
        </p:spPr>
        <p:txBody>
          <a:bodyPr wrap="square">
            <a:spAutoFit/>
          </a:bodyPr>
          <a:lstStyle/>
          <a:p>
            <a:pPr algn="just"/>
            <a:r>
              <a:rPr lang="it-IT" sz="2000" dirty="0">
                <a:latin typeface="Poppins" panose="020B0604020202020204"/>
              </a:rPr>
              <a:t>L’</a:t>
            </a:r>
            <a:r>
              <a:rPr lang="it-IT" sz="2000" b="1" dirty="0">
                <a:latin typeface="Poppins" panose="020B0604020202020204"/>
              </a:rPr>
              <a:t>ambiente competitivo</a:t>
            </a:r>
            <a:r>
              <a:rPr lang="it-IT" sz="2000" dirty="0">
                <a:latin typeface="Poppins" panose="020B0604020202020204"/>
              </a:rPr>
              <a:t>, invece, dipende dalla scelta delle porzioni di mercato a cui si indirizza l’impresa. In tali mercati si realizzerà anche il confronto competitivo con i concorrenti. </a:t>
            </a:r>
          </a:p>
        </p:txBody>
      </p:sp>
      <p:sp>
        <p:nvSpPr>
          <p:cNvPr id="3" name="Ovale 2">
            <a:extLst>
              <a:ext uri="{FF2B5EF4-FFF2-40B4-BE49-F238E27FC236}">
                <a16:creationId xmlns:a16="http://schemas.microsoft.com/office/drawing/2014/main" id="{EED3069A-96D7-4739-9977-1D77E828FB6B}"/>
              </a:ext>
            </a:extLst>
          </p:cNvPr>
          <p:cNvSpPr/>
          <p:nvPr/>
        </p:nvSpPr>
        <p:spPr>
          <a:xfrm>
            <a:off x="763571" y="801278"/>
            <a:ext cx="3667027" cy="2347275"/>
          </a:xfrm>
          <a:prstGeom prst="ellipse">
            <a:avLst/>
          </a:prstGeom>
          <a:noFill/>
          <a:ln w="1016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78693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77353"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MACRO-AMBIENTE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1/2</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372358" y="4220982"/>
            <a:ext cx="8399283" cy="2246769"/>
          </a:xfrm>
          <a:prstGeom prst="rect">
            <a:avLst/>
          </a:prstGeom>
        </p:spPr>
        <p:txBody>
          <a:bodyPr wrap="square">
            <a:spAutoFit/>
          </a:bodyPr>
          <a:lstStyle/>
          <a:p>
            <a:pPr algn="just"/>
            <a:r>
              <a:rPr lang="it-IT" sz="2000" dirty="0">
                <a:latin typeface="Poppins" panose="020B0604020202020204"/>
              </a:rPr>
              <a:t>Il </a:t>
            </a:r>
            <a:r>
              <a:rPr lang="it-IT" sz="2000" b="1" dirty="0">
                <a:latin typeface="Poppins" panose="020B0604020202020204"/>
              </a:rPr>
              <a:t>macro-ambiente</a:t>
            </a:r>
            <a:r>
              <a:rPr lang="it-IT" sz="2000" dirty="0">
                <a:latin typeface="Poppins" panose="020B0604020202020204"/>
              </a:rPr>
              <a:t>, inteso come il contesto socioeconomico all’interno del quale l’impresa è chiamata a svolgere le sue funzioni, si compone a sua volta di quattro sub-sistemi:</a:t>
            </a:r>
          </a:p>
          <a:p>
            <a:pPr marL="342900" indent="-342900" algn="just">
              <a:buFont typeface="Arial" panose="020B0604020202020204" pitchFamily="34" charset="0"/>
              <a:buChar char="•"/>
            </a:pPr>
            <a:r>
              <a:rPr lang="it-IT" sz="2000" b="1" dirty="0">
                <a:latin typeface="Poppins" panose="020B0604020202020204"/>
              </a:rPr>
              <a:t>Sistema politico-istituzionale</a:t>
            </a:r>
          </a:p>
          <a:p>
            <a:pPr marL="342900" indent="-342900" algn="just">
              <a:buFont typeface="Arial" panose="020B0604020202020204" pitchFamily="34" charset="0"/>
              <a:buChar char="•"/>
            </a:pPr>
            <a:r>
              <a:rPr lang="it-IT" sz="2000" b="1" dirty="0">
                <a:latin typeface="Poppins" panose="020B0604020202020204"/>
              </a:rPr>
              <a:t>Sistema culturale-tecnologico</a:t>
            </a:r>
          </a:p>
          <a:p>
            <a:pPr marL="342900" indent="-342900" algn="just">
              <a:buFont typeface="Arial" panose="020B0604020202020204" pitchFamily="34" charset="0"/>
              <a:buChar char="•"/>
            </a:pPr>
            <a:r>
              <a:rPr lang="it-IT" sz="2000" b="1" dirty="0">
                <a:latin typeface="Poppins" panose="020B0604020202020204"/>
              </a:rPr>
              <a:t>Sistema demografico-sociale</a:t>
            </a:r>
          </a:p>
          <a:p>
            <a:pPr marL="342900" indent="-342900" algn="just">
              <a:buFont typeface="Arial" panose="020B0604020202020204" pitchFamily="34" charset="0"/>
              <a:buChar char="•"/>
            </a:pPr>
            <a:r>
              <a:rPr lang="it-IT" sz="2000" b="1" dirty="0">
                <a:latin typeface="Poppins" panose="020B0604020202020204"/>
              </a:rPr>
              <a:t>Sistema economico</a:t>
            </a:r>
          </a:p>
        </p:txBody>
      </p:sp>
      <p:pic>
        <p:nvPicPr>
          <p:cNvPr id="5" name="Immagine 4">
            <a:extLst>
              <a:ext uri="{FF2B5EF4-FFF2-40B4-BE49-F238E27FC236}">
                <a16:creationId xmlns:a16="http://schemas.microsoft.com/office/drawing/2014/main" id="{AA58B42B-A575-4C2E-96B3-A6E37316E15E}"/>
              </a:ext>
            </a:extLst>
          </p:cNvPr>
          <p:cNvPicPr>
            <a:picLocks noChangeAspect="1"/>
          </p:cNvPicPr>
          <p:nvPr/>
        </p:nvPicPr>
        <p:blipFill rotWithShape="1">
          <a:blip r:embed="rId2"/>
          <a:srcRect l="63299" t="34602" r="11443" b="32543"/>
          <a:stretch/>
        </p:blipFill>
        <p:spPr>
          <a:xfrm>
            <a:off x="338889" y="437047"/>
            <a:ext cx="4581902" cy="3352528"/>
          </a:xfrm>
          <a:prstGeom prst="rect">
            <a:avLst/>
          </a:prstGeom>
        </p:spPr>
      </p:pic>
    </p:spTree>
    <p:extLst>
      <p:ext uri="{BB962C8B-B14F-4D97-AF65-F5344CB8AC3E}">
        <p14:creationId xmlns:p14="http://schemas.microsoft.com/office/powerpoint/2010/main" val="3564478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a:extLst>
              <a:ext uri="{FF2B5EF4-FFF2-40B4-BE49-F238E27FC236}">
                <a16:creationId xmlns:a16="http://schemas.microsoft.com/office/drawing/2014/main" id="{886025BB-729B-46BB-9DAA-46E7BAB9FE92}"/>
              </a:ext>
            </a:extLst>
          </p:cNvPr>
          <p:cNvSpPr txBox="1">
            <a:spLocks noChangeArrowheads="1"/>
          </p:cNvSpPr>
          <p:nvPr/>
        </p:nvSpPr>
        <p:spPr bwMode="auto">
          <a:xfrm>
            <a:off x="4977353" y="1428298"/>
            <a:ext cx="4108076" cy="60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1pPr>
            <a:lvl2pPr marL="742950" indent="-28575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2pPr>
            <a:lvl3pPr marL="11430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3pPr>
            <a:lvl4pPr marL="16002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4pPr>
            <a:lvl5pPr marL="2057400" indent="-228600">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sz="2200" b="1">
                <a:solidFill>
                  <a:schemeClr val="bg1"/>
                </a:solidFill>
                <a:latin typeface="Verdana" panose="020B0604030504040204" pitchFamily="34" charset="0"/>
                <a:ea typeface="Geneva" panose="020B0503030404040204" pitchFamily="34" charset="0"/>
                <a:cs typeface="Geneva" panose="020B0503030404040204" pitchFamily="34" charset="0"/>
              </a:defRPr>
            </a:lvl9pPr>
          </a:lstStyle>
          <a:p>
            <a:pPr>
              <a:spcBef>
                <a:spcPts val="300"/>
              </a:spcBef>
              <a:buClr>
                <a:srgbClr val="000000"/>
              </a:buClr>
              <a:buSzPct val="100000"/>
            </a:pPr>
            <a:r>
              <a:rPr lang="it-IT" altLang="it-IT" sz="3200" dirty="0">
                <a:solidFill>
                  <a:srgbClr val="000000"/>
                </a:solidFill>
                <a:latin typeface="Poppins" panose="020B0604020202020204"/>
                <a:ea typeface="Calibri" panose="020F0502020204030204" pitchFamily="34" charset="0"/>
                <a:cs typeface="Calibri" panose="020F0502020204030204" pitchFamily="34" charset="0"/>
              </a:rPr>
              <a:t>MACRO-AMBIENTE</a:t>
            </a:r>
            <a:r>
              <a:rPr lang="it-IT" altLang="it-IT" sz="2800" dirty="0">
                <a:solidFill>
                  <a:srgbClr val="000000"/>
                </a:solidFill>
                <a:latin typeface="Poppins" panose="020B0604020202020204"/>
                <a:ea typeface="Calibri" panose="020F0502020204030204" pitchFamily="34" charset="0"/>
                <a:cs typeface="Calibri" panose="020F0502020204030204" pitchFamily="34" charset="0"/>
              </a:rPr>
              <a:t> </a:t>
            </a:r>
            <a:r>
              <a:rPr lang="it-IT" altLang="it-IT" sz="1800" dirty="0">
                <a:solidFill>
                  <a:srgbClr val="000000"/>
                </a:solidFill>
                <a:latin typeface="Poppins" panose="020B0604020202020204"/>
                <a:ea typeface="Calibri" panose="020F0502020204030204" pitchFamily="34" charset="0"/>
                <a:cs typeface="Calibri" panose="020F0502020204030204" pitchFamily="34" charset="0"/>
              </a:rPr>
              <a:t>2/2</a:t>
            </a:r>
            <a:endParaRPr lang="it-IT" altLang="it-IT" sz="1800" dirty="0">
              <a:solidFill>
                <a:srgbClr val="000000"/>
              </a:solidFill>
              <a:latin typeface="Poppins" panose="020B0604020202020204"/>
            </a:endParaRPr>
          </a:p>
        </p:txBody>
      </p:sp>
      <p:sp>
        <p:nvSpPr>
          <p:cNvPr id="2" name="Rettangolo 1">
            <a:extLst>
              <a:ext uri="{FF2B5EF4-FFF2-40B4-BE49-F238E27FC236}">
                <a16:creationId xmlns:a16="http://schemas.microsoft.com/office/drawing/2014/main" id="{97718C99-6065-44FC-A5B1-B7B1199BE4EF}"/>
              </a:ext>
            </a:extLst>
          </p:cNvPr>
          <p:cNvSpPr/>
          <p:nvPr/>
        </p:nvSpPr>
        <p:spPr>
          <a:xfrm>
            <a:off x="372358" y="3789575"/>
            <a:ext cx="8399283" cy="2862322"/>
          </a:xfrm>
          <a:prstGeom prst="rect">
            <a:avLst/>
          </a:prstGeom>
        </p:spPr>
        <p:txBody>
          <a:bodyPr wrap="square">
            <a:spAutoFit/>
          </a:bodyPr>
          <a:lstStyle/>
          <a:p>
            <a:pPr algn="just"/>
            <a:r>
              <a:rPr lang="it-IT" b="1" dirty="0">
                <a:latin typeface="Poppins" panose="020B0604020202020204"/>
              </a:rPr>
              <a:t>Sistema politico-istituzionale: </a:t>
            </a:r>
            <a:r>
              <a:rPr lang="it-IT" dirty="0">
                <a:latin typeface="Poppins" panose="020B0604020202020204"/>
              </a:rPr>
              <a:t>forma di governo, ordinamento legislativo (imposizione fiscale, normativa sul lavoro, sulla sicurezza, etc.) </a:t>
            </a:r>
            <a:endParaRPr lang="it-IT" b="1" dirty="0">
              <a:latin typeface="Poppins" panose="020B0604020202020204"/>
            </a:endParaRPr>
          </a:p>
          <a:p>
            <a:pPr algn="just"/>
            <a:r>
              <a:rPr lang="it-IT" b="1" dirty="0">
                <a:latin typeface="Poppins" panose="020B0604020202020204"/>
              </a:rPr>
              <a:t>Sistema culturale-tecnologico: </a:t>
            </a:r>
            <a:r>
              <a:rPr lang="it-IT" dirty="0">
                <a:latin typeface="Poppins" panose="020B0604020202020204"/>
              </a:rPr>
              <a:t>tradizioni, costumi, usi, valori, tecnologia</a:t>
            </a:r>
            <a:endParaRPr lang="it-IT" b="1" dirty="0">
              <a:latin typeface="Poppins" panose="020B0604020202020204"/>
            </a:endParaRPr>
          </a:p>
          <a:p>
            <a:pPr algn="just"/>
            <a:r>
              <a:rPr lang="it-IT" b="1" dirty="0">
                <a:latin typeface="Poppins" panose="020B0604020202020204"/>
              </a:rPr>
              <a:t>Sistema demografico-sociale: </a:t>
            </a:r>
            <a:r>
              <a:rPr lang="it-IT" dirty="0">
                <a:latin typeface="Poppins" panose="020B0604020202020204"/>
              </a:rPr>
              <a:t>struttura e stratificazione della popolazione (età, classe sociale, distribuzione territoriale, stili di vita)</a:t>
            </a:r>
            <a:endParaRPr lang="it-IT" b="1" dirty="0">
              <a:latin typeface="Poppins" panose="020B0604020202020204"/>
            </a:endParaRPr>
          </a:p>
          <a:p>
            <a:pPr algn="just"/>
            <a:r>
              <a:rPr lang="it-IT" b="1" dirty="0">
                <a:latin typeface="Poppins" panose="020B0604020202020204"/>
              </a:rPr>
              <a:t>Sistema economico: </a:t>
            </a:r>
            <a:r>
              <a:rPr lang="it-IT" dirty="0">
                <a:latin typeface="Poppins" panose="020B0604020202020204"/>
              </a:rPr>
              <a:t>prezzi e moneta; credito e investimenti; produzione agricola, industriale e terziaria; economie collettiviste o liberiste. </a:t>
            </a:r>
            <a:endParaRPr lang="it-IT" b="1" dirty="0">
              <a:latin typeface="Poppins" panose="020B0604020202020204"/>
            </a:endParaRPr>
          </a:p>
        </p:txBody>
      </p:sp>
      <p:pic>
        <p:nvPicPr>
          <p:cNvPr id="5" name="Immagine 4">
            <a:extLst>
              <a:ext uri="{FF2B5EF4-FFF2-40B4-BE49-F238E27FC236}">
                <a16:creationId xmlns:a16="http://schemas.microsoft.com/office/drawing/2014/main" id="{AA58B42B-A575-4C2E-96B3-A6E37316E15E}"/>
              </a:ext>
            </a:extLst>
          </p:cNvPr>
          <p:cNvPicPr>
            <a:picLocks noChangeAspect="1"/>
          </p:cNvPicPr>
          <p:nvPr/>
        </p:nvPicPr>
        <p:blipFill rotWithShape="1">
          <a:blip r:embed="rId2"/>
          <a:srcRect l="63299" t="34602" r="11443" b="32543"/>
          <a:stretch/>
        </p:blipFill>
        <p:spPr>
          <a:xfrm>
            <a:off x="338889" y="437047"/>
            <a:ext cx="4581902" cy="3352528"/>
          </a:xfrm>
          <a:prstGeom prst="rect">
            <a:avLst/>
          </a:prstGeom>
        </p:spPr>
      </p:pic>
    </p:spTree>
    <p:extLst>
      <p:ext uri="{BB962C8B-B14F-4D97-AF65-F5344CB8AC3E}">
        <p14:creationId xmlns:p14="http://schemas.microsoft.com/office/powerpoint/2010/main" val="3867755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392890"/>
            <a:ext cx="7375161" cy="994172"/>
          </a:xfrm>
          <a:prstGeom prst="rect">
            <a:avLst/>
          </a:prstGeom>
        </p:spPr>
        <p:txBody>
          <a:bodyPr vert="horz" lIns="68580" tIns="34290" rIns="68580" bIns="34290" rtlCol="0" anchor="ctr">
            <a:normAutofit/>
          </a:bodyPr>
          <a:lstStyle/>
          <a:p>
            <a:pPr marL="8645" algn="ctr"/>
            <a:r>
              <a:rPr lang="en-US" sz="3000" spc="-4" dirty="0">
                <a:solidFill>
                  <a:srgbClr val="FFFFFF"/>
                </a:solidFill>
              </a:rPr>
              <a:t>RAPPORTI TRA IMPRESA E AMBIENTE</a:t>
            </a:r>
            <a:endParaRPr lang="en-US" sz="3000" spc="-7" dirty="0">
              <a:solidFill>
                <a:srgbClr val="FFFFFF"/>
              </a:solidFill>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339364" y="2922703"/>
            <a:ext cx="8455843" cy="3935298"/>
          </a:xfrm>
          <a:prstGeom prst="rect">
            <a:avLst/>
          </a:prstGeom>
        </p:spPr>
        <p:txBody>
          <a:bodyPr vert="horz" lIns="68580" tIns="34290" rIns="68580" bIns="34290" rtlCol="0">
            <a:normAutofit fontScale="47500" lnSpcReduction="20000"/>
          </a:bodyPr>
          <a:lstStyle/>
          <a:p>
            <a:pPr marL="256291" marR="4344" indent="-543" algn="just">
              <a:spcBef>
                <a:spcPts val="81"/>
              </a:spcBef>
            </a:pPr>
            <a:r>
              <a:rPr lang="it-IT" sz="4200" spc="-4" dirty="0"/>
              <a:t>In </a:t>
            </a:r>
            <a:r>
              <a:rPr lang="it-IT" sz="4200" spc="-9" dirty="0"/>
              <a:t>senso </a:t>
            </a:r>
            <a:r>
              <a:rPr lang="it-IT" sz="4200" spc="-4" dirty="0"/>
              <a:t>generale, </a:t>
            </a:r>
            <a:r>
              <a:rPr lang="it-IT" sz="4200" spc="-9" dirty="0"/>
              <a:t>l’ambiente determina </a:t>
            </a:r>
            <a:r>
              <a:rPr lang="it-IT" sz="4200" spc="-4" dirty="0"/>
              <a:t>il </a:t>
            </a:r>
            <a:r>
              <a:rPr lang="it-IT" sz="4200" spc="-9" dirty="0"/>
              <a:t>sistema </a:t>
            </a:r>
            <a:r>
              <a:rPr lang="it-IT" sz="4200" spc="-4" dirty="0"/>
              <a:t>di </a:t>
            </a:r>
            <a:r>
              <a:rPr lang="it-IT" sz="4200" b="1" spc="-9" dirty="0"/>
              <a:t>vincoli-opportunità</a:t>
            </a:r>
            <a:r>
              <a:rPr lang="it-IT" sz="4200" spc="-9" dirty="0"/>
              <a:t>  </a:t>
            </a:r>
            <a:r>
              <a:rPr lang="it-IT" sz="4200" spc="-4" dirty="0"/>
              <a:t>entro cui si dipana la gestione</a:t>
            </a:r>
            <a:r>
              <a:rPr lang="it-IT" sz="4200" spc="9" dirty="0"/>
              <a:t> </a:t>
            </a:r>
            <a:r>
              <a:rPr lang="it-IT" sz="4200" spc="-9" dirty="0"/>
              <a:t>aziendale.</a:t>
            </a:r>
          </a:p>
          <a:p>
            <a:pPr marL="256291" marR="4344" indent="-543" algn="just">
              <a:spcBef>
                <a:spcPts val="81"/>
              </a:spcBef>
            </a:pPr>
            <a:r>
              <a:rPr lang="it-IT" sz="4200" dirty="0"/>
              <a:t>Le opportunità e i vincoli per l’impresa dipendono dalle caratteristiche dei sottosistemi: dipendono cioè dalle leggi e dai provvedimenti amministrativi, dal modello di cultura prevalente, dalla composizione e dalla mobilità delle classi sociali, dal tipo di governo dell’economia  e dal grado di benessere della comunità. </a:t>
            </a:r>
          </a:p>
          <a:p>
            <a:pPr marL="256291" marR="4344" indent="-543" algn="just">
              <a:spcBef>
                <a:spcPts val="81"/>
              </a:spcBef>
            </a:pPr>
            <a:r>
              <a:rPr lang="it-IT" sz="4200" spc="-4" dirty="0">
                <a:solidFill>
                  <a:srgbClr val="000000"/>
                </a:solidFill>
              </a:rPr>
              <a:t>L’impresa non può </a:t>
            </a:r>
            <a:r>
              <a:rPr lang="it-IT" sz="4200" spc="-9" dirty="0">
                <a:solidFill>
                  <a:srgbClr val="000000"/>
                </a:solidFill>
              </a:rPr>
              <a:t>scegliersi </a:t>
            </a:r>
            <a:r>
              <a:rPr lang="it-IT" sz="4200" spc="-4" dirty="0">
                <a:solidFill>
                  <a:srgbClr val="000000"/>
                </a:solidFill>
              </a:rPr>
              <a:t>il macro-ambiente ma può </a:t>
            </a:r>
            <a:r>
              <a:rPr lang="it-IT" sz="4200" spc="-9" dirty="0">
                <a:solidFill>
                  <a:srgbClr val="000000"/>
                </a:solidFill>
              </a:rPr>
              <a:t>scegliere </a:t>
            </a:r>
            <a:r>
              <a:rPr lang="it-IT" sz="4200" spc="-4" dirty="0">
                <a:solidFill>
                  <a:srgbClr val="000000"/>
                </a:solidFill>
              </a:rPr>
              <a:t>l’ambiente </a:t>
            </a:r>
            <a:r>
              <a:rPr lang="it-IT" sz="4200" spc="-9" dirty="0">
                <a:solidFill>
                  <a:srgbClr val="000000"/>
                </a:solidFill>
              </a:rPr>
              <a:t>transazionale </a:t>
            </a:r>
            <a:r>
              <a:rPr lang="it-IT" sz="4200" spc="-4" dirty="0">
                <a:solidFill>
                  <a:srgbClr val="000000"/>
                </a:solidFill>
              </a:rPr>
              <a:t>e </a:t>
            </a:r>
            <a:r>
              <a:rPr lang="it-IT" sz="4200" spc="-9" dirty="0">
                <a:solidFill>
                  <a:srgbClr val="000000"/>
                </a:solidFill>
              </a:rPr>
              <a:t>competitivo all’interno </a:t>
            </a:r>
            <a:r>
              <a:rPr lang="it-IT" sz="4200" spc="-4" dirty="0">
                <a:solidFill>
                  <a:srgbClr val="000000"/>
                </a:solidFill>
              </a:rPr>
              <a:t>del quale</a:t>
            </a:r>
            <a:r>
              <a:rPr lang="it-IT" sz="4200" spc="162" dirty="0">
                <a:solidFill>
                  <a:srgbClr val="000000"/>
                </a:solidFill>
              </a:rPr>
              <a:t> </a:t>
            </a:r>
            <a:r>
              <a:rPr lang="it-IT" sz="4200" spc="-4" dirty="0">
                <a:solidFill>
                  <a:srgbClr val="000000"/>
                </a:solidFill>
              </a:rPr>
              <a:t>operare.</a:t>
            </a:r>
            <a:endParaRPr lang="it-IT" sz="4200" dirty="0"/>
          </a:p>
          <a:p>
            <a:pPr marL="256291" marR="4344" indent="-543" algn="just">
              <a:spcBef>
                <a:spcPts val="81"/>
              </a:spcBef>
            </a:pPr>
            <a:r>
              <a:rPr lang="it-IT" sz="4200" b="1" dirty="0"/>
              <a:t>L’ambiente influenza cioè il comportamento dell’impresa.</a:t>
            </a:r>
          </a:p>
          <a:p>
            <a:pPr marL="256291" marR="4344" indent="-543" algn="just">
              <a:spcBef>
                <a:spcPts val="81"/>
              </a:spcBef>
            </a:pPr>
            <a:r>
              <a:rPr lang="it-IT" sz="4200" dirty="0"/>
              <a:t>Può essere vero il contrario, cioè alcune imprese (soprattutto quelle più grandi) influenzano l’ambiente. In questo caso si ha una forte interrelazione fra l’evoluzione dell’ambiente e la trasformazione dell’organizzazione delle imprese, quindi anche il macro-ambiente finisce per essere, per certi versi ed entro  certe condizioni, una variabile più che un vincolo da rispettare.</a:t>
            </a:r>
          </a:p>
          <a:p>
            <a:pPr marL="256291" marR="4344" indent="-543" algn="just">
              <a:spcBef>
                <a:spcPts val="81"/>
              </a:spcBef>
            </a:pPr>
            <a:endParaRPr lang="it-IT" sz="4200" b="1" dirty="0"/>
          </a:p>
          <a:p>
            <a:pPr marL="256291" marR="4344" indent="-543" algn="just">
              <a:spcBef>
                <a:spcPts val="81"/>
              </a:spcBef>
            </a:pPr>
            <a:endParaRPr lang="it-IT" sz="3200" b="1" dirty="0"/>
          </a:p>
          <a:p>
            <a:pPr marL="256291" marR="4344" indent="-543">
              <a:spcBef>
                <a:spcPts val="81"/>
              </a:spcBef>
            </a:pPr>
            <a:endParaRPr lang="it-IT" sz="3200" b="1" dirty="0"/>
          </a:p>
          <a:p>
            <a:pPr marL="256291" marR="4344" indent="-543">
              <a:spcBef>
                <a:spcPts val="81"/>
              </a:spcBef>
            </a:pPr>
            <a:endParaRPr lang="it-IT" sz="2800" spc="-9" dirty="0"/>
          </a:p>
          <a:p>
            <a:endParaRPr lang="it-IT" sz="2800" dirty="0"/>
          </a:p>
        </p:txBody>
      </p:sp>
    </p:spTree>
    <p:extLst>
      <p:ext uri="{BB962C8B-B14F-4D97-AF65-F5344CB8AC3E}">
        <p14:creationId xmlns:p14="http://schemas.microsoft.com/office/powerpoint/2010/main" val="1730546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79522" y="399495"/>
            <a:ext cx="7375525" cy="995362"/>
          </a:xfrm>
          <a:prstGeom prst="rect">
            <a:avLst/>
          </a:prstGeom>
        </p:spPr>
        <p:txBody>
          <a:bodyPr vert="horz" lIns="68580" tIns="34290" rIns="68580" bIns="34290" rtlCol="0" anchor="ctr">
            <a:normAutofit/>
          </a:bodyPr>
          <a:lstStyle/>
          <a:p>
            <a:pPr marL="8645" algn="ctr"/>
            <a:r>
              <a:rPr lang="en-US" sz="3000" b="1" spc="-4" dirty="0">
                <a:solidFill>
                  <a:srgbClr val="0070C0"/>
                </a:solidFill>
                <a:latin typeface="Poppins" panose="020B0604020202020204"/>
              </a:rPr>
              <a:t>RAPPORTI TRA IMPRESA E AMBIENTE</a:t>
            </a:r>
            <a:endParaRPr lang="en-US" sz="3000" b="1" spc="-7" dirty="0">
              <a:solidFill>
                <a:srgbClr val="0070C0"/>
              </a:solidFill>
              <a:latin typeface="Poppins" panose="020B0604020202020204"/>
            </a:endParaRPr>
          </a:p>
        </p:txBody>
      </p:sp>
      <p:sp>
        <p:nvSpPr>
          <p:cNvPr id="3" name="Rettangolo 2">
            <a:extLst>
              <a:ext uri="{FF2B5EF4-FFF2-40B4-BE49-F238E27FC236}">
                <a16:creationId xmlns:a16="http://schemas.microsoft.com/office/drawing/2014/main" id="{4EBCF150-3EC4-AA47-B148-2369F3EE9ED1}"/>
              </a:ext>
            </a:extLst>
          </p:cNvPr>
          <p:cNvSpPr/>
          <p:nvPr/>
        </p:nvSpPr>
        <p:spPr>
          <a:xfrm>
            <a:off x="518474" y="1678366"/>
            <a:ext cx="8107052" cy="4665874"/>
          </a:xfrm>
          <a:prstGeom prst="rect">
            <a:avLst/>
          </a:prstGeom>
        </p:spPr>
        <p:txBody>
          <a:bodyPr vert="horz" lIns="68580" tIns="34290" rIns="68580" bIns="34290" rtlCol="0">
            <a:normAutofit fontScale="25000" lnSpcReduction="20000"/>
          </a:bodyPr>
          <a:lstStyle/>
          <a:p>
            <a:pPr marL="256291" marR="4344" indent="-543" algn="just">
              <a:spcBef>
                <a:spcPts val="81"/>
              </a:spcBef>
            </a:pPr>
            <a:r>
              <a:rPr lang="it-IT" sz="8000" spc="-4" dirty="0">
                <a:solidFill>
                  <a:srgbClr val="0070C0"/>
                </a:solidFill>
                <a:latin typeface="Poppins" panose="020B0604020202020204"/>
              </a:rPr>
              <a:t>In </a:t>
            </a:r>
            <a:r>
              <a:rPr lang="it-IT" sz="8000" spc="-9" dirty="0">
                <a:solidFill>
                  <a:srgbClr val="0070C0"/>
                </a:solidFill>
                <a:latin typeface="Poppins" panose="020B0604020202020204"/>
              </a:rPr>
              <a:t>senso </a:t>
            </a:r>
            <a:r>
              <a:rPr lang="it-IT" sz="8000" spc="-4" dirty="0">
                <a:solidFill>
                  <a:srgbClr val="0070C0"/>
                </a:solidFill>
                <a:latin typeface="Poppins" panose="020B0604020202020204"/>
              </a:rPr>
              <a:t>generale, </a:t>
            </a:r>
            <a:r>
              <a:rPr lang="it-IT" sz="8000" spc="-9" dirty="0">
                <a:solidFill>
                  <a:srgbClr val="0070C0"/>
                </a:solidFill>
                <a:latin typeface="Poppins" panose="020B0604020202020204"/>
              </a:rPr>
              <a:t>l’ambiente determina </a:t>
            </a:r>
            <a:r>
              <a:rPr lang="it-IT" sz="8000" spc="-4" dirty="0">
                <a:solidFill>
                  <a:srgbClr val="0070C0"/>
                </a:solidFill>
                <a:latin typeface="Poppins" panose="020B0604020202020204"/>
              </a:rPr>
              <a:t>il </a:t>
            </a:r>
            <a:r>
              <a:rPr lang="it-IT" sz="8000" spc="-9" dirty="0">
                <a:solidFill>
                  <a:srgbClr val="0070C0"/>
                </a:solidFill>
                <a:latin typeface="Poppins" panose="020B0604020202020204"/>
              </a:rPr>
              <a:t>sistema </a:t>
            </a:r>
            <a:r>
              <a:rPr lang="it-IT" sz="8000" spc="-4" dirty="0">
                <a:solidFill>
                  <a:srgbClr val="0070C0"/>
                </a:solidFill>
                <a:latin typeface="Poppins" panose="020B0604020202020204"/>
              </a:rPr>
              <a:t>di </a:t>
            </a:r>
            <a:r>
              <a:rPr lang="it-IT" sz="8000" b="1" spc="-9" dirty="0">
                <a:solidFill>
                  <a:srgbClr val="0070C0"/>
                </a:solidFill>
                <a:latin typeface="Poppins" panose="020B0604020202020204"/>
              </a:rPr>
              <a:t>vincoli-opportunità</a:t>
            </a:r>
            <a:r>
              <a:rPr lang="it-IT" sz="8000" spc="-9" dirty="0">
                <a:solidFill>
                  <a:srgbClr val="0070C0"/>
                </a:solidFill>
                <a:latin typeface="Poppins" panose="020B0604020202020204"/>
              </a:rPr>
              <a:t>  </a:t>
            </a:r>
            <a:r>
              <a:rPr lang="it-IT" sz="8000" spc="-4" dirty="0">
                <a:solidFill>
                  <a:srgbClr val="0070C0"/>
                </a:solidFill>
                <a:latin typeface="Poppins" panose="020B0604020202020204"/>
              </a:rPr>
              <a:t>entro cui si dipana la gestione</a:t>
            </a:r>
            <a:r>
              <a:rPr lang="it-IT" sz="8000" spc="9" dirty="0">
                <a:solidFill>
                  <a:srgbClr val="0070C0"/>
                </a:solidFill>
                <a:latin typeface="Poppins" panose="020B0604020202020204"/>
              </a:rPr>
              <a:t> </a:t>
            </a:r>
            <a:r>
              <a:rPr lang="it-IT" sz="8000" spc="-9" dirty="0">
                <a:solidFill>
                  <a:srgbClr val="0070C0"/>
                </a:solidFill>
                <a:latin typeface="Poppins" panose="020B0604020202020204"/>
              </a:rPr>
              <a:t>aziendale.</a:t>
            </a:r>
          </a:p>
          <a:p>
            <a:pPr marL="256291" marR="4344" indent="-543" algn="just">
              <a:spcBef>
                <a:spcPts val="81"/>
              </a:spcBef>
            </a:pPr>
            <a:r>
              <a:rPr lang="it-IT" sz="8000" dirty="0">
                <a:solidFill>
                  <a:srgbClr val="0070C0"/>
                </a:solidFill>
                <a:latin typeface="Poppins" panose="020B0604020202020204"/>
              </a:rPr>
              <a:t>Le opportunità e i vincoli per l’impresa dipendono dalle caratteristiche dei sottosistemi: dipendono cioè dalle leggi e dai provvedimenti amministrativi, dal modello di cultura prevalente, dalla composizione e dalla mobilità delle classi sociali, dal tipo di governo dell’economia  e dal grado di benessere della comunità. </a:t>
            </a:r>
          </a:p>
          <a:p>
            <a:pPr marL="256291" marR="4344" indent="-543" algn="just">
              <a:spcBef>
                <a:spcPts val="81"/>
              </a:spcBef>
            </a:pPr>
            <a:r>
              <a:rPr lang="it-IT" sz="8000" spc="-4" dirty="0">
                <a:solidFill>
                  <a:srgbClr val="0070C0"/>
                </a:solidFill>
                <a:latin typeface="Poppins" panose="020B0604020202020204"/>
              </a:rPr>
              <a:t>L’impresa non può </a:t>
            </a:r>
            <a:r>
              <a:rPr lang="it-IT" sz="8000" spc="-9" dirty="0">
                <a:solidFill>
                  <a:srgbClr val="0070C0"/>
                </a:solidFill>
                <a:latin typeface="Poppins" panose="020B0604020202020204"/>
              </a:rPr>
              <a:t>scegliersi </a:t>
            </a:r>
            <a:r>
              <a:rPr lang="it-IT" sz="8000" spc="-4" dirty="0">
                <a:solidFill>
                  <a:srgbClr val="0070C0"/>
                </a:solidFill>
                <a:latin typeface="Poppins" panose="020B0604020202020204"/>
              </a:rPr>
              <a:t>il macro-ambiente ma può </a:t>
            </a:r>
            <a:r>
              <a:rPr lang="it-IT" sz="8000" spc="-9" dirty="0">
                <a:solidFill>
                  <a:srgbClr val="0070C0"/>
                </a:solidFill>
                <a:latin typeface="Poppins" panose="020B0604020202020204"/>
              </a:rPr>
              <a:t>scegliere </a:t>
            </a:r>
            <a:r>
              <a:rPr lang="it-IT" sz="8000" spc="-4" dirty="0">
                <a:solidFill>
                  <a:srgbClr val="0070C0"/>
                </a:solidFill>
                <a:latin typeface="Poppins" panose="020B0604020202020204"/>
              </a:rPr>
              <a:t>l’ambiente </a:t>
            </a:r>
            <a:r>
              <a:rPr lang="it-IT" sz="8000" spc="-9" dirty="0">
                <a:solidFill>
                  <a:srgbClr val="0070C0"/>
                </a:solidFill>
                <a:latin typeface="Poppins" panose="020B0604020202020204"/>
              </a:rPr>
              <a:t>transazionale </a:t>
            </a:r>
            <a:r>
              <a:rPr lang="it-IT" sz="8000" spc="-4" dirty="0">
                <a:solidFill>
                  <a:srgbClr val="0070C0"/>
                </a:solidFill>
                <a:latin typeface="Poppins" panose="020B0604020202020204"/>
              </a:rPr>
              <a:t>e </a:t>
            </a:r>
            <a:r>
              <a:rPr lang="it-IT" sz="8000" spc="-9" dirty="0">
                <a:solidFill>
                  <a:srgbClr val="0070C0"/>
                </a:solidFill>
                <a:latin typeface="Poppins" panose="020B0604020202020204"/>
              </a:rPr>
              <a:t>competitivo all’interno </a:t>
            </a:r>
            <a:r>
              <a:rPr lang="it-IT" sz="8000" spc="-4" dirty="0">
                <a:solidFill>
                  <a:srgbClr val="0070C0"/>
                </a:solidFill>
                <a:latin typeface="Poppins" panose="020B0604020202020204"/>
              </a:rPr>
              <a:t>del quale</a:t>
            </a:r>
            <a:r>
              <a:rPr lang="it-IT" sz="8000" spc="162" dirty="0">
                <a:solidFill>
                  <a:srgbClr val="0070C0"/>
                </a:solidFill>
                <a:latin typeface="Poppins" panose="020B0604020202020204"/>
              </a:rPr>
              <a:t> </a:t>
            </a:r>
            <a:r>
              <a:rPr lang="it-IT" sz="8000" spc="-4" dirty="0">
                <a:solidFill>
                  <a:srgbClr val="0070C0"/>
                </a:solidFill>
                <a:latin typeface="Poppins" panose="020B0604020202020204"/>
              </a:rPr>
              <a:t>operare.</a:t>
            </a:r>
            <a:endParaRPr lang="it-IT" sz="8000" dirty="0">
              <a:solidFill>
                <a:srgbClr val="0070C0"/>
              </a:solidFill>
              <a:latin typeface="Poppins" panose="020B0604020202020204"/>
            </a:endParaRPr>
          </a:p>
          <a:p>
            <a:pPr marL="256291" marR="4344" indent="-543" algn="just">
              <a:spcBef>
                <a:spcPts val="81"/>
              </a:spcBef>
            </a:pPr>
            <a:r>
              <a:rPr lang="it-IT" sz="8000" b="1" dirty="0">
                <a:solidFill>
                  <a:srgbClr val="0070C0"/>
                </a:solidFill>
                <a:latin typeface="Poppins" panose="020B0604020202020204"/>
              </a:rPr>
              <a:t>L’ambiente influenza cioè il comportamento dell’impresa.</a:t>
            </a:r>
          </a:p>
          <a:p>
            <a:pPr marL="256291" marR="4344" indent="-543" algn="just">
              <a:spcBef>
                <a:spcPts val="81"/>
              </a:spcBef>
            </a:pPr>
            <a:r>
              <a:rPr lang="it-IT" sz="8000" dirty="0">
                <a:solidFill>
                  <a:srgbClr val="0070C0"/>
                </a:solidFill>
                <a:latin typeface="Poppins" panose="020B0604020202020204"/>
              </a:rPr>
              <a:t>Può essere vero il contrario, cioè alcune imprese (soprattutto quelle più grandi) influenzano l’ambiente. In questo caso si ha una forte interrelazione fra l’evoluzione dell’ambiente e la trasformazione dell’organizzazione delle imprese, quindi anche il macro-ambiente finisce per essere, per certi versi ed entro  certe condizioni, una variabile più che un vincolo da rispettare.</a:t>
            </a:r>
          </a:p>
          <a:p>
            <a:pPr marL="256291" marR="4344" indent="-543" algn="just">
              <a:spcBef>
                <a:spcPts val="81"/>
              </a:spcBef>
            </a:pPr>
            <a:endParaRPr lang="it-IT" sz="4200" b="1" dirty="0"/>
          </a:p>
          <a:p>
            <a:pPr marL="256291" marR="4344" indent="-543" algn="just">
              <a:spcBef>
                <a:spcPts val="81"/>
              </a:spcBef>
            </a:pPr>
            <a:endParaRPr lang="it-IT" sz="3200" b="1" dirty="0"/>
          </a:p>
          <a:p>
            <a:pPr marL="256291" marR="4344" indent="-543">
              <a:spcBef>
                <a:spcPts val="81"/>
              </a:spcBef>
            </a:pPr>
            <a:endParaRPr lang="it-IT" sz="3200" b="1" dirty="0"/>
          </a:p>
          <a:p>
            <a:pPr marL="256291" marR="4344" indent="-543">
              <a:spcBef>
                <a:spcPts val="81"/>
              </a:spcBef>
            </a:pPr>
            <a:endParaRPr lang="it-IT" sz="2800" spc="-9" dirty="0"/>
          </a:p>
          <a:p>
            <a:endParaRPr lang="it-IT" sz="2800" dirty="0"/>
          </a:p>
        </p:txBody>
      </p:sp>
    </p:spTree>
    <p:extLst>
      <p:ext uri="{BB962C8B-B14F-4D97-AF65-F5344CB8AC3E}">
        <p14:creationId xmlns:p14="http://schemas.microsoft.com/office/powerpoint/2010/main" val="3493753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000" spc="-4" dirty="0">
                <a:solidFill>
                  <a:srgbClr val="FFFFFF"/>
                </a:solidFill>
                <a:latin typeface="Poppins" panose="020B0604020202020204"/>
              </a:rPr>
              <a:t>RAPPORTI TRA IMPRESA E AMBIENTE</a:t>
            </a:r>
            <a:endParaRPr lang="en-US" sz="3000" spc="-7" dirty="0">
              <a:solidFill>
                <a:srgbClr val="FFFFFF"/>
              </a:solidFill>
              <a:latin typeface="Poppins" panose="020B0604020202020204"/>
            </a:endParaRPr>
          </a:p>
        </p:txBody>
      </p:sp>
      <p:sp>
        <p:nvSpPr>
          <p:cNvPr id="4" name="Rettangolo 3">
            <a:extLst>
              <a:ext uri="{FF2B5EF4-FFF2-40B4-BE49-F238E27FC236}">
                <a16:creationId xmlns:a16="http://schemas.microsoft.com/office/drawing/2014/main" id="{781599CA-F761-4F1D-A699-DE91851C26DD}"/>
              </a:ext>
            </a:extLst>
          </p:cNvPr>
          <p:cNvSpPr/>
          <p:nvPr/>
        </p:nvSpPr>
        <p:spPr>
          <a:xfrm>
            <a:off x="2286000" y="3552438"/>
            <a:ext cx="4572000" cy="646331"/>
          </a:xfrm>
          <a:prstGeom prst="rect">
            <a:avLst/>
          </a:prstGeom>
        </p:spPr>
        <p:txBody>
          <a:bodyPr>
            <a:spAutoFit/>
          </a:bodyPr>
          <a:lstStyle/>
          <a:p>
            <a:r>
              <a:rPr lang="it-IT" dirty="0"/>
              <a:t>https://www.youtube.com/watch?v=doNzIAPn56g</a:t>
            </a:r>
          </a:p>
        </p:txBody>
      </p:sp>
      <p:pic>
        <p:nvPicPr>
          <p:cNvPr id="3" name="Elementi multimediali online 2" title="LE RELAZIONI AZIENDA E AMBIENTE">
            <a:hlinkClick r:id="" action="ppaction://media"/>
            <a:extLst>
              <a:ext uri="{FF2B5EF4-FFF2-40B4-BE49-F238E27FC236}">
                <a16:creationId xmlns:a16="http://schemas.microsoft.com/office/drawing/2014/main" id="{2EDAFAF2-9706-4D63-9CC2-2521B7C3010E}"/>
              </a:ext>
            </a:extLst>
          </p:cNvPr>
          <p:cNvPicPr>
            <a:picLocks noRot="1" noChangeAspect="1"/>
          </p:cNvPicPr>
          <p:nvPr>
            <a:videoFile r:link="rId1"/>
          </p:nvPr>
        </p:nvPicPr>
        <p:blipFill>
          <a:blip r:embed="rId4"/>
          <a:stretch>
            <a:fillRect/>
          </a:stretch>
        </p:blipFill>
        <p:spPr>
          <a:xfrm>
            <a:off x="1611983" y="2796225"/>
            <a:ext cx="6240544" cy="3510306"/>
          </a:xfrm>
          <a:prstGeom prst="rect">
            <a:avLst/>
          </a:prstGeom>
        </p:spPr>
      </p:pic>
    </p:spTree>
    <p:extLst>
      <p:ext uri="{BB962C8B-B14F-4D97-AF65-F5344CB8AC3E}">
        <p14:creationId xmlns:p14="http://schemas.microsoft.com/office/powerpoint/2010/main" val="149473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6701" y="857250"/>
            <a:ext cx="8610371" cy="2065452"/>
          </a:xfrm>
          <a:prstGeom prst="rect">
            <a:avLst/>
          </a:prstGeom>
          <a:gradFill>
            <a:gsLst>
              <a:gs pos="0">
                <a:schemeClr val="accent1"/>
              </a:gs>
              <a:gs pos="25000">
                <a:schemeClr val="accent1"/>
              </a:gs>
              <a:gs pos="94000">
                <a:schemeClr val="accent5"/>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pic>
        <p:nvPicPr>
          <p:cNvPr id="10" name="Picture 9">
            <a:extLst>
              <a:ext uri="{FF2B5EF4-FFF2-40B4-BE49-F238E27FC236}">
                <a16:creationId xmlns:a16="http://schemas.microsoft.com/office/drawing/2014/main" id="{3AA16612-ACD2-4A16-8F2B-4514FD6BF2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2" name="object 2"/>
          <p:cNvSpPr txBox="1">
            <a:spLocks noGrp="1"/>
          </p:cNvSpPr>
          <p:nvPr>
            <p:ph type="title"/>
          </p:nvPr>
        </p:nvSpPr>
        <p:spPr>
          <a:xfrm>
            <a:off x="884420" y="1477261"/>
            <a:ext cx="7375161" cy="994172"/>
          </a:xfrm>
          <a:prstGeom prst="rect">
            <a:avLst/>
          </a:prstGeom>
        </p:spPr>
        <p:txBody>
          <a:bodyPr vert="horz" lIns="68580" tIns="34290" rIns="68580" bIns="34290" rtlCol="0" anchor="ctr">
            <a:normAutofit/>
          </a:bodyPr>
          <a:lstStyle/>
          <a:p>
            <a:pPr marL="8645" algn="ctr"/>
            <a:r>
              <a:rPr lang="en-US" sz="3000" spc="-4" dirty="0">
                <a:solidFill>
                  <a:srgbClr val="FFFFFF"/>
                </a:solidFill>
                <a:latin typeface="Poppins" panose="020B0604020202020204"/>
              </a:rPr>
              <a:t>RAPPORTI TRA IMPRESA E AMBIENTE</a:t>
            </a:r>
            <a:endParaRPr lang="en-US" sz="3000" spc="-7" dirty="0">
              <a:solidFill>
                <a:srgbClr val="FFFFFF"/>
              </a:solidFill>
              <a:latin typeface="Poppins" panose="020B0604020202020204"/>
            </a:endParaRPr>
          </a:p>
        </p:txBody>
      </p:sp>
      <p:sp>
        <p:nvSpPr>
          <p:cNvPr id="4" name="Rettangolo 3">
            <a:extLst>
              <a:ext uri="{FF2B5EF4-FFF2-40B4-BE49-F238E27FC236}">
                <a16:creationId xmlns:a16="http://schemas.microsoft.com/office/drawing/2014/main" id="{781599CA-F761-4F1D-A699-DE91851C26DD}"/>
              </a:ext>
            </a:extLst>
          </p:cNvPr>
          <p:cNvSpPr/>
          <p:nvPr/>
        </p:nvSpPr>
        <p:spPr>
          <a:xfrm>
            <a:off x="2286000" y="3552438"/>
            <a:ext cx="4572000" cy="646331"/>
          </a:xfrm>
          <a:prstGeom prst="rect">
            <a:avLst/>
          </a:prstGeom>
        </p:spPr>
        <p:txBody>
          <a:bodyPr>
            <a:spAutoFit/>
          </a:bodyPr>
          <a:lstStyle/>
          <a:p>
            <a:r>
              <a:rPr lang="it-IT" dirty="0"/>
              <a:t>https://www.youtube.com/watch?v=7g_bG7MUZSs</a:t>
            </a:r>
          </a:p>
        </p:txBody>
      </p:sp>
      <p:pic>
        <p:nvPicPr>
          <p:cNvPr id="3" name="Elementi multimediali online 2" title="Le imprese e il tema ambientale [2/4]">
            <a:hlinkClick r:id="" action="ppaction://media"/>
            <a:extLst>
              <a:ext uri="{FF2B5EF4-FFF2-40B4-BE49-F238E27FC236}">
                <a16:creationId xmlns:a16="http://schemas.microsoft.com/office/drawing/2014/main" id="{65AFFF64-14ED-459D-A549-0B775EBE4D03}"/>
              </a:ext>
            </a:extLst>
          </p:cNvPr>
          <p:cNvPicPr>
            <a:picLocks noRot="1" noChangeAspect="1"/>
          </p:cNvPicPr>
          <p:nvPr>
            <a:videoFile r:link="rId1"/>
          </p:nvPr>
        </p:nvPicPr>
        <p:blipFill>
          <a:blip r:embed="rId4"/>
          <a:stretch>
            <a:fillRect/>
          </a:stretch>
        </p:blipFill>
        <p:spPr>
          <a:xfrm>
            <a:off x="1585684" y="2781988"/>
            <a:ext cx="5972404" cy="3359477"/>
          </a:xfrm>
          <a:prstGeom prst="rect">
            <a:avLst/>
          </a:prstGeom>
        </p:spPr>
      </p:pic>
    </p:spTree>
    <p:extLst>
      <p:ext uri="{BB962C8B-B14F-4D97-AF65-F5344CB8AC3E}">
        <p14:creationId xmlns:p14="http://schemas.microsoft.com/office/powerpoint/2010/main" val="2803584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9B27A604-455C-4954-BE4C-370605AFCDCA}"/>
              </a:ext>
            </a:extLst>
          </p:cNvPr>
          <p:cNvSpPr txBox="1"/>
          <p:nvPr/>
        </p:nvSpPr>
        <p:spPr>
          <a:xfrm>
            <a:off x="433633" y="329938"/>
            <a:ext cx="3261674" cy="646331"/>
          </a:xfrm>
          <a:prstGeom prst="rect">
            <a:avLst/>
          </a:prstGeom>
          <a:noFill/>
        </p:spPr>
        <p:txBody>
          <a:bodyPr wrap="square" rtlCol="0">
            <a:spAutoFit/>
          </a:bodyPr>
          <a:lstStyle/>
          <a:p>
            <a:r>
              <a:rPr lang="it-IT" sz="3600" b="1" dirty="0">
                <a:latin typeface="Poppins" panose="020B0604020202020204"/>
              </a:rPr>
              <a:t>ESEMPIO</a:t>
            </a:r>
          </a:p>
        </p:txBody>
      </p:sp>
      <p:sp>
        <p:nvSpPr>
          <p:cNvPr id="6" name="Rettangolo 5">
            <a:extLst>
              <a:ext uri="{FF2B5EF4-FFF2-40B4-BE49-F238E27FC236}">
                <a16:creationId xmlns:a16="http://schemas.microsoft.com/office/drawing/2014/main" id="{85EAEABF-7F09-431D-ABB1-75744729B3DC}"/>
              </a:ext>
            </a:extLst>
          </p:cNvPr>
          <p:cNvSpPr/>
          <p:nvPr/>
        </p:nvSpPr>
        <p:spPr>
          <a:xfrm>
            <a:off x="464270" y="1009462"/>
            <a:ext cx="8255524" cy="3662541"/>
          </a:xfrm>
          <a:prstGeom prst="rect">
            <a:avLst/>
          </a:prstGeom>
        </p:spPr>
        <p:txBody>
          <a:bodyPr wrap="square">
            <a:spAutoFit/>
          </a:bodyPr>
          <a:lstStyle/>
          <a:p>
            <a:pPr>
              <a:spcBef>
                <a:spcPts val="0"/>
              </a:spcBef>
              <a:buNone/>
            </a:pPr>
            <a:r>
              <a:rPr lang="it-IT" dirty="0">
                <a:latin typeface="Poppins" panose="020B0604020202020204"/>
              </a:rPr>
              <a:t>Delle variabili elencate distinguere quelle sulle quali l’ impresa non ha alcuna influenza, quelle di interazione reciproca e quelle condizionate dall’impresa:</a:t>
            </a:r>
          </a:p>
          <a:p>
            <a:pPr marL="342900" indent="-342900">
              <a:spcBef>
                <a:spcPts val="0"/>
              </a:spcBef>
              <a:buAutoNum type="alphaLcPeriod"/>
            </a:pPr>
            <a:r>
              <a:rPr lang="it-IT" sz="1600" dirty="0">
                <a:latin typeface="Poppins" panose="020B0604020202020204"/>
              </a:rPr>
              <a:t>Tasso di crescita della popolazione</a:t>
            </a:r>
          </a:p>
          <a:p>
            <a:pPr marL="342900" indent="-342900">
              <a:spcBef>
                <a:spcPts val="0"/>
              </a:spcBef>
              <a:buAutoNum type="alphaLcPeriod"/>
            </a:pPr>
            <a:r>
              <a:rPr lang="it-IT" sz="1600" dirty="0">
                <a:latin typeface="Poppins" panose="020B0604020202020204"/>
              </a:rPr>
              <a:t>Prezzo del Prodotto</a:t>
            </a:r>
          </a:p>
          <a:p>
            <a:pPr marL="342900" indent="-342900">
              <a:spcBef>
                <a:spcPts val="0"/>
              </a:spcBef>
              <a:buAutoNum type="alphaLcPeriod"/>
            </a:pPr>
            <a:r>
              <a:rPr lang="it-IT" sz="1600" dirty="0">
                <a:latin typeface="Poppins" panose="020B0604020202020204"/>
              </a:rPr>
              <a:t>Tasso di Inflazione</a:t>
            </a:r>
          </a:p>
          <a:p>
            <a:pPr marL="342900" indent="-342900">
              <a:spcBef>
                <a:spcPts val="0"/>
              </a:spcBef>
              <a:buAutoNum type="alphaLcPeriod"/>
            </a:pPr>
            <a:r>
              <a:rPr lang="it-IT" sz="1600" dirty="0">
                <a:latin typeface="Poppins" panose="020B0604020202020204"/>
              </a:rPr>
              <a:t>Struttura Sociale</a:t>
            </a:r>
          </a:p>
          <a:p>
            <a:pPr marL="342900" indent="-342900">
              <a:spcBef>
                <a:spcPts val="0"/>
              </a:spcBef>
              <a:buAutoNum type="alphaLcPeriod"/>
            </a:pPr>
            <a:r>
              <a:rPr lang="it-IT" sz="1600" dirty="0">
                <a:latin typeface="Poppins" panose="020B0604020202020204"/>
              </a:rPr>
              <a:t>Numero di Dettaglianti serviti</a:t>
            </a:r>
          </a:p>
          <a:p>
            <a:pPr marL="342900" indent="-342900">
              <a:spcBef>
                <a:spcPts val="0"/>
              </a:spcBef>
              <a:buAutoNum type="alphaLcPeriod"/>
            </a:pPr>
            <a:r>
              <a:rPr lang="it-IT" sz="1600" dirty="0">
                <a:latin typeface="Poppins" panose="020B0604020202020204"/>
              </a:rPr>
              <a:t>Durata e numero degli Spot Pubblicitari</a:t>
            </a:r>
          </a:p>
          <a:p>
            <a:pPr marL="342900" indent="-342900">
              <a:spcBef>
                <a:spcPts val="0"/>
              </a:spcBef>
              <a:buAutoNum type="alphaLcPeriod"/>
            </a:pPr>
            <a:r>
              <a:rPr lang="it-IT" sz="1600" dirty="0">
                <a:latin typeface="Poppins" panose="020B0604020202020204"/>
              </a:rPr>
              <a:t>Normativa</a:t>
            </a:r>
          </a:p>
          <a:p>
            <a:pPr marL="342900" indent="-342900">
              <a:spcBef>
                <a:spcPts val="0"/>
              </a:spcBef>
              <a:buAutoNum type="alphaLcPeriod"/>
            </a:pPr>
            <a:r>
              <a:rPr lang="it-IT" sz="1600" dirty="0">
                <a:latin typeface="Poppins" panose="020B0604020202020204"/>
              </a:rPr>
              <a:t>Comportamento d’acquisto dei consumatori</a:t>
            </a:r>
          </a:p>
          <a:p>
            <a:pPr marL="342900" indent="-342900">
              <a:spcBef>
                <a:spcPts val="0"/>
              </a:spcBef>
              <a:buAutoNum type="alphaLcPeriod"/>
            </a:pPr>
            <a:r>
              <a:rPr lang="it-IT" sz="1600" dirty="0">
                <a:latin typeface="Poppins" panose="020B0604020202020204"/>
              </a:rPr>
              <a:t>Ampiezza della gamma</a:t>
            </a:r>
          </a:p>
          <a:p>
            <a:pPr marL="342900" indent="-342900">
              <a:spcBef>
                <a:spcPts val="0"/>
              </a:spcBef>
              <a:buAutoNum type="alphaLcPeriod"/>
            </a:pPr>
            <a:r>
              <a:rPr lang="it-IT" sz="1600" dirty="0">
                <a:latin typeface="Poppins" panose="020B0604020202020204"/>
              </a:rPr>
              <a:t>Tendenze culturali</a:t>
            </a:r>
          </a:p>
          <a:p>
            <a:pPr marL="342900" indent="-342900">
              <a:spcBef>
                <a:spcPts val="0"/>
              </a:spcBef>
              <a:buAutoNum type="alphaLcPeriod"/>
            </a:pPr>
            <a:r>
              <a:rPr lang="it-IT" sz="1600" dirty="0">
                <a:latin typeface="Poppins" panose="020B0604020202020204"/>
              </a:rPr>
              <a:t>Formazione del Personale</a:t>
            </a:r>
          </a:p>
          <a:p>
            <a:pPr marL="342900" indent="-342900">
              <a:spcBef>
                <a:spcPts val="0"/>
              </a:spcBef>
              <a:buAutoNum type="alphaLcPeriod"/>
            </a:pPr>
            <a:r>
              <a:rPr lang="it-IT" sz="1600" dirty="0">
                <a:latin typeface="Poppins" panose="020B0604020202020204"/>
              </a:rPr>
              <a:t>Funzione d’uso dei prodotti</a:t>
            </a:r>
          </a:p>
        </p:txBody>
      </p:sp>
      <p:graphicFrame>
        <p:nvGraphicFramePr>
          <p:cNvPr id="7" name="Tabella 6">
            <a:extLst>
              <a:ext uri="{FF2B5EF4-FFF2-40B4-BE49-F238E27FC236}">
                <a16:creationId xmlns:a16="http://schemas.microsoft.com/office/drawing/2014/main" id="{0F5DC2D1-C343-4DF0-8179-11BD67130523}"/>
              </a:ext>
            </a:extLst>
          </p:cNvPr>
          <p:cNvGraphicFramePr>
            <a:graphicFrameLocks noGrp="1"/>
          </p:cNvGraphicFramePr>
          <p:nvPr>
            <p:extLst>
              <p:ext uri="{D42A27DB-BD31-4B8C-83A1-F6EECF244321}">
                <p14:modId xmlns:p14="http://schemas.microsoft.com/office/powerpoint/2010/main" val="2820144327"/>
              </p:ext>
            </p:extLst>
          </p:nvPr>
        </p:nvGraphicFramePr>
        <p:xfrm>
          <a:off x="575035" y="4835952"/>
          <a:ext cx="8255523" cy="1404160"/>
        </p:xfrm>
        <a:graphic>
          <a:graphicData uri="http://schemas.openxmlformats.org/drawingml/2006/table">
            <a:tbl>
              <a:tblPr firstRow="1" bandRow="1">
                <a:tableStyleId>{5C22544A-7EE6-4342-B048-85BDC9FD1C3A}</a:tableStyleId>
              </a:tblPr>
              <a:tblGrid>
                <a:gridCol w="2751841">
                  <a:extLst>
                    <a:ext uri="{9D8B030D-6E8A-4147-A177-3AD203B41FA5}">
                      <a16:colId xmlns:a16="http://schemas.microsoft.com/office/drawing/2014/main" val="4053331575"/>
                    </a:ext>
                  </a:extLst>
                </a:gridCol>
                <a:gridCol w="2751841">
                  <a:extLst>
                    <a:ext uri="{9D8B030D-6E8A-4147-A177-3AD203B41FA5}">
                      <a16:colId xmlns:a16="http://schemas.microsoft.com/office/drawing/2014/main" val="3361855641"/>
                    </a:ext>
                  </a:extLst>
                </a:gridCol>
                <a:gridCol w="2751841">
                  <a:extLst>
                    <a:ext uri="{9D8B030D-6E8A-4147-A177-3AD203B41FA5}">
                      <a16:colId xmlns:a16="http://schemas.microsoft.com/office/drawing/2014/main" val="3819953751"/>
                    </a:ext>
                  </a:extLst>
                </a:gridCol>
              </a:tblGrid>
              <a:tr h="588412">
                <a:tc>
                  <a:txBody>
                    <a:bodyPr/>
                    <a:lstStyle/>
                    <a:p>
                      <a:pPr algn="ctr"/>
                      <a:r>
                        <a:rPr lang="it-IT" sz="1800" dirty="0">
                          <a:latin typeface="Poppins" panose="020B0604020202020204"/>
                        </a:rPr>
                        <a:t>Non Influenzabili dall’Impresa</a:t>
                      </a:r>
                    </a:p>
                  </a:txBody>
                  <a:tcPr anchor="ctr"/>
                </a:tc>
                <a:tc>
                  <a:txBody>
                    <a:bodyPr/>
                    <a:lstStyle/>
                    <a:p>
                      <a:pPr algn="ctr"/>
                      <a:r>
                        <a:rPr lang="it-IT" sz="1800" dirty="0">
                          <a:latin typeface="Poppins" panose="020B0604020202020204"/>
                        </a:rPr>
                        <a:t>Interazione Reciproca Impresa-Ambiente</a:t>
                      </a:r>
                    </a:p>
                  </a:txBody>
                  <a:tcPr anchor="ctr"/>
                </a:tc>
                <a:tc>
                  <a:txBody>
                    <a:bodyPr/>
                    <a:lstStyle/>
                    <a:p>
                      <a:pPr algn="ctr"/>
                      <a:r>
                        <a:rPr lang="it-IT" sz="1800" dirty="0">
                          <a:latin typeface="Poppins" panose="020B0604020202020204"/>
                        </a:rPr>
                        <a:t>Condizionate dall’Impresa</a:t>
                      </a:r>
                    </a:p>
                  </a:txBody>
                  <a:tcPr anchor="ctr"/>
                </a:tc>
                <a:extLst>
                  <a:ext uri="{0D108BD9-81ED-4DB2-BD59-A6C34878D82A}">
                    <a16:rowId xmlns:a16="http://schemas.microsoft.com/office/drawing/2014/main" val="3910698280"/>
                  </a:ext>
                </a:extLst>
              </a:tr>
              <a:tr h="764080">
                <a:tc>
                  <a:txBody>
                    <a:bodyPr/>
                    <a:lstStyle/>
                    <a:p>
                      <a:r>
                        <a:rPr lang="it-IT" sz="2000" b="1" dirty="0">
                          <a:latin typeface="Poppins" panose="020B0604020202020204"/>
                        </a:rPr>
                        <a:t>a, c, d, g, j</a:t>
                      </a:r>
                    </a:p>
                  </a:txBody>
                  <a:tcPr/>
                </a:tc>
                <a:tc>
                  <a:txBody>
                    <a:bodyPr/>
                    <a:lstStyle/>
                    <a:p>
                      <a:r>
                        <a:rPr lang="it-IT" sz="2000" b="1" dirty="0">
                          <a:latin typeface="Poppins" panose="020B0604020202020204"/>
                        </a:rPr>
                        <a:t>h, l</a:t>
                      </a:r>
                    </a:p>
                  </a:txBody>
                  <a:tcPr/>
                </a:tc>
                <a:tc>
                  <a:txBody>
                    <a:bodyPr/>
                    <a:lstStyle/>
                    <a:p>
                      <a:r>
                        <a:rPr lang="it-IT" sz="2000" b="1" dirty="0">
                          <a:latin typeface="Poppins" panose="020B0604020202020204"/>
                        </a:rPr>
                        <a:t>b, e, f, i, k</a:t>
                      </a:r>
                    </a:p>
                  </a:txBody>
                  <a:tcPr/>
                </a:tc>
                <a:extLst>
                  <a:ext uri="{0D108BD9-81ED-4DB2-BD59-A6C34878D82A}">
                    <a16:rowId xmlns:a16="http://schemas.microsoft.com/office/drawing/2014/main" val="726191851"/>
                  </a:ext>
                </a:extLst>
              </a:tr>
            </a:tbl>
          </a:graphicData>
        </a:graphic>
      </p:graphicFrame>
    </p:spTree>
    <p:extLst>
      <p:ext uri="{BB962C8B-B14F-4D97-AF65-F5344CB8AC3E}">
        <p14:creationId xmlns:p14="http://schemas.microsoft.com/office/powerpoint/2010/main" val="48579477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F785F37-7EB3-46A7-A212-0CF49FD62D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7681ba-7771-496a-b5df-ee3e7b098b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B29624E-FC46-4775-9678-F770F2F1F66E}">
  <ds:schemaRefs>
    <ds:schemaRef ds:uri="http://schemas.microsoft.com/sharepoint/v3/contenttype/forms"/>
  </ds:schemaRefs>
</ds:datastoreItem>
</file>

<file path=customXml/itemProps3.xml><?xml version="1.0" encoding="utf-8"?>
<ds:datastoreItem xmlns:ds="http://schemas.openxmlformats.org/officeDocument/2006/customXml" ds:itemID="{C821EE4B-2C83-4B1B-8859-60215F54E4F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302</TotalTime>
  <Words>985</Words>
  <Application>Microsoft Office PowerPoint</Application>
  <PresentationFormat>Presentazione su schermo (4:3)</PresentationFormat>
  <Paragraphs>108</Paragraphs>
  <Slides>17</Slides>
  <Notes>1</Notes>
  <HiddenSlides>0</HiddenSlides>
  <MMClips>2</MMClips>
  <ScaleCrop>false</ScaleCrop>
  <HeadingPairs>
    <vt:vector size="4" baseType="variant">
      <vt:variant>
        <vt:lpstr>Tema</vt:lpstr>
      </vt:variant>
      <vt:variant>
        <vt:i4>2</vt:i4>
      </vt:variant>
      <vt:variant>
        <vt:lpstr>Titoli diapositive</vt:lpstr>
      </vt:variant>
      <vt:variant>
        <vt:i4>17</vt:i4>
      </vt:variant>
    </vt:vector>
  </HeadingPairs>
  <TitlesOfParts>
    <vt:vector size="19" baseType="lpstr">
      <vt:lpstr>Tema di Office</vt:lpstr>
      <vt:lpstr>Office Theme</vt:lpstr>
      <vt:lpstr>Presentazione standard di PowerPoint</vt:lpstr>
      <vt:lpstr>IMPRESA</vt:lpstr>
      <vt:lpstr>AMBIENTE</vt:lpstr>
      <vt:lpstr>MERCATO</vt:lpstr>
      <vt:lpstr>Presentazione standard di PowerPoint</vt:lpstr>
      <vt:lpstr>IMPRESA e AMBIENTE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RAPPORTI TRA IMPRESA E AMBIENTE</vt:lpstr>
      <vt:lpstr>RAPPORTI TRA IMPRESA E AMBIENTE</vt:lpstr>
      <vt:lpstr>RAPPORTI TRA IMPRESA E AMBIENTE</vt:lpstr>
      <vt:lpstr>RAPPORTI TRA IMPRESA E AMBIENTE</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EGI </dc:title>
  <dc:creator>Cristina Mele </dc:creator>
  <cp:lastModifiedBy>Piccirillo Giuseppe</cp:lastModifiedBy>
  <cp:revision>74</cp:revision>
  <dcterms:created xsi:type="dcterms:W3CDTF">2011-10-04T20:16:07Z</dcterms:created>
  <dcterms:modified xsi:type="dcterms:W3CDTF">2026-06-01T14:11:01Z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0x010100CEADD803C0F48442AB4649F39F36D470</vt:lpwstr>
  </property>
</Properties>
</file>