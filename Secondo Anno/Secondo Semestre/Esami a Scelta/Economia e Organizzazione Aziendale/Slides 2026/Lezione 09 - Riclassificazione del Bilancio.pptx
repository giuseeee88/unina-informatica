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47"/>
  </p:notesMasterIdLst>
  <p:sldIdLst>
    <p:sldId id="256" r:id="rId5"/>
    <p:sldId id="800" r:id="rId6"/>
    <p:sldId id="801" r:id="rId7"/>
    <p:sldId id="802" r:id="rId8"/>
    <p:sldId id="803" r:id="rId9"/>
    <p:sldId id="804" r:id="rId10"/>
    <p:sldId id="805" r:id="rId11"/>
    <p:sldId id="806" r:id="rId12"/>
    <p:sldId id="807" r:id="rId13"/>
    <p:sldId id="808" r:id="rId14"/>
    <p:sldId id="809" r:id="rId15"/>
    <p:sldId id="810" r:id="rId16"/>
    <p:sldId id="811" r:id="rId17"/>
    <p:sldId id="812" r:id="rId18"/>
    <p:sldId id="813" r:id="rId19"/>
    <p:sldId id="814" r:id="rId20"/>
    <p:sldId id="815" r:id="rId21"/>
    <p:sldId id="816" r:id="rId22"/>
    <p:sldId id="817" r:id="rId23"/>
    <p:sldId id="818" r:id="rId24"/>
    <p:sldId id="819" r:id="rId25"/>
    <p:sldId id="820" r:id="rId26"/>
    <p:sldId id="821" r:id="rId27"/>
    <p:sldId id="822" r:id="rId28"/>
    <p:sldId id="823" r:id="rId29"/>
    <p:sldId id="824" r:id="rId30"/>
    <p:sldId id="825" r:id="rId31"/>
    <p:sldId id="826" r:id="rId32"/>
    <p:sldId id="827" r:id="rId33"/>
    <p:sldId id="828" r:id="rId34"/>
    <p:sldId id="842" r:id="rId35"/>
    <p:sldId id="843" r:id="rId36"/>
    <p:sldId id="844" r:id="rId37"/>
    <p:sldId id="845" r:id="rId38"/>
    <p:sldId id="846" r:id="rId39"/>
    <p:sldId id="847" r:id="rId40"/>
    <p:sldId id="848" r:id="rId41"/>
    <p:sldId id="849" r:id="rId42"/>
    <p:sldId id="850" r:id="rId43"/>
    <p:sldId id="851" r:id="rId44"/>
    <p:sldId id="852" r:id="rId45"/>
    <p:sldId id="853" r:id="rId46"/>
  </p:sldIdLst>
  <p:sldSz cx="18288000" cy="10287000"/>
  <p:notesSz cx="6858000" cy="9144000"/>
  <p:embeddedFontLst>
    <p:embeddedFont>
      <p:font typeface="Poppins" panose="00000500000000000000" pitchFamily="2" charset="0"/>
      <p:regular r:id="rId48"/>
      <p:bold r:id="rId49"/>
      <p:italic r:id="rId50"/>
      <p:boldItalic r:id="rId51"/>
    </p:embeddedFont>
    <p:embeddedFont>
      <p:font typeface="Poppins SemiBold" panose="00000700000000000000" pitchFamily="2"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6DF0"/>
    <a:srgbClr val="4C7F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190" autoAdjust="0"/>
  </p:normalViewPr>
  <p:slideViewPr>
    <p:cSldViewPr snapToGrid="0">
      <p:cViewPr varScale="1">
        <p:scale>
          <a:sx n="57" d="100"/>
          <a:sy n="57" d="100"/>
        </p:scale>
        <p:origin x="562"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6.fntdata"/><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1.fntdata"/><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font" Target="fonts/font4.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2.fntdata"/><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0979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431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7701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3140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9024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1815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7218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7308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9014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0169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54712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95694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2974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0507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16040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2048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it-IT"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8791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86823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69800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08041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24509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28921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40626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67103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48576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13275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95449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45949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36211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24503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88079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50284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05920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91235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8104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83542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76997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it-IT"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67634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it-IT"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84688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it-IT"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24198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it-IT"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437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video" Target="https://www.youtube.com/embed/KIi8uqjDcGc?feature=oembed" TargetMode="External"/><Relationship Id="rId4"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79EA"/>
        </a:solidFill>
        <a:effectLst/>
      </p:bgPr>
    </p:bg>
    <p:spTree>
      <p:nvGrpSpPr>
        <p:cNvPr id="1" name="Shape 83"/>
        <p:cNvGrpSpPr/>
        <p:nvPr/>
      </p:nvGrpSpPr>
      <p:grpSpPr>
        <a:xfrm>
          <a:off x="0" y="0"/>
          <a:ext cx="0" cy="0"/>
          <a:chOff x="0" y="0"/>
          <a:chExt cx="0" cy="0"/>
        </a:xfrm>
      </p:grpSpPr>
      <p:sp>
        <p:nvSpPr>
          <p:cNvPr id="84" name="Google Shape;84;p13"/>
          <p:cNvSpPr/>
          <p:nvPr/>
        </p:nvSpPr>
        <p:spPr>
          <a:xfrm>
            <a:off x="1028700" y="1251422"/>
            <a:ext cx="4059950" cy="1443525"/>
          </a:xfrm>
          <a:custGeom>
            <a:avLst/>
            <a:gdLst/>
            <a:ahLst/>
            <a:cxnLst/>
            <a:rect l="l" t="t" r="r" b="b"/>
            <a:pathLst>
              <a:path w="4059950" h="1443525" extrusionOk="0">
                <a:moveTo>
                  <a:pt x="0" y="0"/>
                </a:moveTo>
                <a:lnTo>
                  <a:pt x="4059950" y="0"/>
                </a:lnTo>
                <a:lnTo>
                  <a:pt x="4059950" y="1443525"/>
                </a:lnTo>
                <a:lnTo>
                  <a:pt x="0" y="1443525"/>
                </a:lnTo>
                <a:lnTo>
                  <a:pt x="0" y="0"/>
                </a:lnTo>
                <a:close/>
              </a:path>
            </a:pathLst>
          </a:custGeom>
          <a:blipFill rotWithShape="1">
            <a:blip r:embed="rId3">
              <a:alphaModFix/>
            </a:blip>
            <a:stretch>
              <a:fillRect b="-259"/>
            </a:stretch>
          </a:blipFill>
          <a:ln>
            <a:noFill/>
          </a:ln>
        </p:spPr>
      </p:sp>
      <p:pic>
        <p:nvPicPr>
          <p:cNvPr id="85" name="Google Shape;85;p13"/>
          <p:cNvPicPr preferRelativeResize="0"/>
          <p:nvPr/>
        </p:nvPicPr>
        <p:blipFill rotWithShape="1">
          <a:blip r:embed="rId4">
            <a:alphaModFix/>
          </a:blip>
          <a:srcRect/>
          <a:stretch/>
        </p:blipFill>
        <p:spPr>
          <a:xfrm>
            <a:off x="11651525" y="4573199"/>
            <a:ext cx="5607775" cy="4458181"/>
          </a:xfrm>
          <a:prstGeom prst="rect">
            <a:avLst/>
          </a:prstGeom>
          <a:noFill/>
          <a:ln>
            <a:noFill/>
          </a:ln>
        </p:spPr>
      </p:pic>
      <p:sp>
        <p:nvSpPr>
          <p:cNvPr id="86" name="Google Shape;86;p13"/>
          <p:cNvSpPr txBox="1"/>
          <p:nvPr/>
        </p:nvSpPr>
        <p:spPr>
          <a:xfrm>
            <a:off x="1028700" y="4802439"/>
            <a:ext cx="7248985" cy="1352484"/>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400" b="1" i="0" u="none" strike="noStrike" cap="none">
                <a:solidFill>
                  <a:srgbClr val="FFFFFF"/>
                </a:solidFill>
                <a:latin typeface="Poppins SemiBold"/>
                <a:ea typeface="Poppins SemiBold"/>
                <a:cs typeface="Poppins SemiBold"/>
                <a:sym typeface="Poppins SemiBold"/>
              </a:rPr>
              <a:t>Corso EOA</a:t>
            </a:r>
            <a:endParaRPr/>
          </a:p>
        </p:txBody>
      </p:sp>
      <p:sp>
        <p:nvSpPr>
          <p:cNvPr id="87" name="Google Shape;87;p13"/>
          <p:cNvSpPr txBox="1"/>
          <p:nvPr/>
        </p:nvSpPr>
        <p:spPr>
          <a:xfrm>
            <a:off x="5378118" y="1353569"/>
            <a:ext cx="4727972" cy="495328"/>
          </a:xfrm>
          <a:prstGeom prst="rect">
            <a:avLst/>
          </a:prstGeom>
          <a:noFill/>
          <a:ln>
            <a:noFill/>
          </a:ln>
        </p:spPr>
        <p:txBody>
          <a:bodyPr spcFirstLastPara="1" wrap="square" lIns="0" tIns="0" rIns="0" bIns="0" anchor="t" anchorCtr="0">
            <a:spAutoFit/>
          </a:bodyPr>
          <a:lstStyle/>
          <a:p>
            <a:pPr marL="0" marR="0" lvl="0" indent="0" algn="l" rtl="0">
              <a:lnSpc>
                <a:spcPct val="161030"/>
              </a:lnSpc>
              <a:spcBef>
                <a:spcPts val="0"/>
              </a:spcBef>
              <a:spcAft>
                <a:spcPts val="0"/>
              </a:spcAft>
              <a:buNone/>
            </a:pPr>
            <a:r>
              <a:rPr lang="en-US" sz="1999" b="1" i="0" u="none" strike="noStrike" cap="none" dirty="0">
                <a:solidFill>
                  <a:srgbClr val="FFFFFF"/>
                </a:solidFill>
                <a:latin typeface="Poppins"/>
                <a:ea typeface="Poppins"/>
                <a:cs typeface="Poppins"/>
                <a:sym typeface="Poppins"/>
              </a:rPr>
              <a:t>LAUREA TRIENNALE </a:t>
            </a:r>
            <a:r>
              <a:rPr lang="en-US" sz="1999" b="1" dirty="0">
                <a:solidFill>
                  <a:srgbClr val="FFFFFF"/>
                </a:solidFill>
                <a:latin typeface="Poppins"/>
                <a:ea typeface="Poppins"/>
                <a:cs typeface="Poppins"/>
                <a:sym typeface="Poppins"/>
              </a:rPr>
              <a:t>IN </a:t>
            </a:r>
            <a:r>
              <a:rPr lang="en-US" sz="1999" b="1" i="0" u="none" strike="noStrike" cap="none" dirty="0">
                <a:solidFill>
                  <a:srgbClr val="FFFFFF"/>
                </a:solidFill>
                <a:latin typeface="Poppins"/>
                <a:ea typeface="Poppins"/>
                <a:cs typeface="Poppins"/>
                <a:sym typeface="Poppins"/>
              </a:rPr>
              <a:t>INFORMATICA </a:t>
            </a:r>
            <a:endParaRPr dirty="0"/>
          </a:p>
        </p:txBody>
      </p:sp>
      <p:sp>
        <p:nvSpPr>
          <p:cNvPr id="88" name="Google Shape;88;p13"/>
          <p:cNvSpPr txBox="1"/>
          <p:nvPr/>
        </p:nvSpPr>
        <p:spPr>
          <a:xfrm>
            <a:off x="1031518" y="6294359"/>
            <a:ext cx="6710586" cy="886397"/>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2800" b="1" i="0" u="none" strike="noStrike" cap="none" dirty="0">
                <a:solidFill>
                  <a:srgbClr val="FFFFFF"/>
                </a:solidFill>
                <a:latin typeface="Poppins"/>
                <a:ea typeface="Poppins"/>
                <a:cs typeface="Poppins"/>
                <a:sym typeface="Poppins"/>
              </a:rPr>
              <a:t>Prof. Giuseppe </a:t>
            </a:r>
            <a:r>
              <a:rPr lang="en-US" sz="2800" b="1" i="0" u="none" strike="noStrike" cap="none" dirty="0" err="1">
                <a:solidFill>
                  <a:srgbClr val="FFFFFF"/>
                </a:solidFill>
                <a:latin typeface="Poppins"/>
                <a:ea typeface="Poppins"/>
                <a:cs typeface="Poppins"/>
                <a:sym typeface="Poppins"/>
              </a:rPr>
              <a:t>Piccirillo</a:t>
            </a:r>
            <a:endParaRPr sz="2000" dirty="0"/>
          </a:p>
          <a:p>
            <a:pPr marL="0" marR="0" lvl="0" indent="0" algn="l" rtl="0">
              <a:lnSpc>
                <a:spcPct val="120010"/>
              </a:lnSpc>
              <a:spcBef>
                <a:spcPts val="0"/>
              </a:spcBef>
              <a:spcAft>
                <a:spcPts val="0"/>
              </a:spcAft>
              <a:buNone/>
            </a:pPr>
            <a:endParaRPr sz="2000" b="1" i="0" u="none" strike="noStrike" cap="none" dirty="0">
              <a:solidFill>
                <a:srgbClr val="FFFFFF"/>
              </a:solidFill>
              <a:latin typeface="Poppins"/>
              <a:ea typeface="Poppins"/>
              <a:cs typeface="Poppins"/>
              <a:sym typeface="Poppins"/>
            </a:endParaRPr>
          </a:p>
        </p:txBody>
      </p:sp>
      <p:sp>
        <p:nvSpPr>
          <p:cNvPr id="89" name="Google Shape;89;p13"/>
          <p:cNvSpPr txBox="1"/>
          <p:nvPr/>
        </p:nvSpPr>
        <p:spPr>
          <a:xfrm>
            <a:off x="10451233" y="1439294"/>
            <a:ext cx="5541100" cy="738407"/>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1" i="0" u="none" strike="noStrike" cap="none" dirty="0">
                <a:solidFill>
                  <a:srgbClr val="FFFFFF"/>
                </a:solidFill>
                <a:latin typeface="Poppins"/>
                <a:ea typeface="Poppins"/>
                <a:cs typeface="Poppins"/>
                <a:sym typeface="Poppins"/>
              </a:rPr>
              <a:t>CORSO II SEMESTRE</a:t>
            </a:r>
            <a:endParaRPr dirty="0"/>
          </a:p>
          <a:p>
            <a:pPr marL="0" marR="0" lvl="0" indent="0" algn="l" rtl="0">
              <a:lnSpc>
                <a:spcPct val="120010"/>
              </a:lnSpc>
              <a:spcBef>
                <a:spcPts val="0"/>
              </a:spcBef>
              <a:spcAft>
                <a:spcPts val="0"/>
              </a:spcAft>
              <a:buNone/>
            </a:pPr>
            <a:r>
              <a:rPr lang="en-US" sz="1999" b="1" i="0" u="none" strike="noStrike" cap="none">
                <a:solidFill>
                  <a:srgbClr val="FFFFFF"/>
                </a:solidFill>
                <a:latin typeface="Poppins"/>
                <a:ea typeface="Poppins"/>
                <a:cs typeface="Poppins"/>
                <a:sym typeface="Poppins"/>
              </a:rPr>
              <a:t>2025 - 2026</a:t>
            </a:r>
            <a:endParaRPr dirty="0"/>
          </a:p>
        </p:txBody>
      </p:sp>
      <p:sp>
        <p:nvSpPr>
          <p:cNvPr id="91" name="Google Shape;91;p13"/>
          <p:cNvSpPr txBox="1"/>
          <p:nvPr/>
        </p:nvSpPr>
        <p:spPr>
          <a:xfrm>
            <a:off x="1028700" y="3680181"/>
            <a:ext cx="15187188" cy="553870"/>
          </a:xfrm>
          <a:prstGeom prst="rect">
            <a:avLst/>
          </a:prstGeom>
          <a:noFill/>
          <a:ln>
            <a:noFill/>
          </a:ln>
        </p:spPr>
        <p:txBody>
          <a:bodyPr spcFirstLastPara="1" wrap="square" lIns="0" tIns="0" rIns="0" bIns="0" anchor="t" anchorCtr="0">
            <a:spAutoFit/>
          </a:bodyPr>
          <a:lstStyle/>
          <a:p>
            <a:pPr marL="0" marR="0" lvl="0" indent="0" algn="l" rtl="0">
              <a:lnSpc>
                <a:spcPct val="120006"/>
              </a:lnSpc>
              <a:spcBef>
                <a:spcPts val="0"/>
              </a:spcBef>
              <a:spcAft>
                <a:spcPts val="0"/>
              </a:spcAft>
              <a:buNone/>
            </a:pPr>
            <a:r>
              <a:rPr lang="en-US" sz="2999" b="1" i="0" u="none" strike="noStrike" cap="none" dirty="0">
                <a:solidFill>
                  <a:srgbClr val="FFFFFF"/>
                </a:solidFill>
                <a:latin typeface="Poppins"/>
                <a:ea typeface="Poppins"/>
                <a:cs typeface="Poppins"/>
                <a:sym typeface="Poppins"/>
              </a:rPr>
              <a:t>LEZIONE. </a:t>
            </a:r>
            <a:r>
              <a:rPr lang="en-US" sz="2999" b="1" i="0" u="none" strike="noStrike" cap="none">
                <a:solidFill>
                  <a:srgbClr val="FFFFFF"/>
                </a:solidFill>
                <a:latin typeface="Poppins"/>
                <a:ea typeface="Poppins"/>
                <a:cs typeface="Poppins"/>
                <a:sym typeface="Poppins"/>
              </a:rPr>
              <a:t>9 </a:t>
            </a:r>
            <a:r>
              <a:rPr lang="en-US" sz="2999" b="1" i="0" u="none" strike="noStrike" cap="none" dirty="0">
                <a:solidFill>
                  <a:srgbClr val="FFFFFF"/>
                </a:solidFill>
                <a:latin typeface="Poppins"/>
                <a:ea typeface="Poppins"/>
                <a:cs typeface="Poppins"/>
                <a:sym typeface="Poppins"/>
              </a:rPr>
              <a:t>-  RICLASSIFICARE IL BILANCIO</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694985" y="2142678"/>
            <a:ext cx="14708797" cy="6740307"/>
          </a:xfrm>
          <a:prstGeom prst="rect">
            <a:avLst/>
          </a:prstGeom>
          <a:noFill/>
        </p:spPr>
        <p:txBody>
          <a:bodyPr wrap="square">
            <a:spAutoFit/>
          </a:bodyPr>
          <a:lstStyle/>
          <a:p>
            <a:pPr algn="just"/>
            <a:r>
              <a:rPr lang="it-IT" sz="4800" dirty="0">
                <a:solidFill>
                  <a:srgbClr val="0070C0"/>
                </a:solidFill>
                <a:latin typeface="Poppins" panose="020B0604020202020204" charset="0"/>
                <a:cs typeface="Poppins" panose="020B0604020202020204" charset="0"/>
              </a:rPr>
              <a:t>Il bilancio d’esercizio è fondamentale per valutare lo stato di salute finanziaria e creditizia di un’impresa. </a:t>
            </a:r>
          </a:p>
          <a:p>
            <a:pPr algn="just"/>
            <a:endParaRPr lang="it-IT" sz="4800" dirty="0">
              <a:solidFill>
                <a:srgbClr val="0070C0"/>
              </a:solidFill>
              <a:latin typeface="Poppins" panose="020B0604020202020204" charset="0"/>
              <a:cs typeface="Poppins" panose="020B0604020202020204" charset="0"/>
            </a:endParaRPr>
          </a:p>
          <a:p>
            <a:pPr algn="just"/>
            <a:r>
              <a:rPr lang="it-IT" sz="4800" dirty="0">
                <a:solidFill>
                  <a:srgbClr val="0070C0"/>
                </a:solidFill>
                <a:latin typeface="Poppins" panose="020B0604020202020204" charset="0"/>
                <a:cs typeface="Poppins" panose="020B0604020202020204" charset="0"/>
              </a:rPr>
              <a:t>Spesso, però, l’analisi del bilancio richiede tempo ed è una procedura complessa. </a:t>
            </a:r>
          </a:p>
          <a:p>
            <a:pPr algn="just"/>
            <a:endParaRPr lang="it-IT" sz="4800" dirty="0">
              <a:solidFill>
                <a:srgbClr val="0070C0"/>
              </a:solidFill>
              <a:latin typeface="Poppins" panose="020B0604020202020204" charset="0"/>
              <a:cs typeface="Poppins" panose="020B0604020202020204" charset="0"/>
            </a:endParaRPr>
          </a:p>
          <a:p>
            <a:pPr algn="just"/>
            <a:r>
              <a:rPr lang="it-IT" sz="4800" dirty="0">
                <a:solidFill>
                  <a:srgbClr val="0070C0"/>
                </a:solidFill>
                <a:latin typeface="Poppins" panose="020B0604020202020204" charset="0"/>
                <a:cs typeface="Poppins" panose="020B0604020202020204" charset="0"/>
              </a:rPr>
              <a:t>In questi casi, la soluzione migliore è ricorrere ad un </a:t>
            </a:r>
            <a:r>
              <a:rPr lang="it-IT" sz="4800" u="sng" dirty="0">
                <a:solidFill>
                  <a:srgbClr val="0070C0"/>
                </a:solidFill>
                <a:latin typeface="Poppins" panose="020B0604020202020204" charset="0"/>
                <a:cs typeface="Poppins" panose="020B0604020202020204" charset="0"/>
              </a:rPr>
              <a:t>bilancio riclassificato</a:t>
            </a:r>
            <a:r>
              <a:rPr lang="it-IT" sz="4800" dirty="0">
                <a:solidFill>
                  <a:srgbClr val="0070C0"/>
                </a:solidFill>
                <a:latin typeface="Poppins" panose="020B0604020202020204" charset="0"/>
                <a:cs typeface="Poppins" panose="020B0604020202020204" charset="0"/>
              </a:rPr>
              <a:t>.</a:t>
            </a:r>
          </a:p>
        </p:txBody>
      </p:sp>
    </p:spTree>
    <p:extLst>
      <p:ext uri="{BB962C8B-B14F-4D97-AF65-F5344CB8AC3E}">
        <p14:creationId xmlns:p14="http://schemas.microsoft.com/office/powerpoint/2010/main" val="2151423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720328" y="2179640"/>
            <a:ext cx="14847343" cy="2308324"/>
          </a:xfrm>
          <a:prstGeom prst="rect">
            <a:avLst/>
          </a:prstGeom>
          <a:noFill/>
        </p:spPr>
        <p:txBody>
          <a:bodyPr wrap="square">
            <a:spAutoFit/>
          </a:bodyPr>
          <a:lstStyle/>
          <a:p>
            <a:pPr algn="just"/>
            <a:r>
              <a:rPr lang="it-IT" sz="4800" dirty="0">
                <a:solidFill>
                  <a:srgbClr val="0070C0"/>
                </a:solidFill>
                <a:latin typeface="Poppins" panose="020B0604020202020204" charset="0"/>
                <a:cs typeface="Poppins" panose="020B0604020202020204" charset="0"/>
              </a:rPr>
              <a:t>Ma cosa significa riclassificare un bilancio, quali criteri usare e perché può essere così importante per un’impresa?</a:t>
            </a:r>
          </a:p>
        </p:txBody>
      </p:sp>
      <p:pic>
        <p:nvPicPr>
          <p:cNvPr id="2" name="Immagine 1">
            <a:extLst>
              <a:ext uri="{FF2B5EF4-FFF2-40B4-BE49-F238E27FC236}">
                <a16:creationId xmlns:a16="http://schemas.microsoft.com/office/drawing/2014/main" id="{F17609D3-B268-4FA7-844C-5CBF8457FD52}"/>
              </a:ext>
            </a:extLst>
          </p:cNvPr>
          <p:cNvPicPr>
            <a:picLocks noChangeAspect="1"/>
          </p:cNvPicPr>
          <p:nvPr/>
        </p:nvPicPr>
        <p:blipFill rotWithShape="1">
          <a:blip r:embed="rId3"/>
          <a:srcRect l="7491" r="13097"/>
          <a:stretch/>
        </p:blipFill>
        <p:spPr>
          <a:xfrm>
            <a:off x="12136582" y="3880111"/>
            <a:ext cx="4017818" cy="6185216"/>
          </a:xfrm>
          <a:prstGeom prst="rect">
            <a:avLst/>
          </a:prstGeom>
        </p:spPr>
      </p:pic>
    </p:spTree>
    <p:extLst>
      <p:ext uri="{BB962C8B-B14F-4D97-AF65-F5344CB8AC3E}">
        <p14:creationId xmlns:p14="http://schemas.microsoft.com/office/powerpoint/2010/main" val="4115660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720328" y="1874840"/>
            <a:ext cx="14847343" cy="7478970"/>
          </a:xfrm>
          <a:prstGeom prst="rect">
            <a:avLst/>
          </a:prstGeom>
          <a:noFill/>
        </p:spPr>
        <p:txBody>
          <a:bodyPr wrap="square">
            <a:spAutoFit/>
          </a:bodyPr>
          <a:lstStyle/>
          <a:p>
            <a:pPr algn="just"/>
            <a:r>
              <a:rPr lang="it-IT" sz="4800" dirty="0">
                <a:solidFill>
                  <a:srgbClr val="0070C0"/>
                </a:solidFill>
                <a:latin typeface="Poppins" panose="020B0604020202020204" charset="0"/>
                <a:cs typeface="Poppins" panose="020B0604020202020204" charset="0"/>
              </a:rPr>
              <a:t>La </a:t>
            </a:r>
            <a:r>
              <a:rPr lang="it-IT" sz="4800" u="sng" dirty="0">
                <a:solidFill>
                  <a:srgbClr val="0070C0"/>
                </a:solidFill>
                <a:latin typeface="Poppins" panose="020B0604020202020204" charset="0"/>
                <a:cs typeface="Poppins" panose="020B0604020202020204" charset="0"/>
              </a:rPr>
              <a:t>riclassificazione di bilancio </a:t>
            </a:r>
            <a:r>
              <a:rPr lang="it-IT" sz="4800" dirty="0">
                <a:solidFill>
                  <a:srgbClr val="0070C0"/>
                </a:solidFill>
                <a:latin typeface="Poppins" panose="020B0604020202020204" charset="0"/>
                <a:cs typeface="Poppins" panose="020B0604020202020204" charset="0"/>
              </a:rPr>
              <a:t>è una procedura che consiste nel rielaborare e riorganizzare le diverse voci incluse nel bilancio aziendale, in modo da renderne più semplice e veloce l’analisi e la valutazione.</a:t>
            </a:r>
          </a:p>
          <a:p>
            <a:pPr algn="just"/>
            <a:endParaRPr lang="it-IT" sz="4800" dirty="0">
              <a:solidFill>
                <a:srgbClr val="0070C0"/>
              </a:solidFill>
              <a:latin typeface="Poppins" panose="020B0604020202020204" charset="0"/>
              <a:cs typeface="Poppins" panose="020B0604020202020204" charset="0"/>
            </a:endParaRPr>
          </a:p>
          <a:p>
            <a:pPr algn="just"/>
            <a:r>
              <a:rPr lang="it-IT" sz="4800" dirty="0">
                <a:solidFill>
                  <a:srgbClr val="0070C0"/>
                </a:solidFill>
                <a:latin typeface="Poppins" panose="020B0604020202020204" charset="0"/>
                <a:cs typeface="Poppins" panose="020B0604020202020204" charset="0"/>
              </a:rPr>
              <a:t>Per farlo, si utilizzano degli schemi standardizzati e degli appositi </a:t>
            </a:r>
            <a:r>
              <a:rPr lang="it-IT" sz="4800" u="sng" dirty="0">
                <a:solidFill>
                  <a:srgbClr val="0070C0"/>
                </a:solidFill>
                <a:latin typeface="Poppins" panose="020B0604020202020204" charset="0"/>
                <a:cs typeface="Poppins" panose="020B0604020202020204" charset="0"/>
              </a:rPr>
              <a:t>indici di bilancio</a:t>
            </a:r>
            <a:r>
              <a:rPr lang="it-IT" sz="4800" dirty="0">
                <a:solidFill>
                  <a:srgbClr val="0070C0"/>
                </a:solidFill>
                <a:latin typeface="Poppins" panose="020B0604020202020204" charset="0"/>
                <a:cs typeface="Poppins" panose="020B0604020202020204" charset="0"/>
              </a:rPr>
              <a:t> che permettono di classificare le diverse voci contabili.</a:t>
            </a:r>
          </a:p>
        </p:txBody>
      </p:sp>
    </p:spTree>
    <p:extLst>
      <p:ext uri="{BB962C8B-B14F-4D97-AF65-F5344CB8AC3E}">
        <p14:creationId xmlns:p14="http://schemas.microsoft.com/office/powerpoint/2010/main" val="1607677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694985" y="2142678"/>
            <a:ext cx="14847343" cy="6001643"/>
          </a:xfrm>
          <a:prstGeom prst="rect">
            <a:avLst/>
          </a:prstGeom>
          <a:noFill/>
        </p:spPr>
        <p:txBody>
          <a:bodyPr wrap="square">
            <a:spAutoFit/>
          </a:bodyPr>
          <a:lstStyle/>
          <a:p>
            <a:pPr algn="just"/>
            <a:r>
              <a:rPr lang="it-IT" sz="4800" dirty="0">
                <a:solidFill>
                  <a:srgbClr val="0070C0"/>
                </a:solidFill>
                <a:latin typeface="Poppins" panose="020B0604020202020204" charset="0"/>
                <a:cs typeface="Poppins" panose="020B0604020202020204" charset="0"/>
              </a:rPr>
              <a:t>Riclassificare un bilancio contabile significa associare e categorizzare ogni voce contabile in una classe di appartenenza. </a:t>
            </a:r>
          </a:p>
          <a:p>
            <a:pPr algn="just"/>
            <a:endParaRPr lang="it-IT" sz="4800" dirty="0">
              <a:solidFill>
                <a:srgbClr val="0070C0"/>
              </a:solidFill>
              <a:latin typeface="Poppins" panose="020B0604020202020204" charset="0"/>
              <a:cs typeface="Poppins" panose="020B0604020202020204" charset="0"/>
            </a:endParaRPr>
          </a:p>
          <a:p>
            <a:pPr algn="just"/>
            <a:r>
              <a:rPr lang="it-IT" sz="4800" dirty="0">
                <a:solidFill>
                  <a:srgbClr val="0070C0"/>
                </a:solidFill>
                <a:latin typeface="Poppins" panose="020B0604020202020204" charset="0"/>
                <a:cs typeface="Poppins" panose="020B0604020202020204" charset="0"/>
              </a:rPr>
              <a:t>In questo modo, è possibile ottenere una mappatura riassuntiva dello stato di salute finanziario, economico e contabile di un’impresa.</a:t>
            </a:r>
          </a:p>
        </p:txBody>
      </p:sp>
    </p:spTree>
    <p:extLst>
      <p:ext uri="{BB962C8B-B14F-4D97-AF65-F5344CB8AC3E}">
        <p14:creationId xmlns:p14="http://schemas.microsoft.com/office/powerpoint/2010/main" val="2406641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847492" y="1467200"/>
            <a:ext cx="16593015" cy="8217634"/>
          </a:xfrm>
          <a:prstGeom prst="rect">
            <a:avLst/>
          </a:prstGeom>
          <a:noFill/>
        </p:spPr>
        <p:txBody>
          <a:bodyPr wrap="square">
            <a:spAutoFit/>
          </a:bodyPr>
          <a:lstStyle/>
          <a:p>
            <a:pPr algn="just"/>
            <a:r>
              <a:rPr lang="it-IT" sz="4800" dirty="0">
                <a:solidFill>
                  <a:srgbClr val="0070C0"/>
                </a:solidFill>
                <a:latin typeface="Poppins" panose="020B0604020202020204" charset="0"/>
                <a:cs typeface="Poppins" panose="020B0604020202020204" charset="0"/>
              </a:rPr>
              <a:t>La riclassificazione di un bilancio prevede due operazioni:</a:t>
            </a:r>
          </a:p>
          <a:p>
            <a:pPr algn="just"/>
            <a:endParaRPr lang="it-IT" sz="4800" dirty="0">
              <a:solidFill>
                <a:srgbClr val="0070C0"/>
              </a:solidFill>
              <a:latin typeface="Poppins" panose="020B0604020202020204" charset="0"/>
              <a:cs typeface="Poppins" panose="020B0604020202020204" charset="0"/>
            </a:endParaRPr>
          </a:p>
          <a:p>
            <a:pPr marL="685800" indent="-685800" algn="just">
              <a:buClr>
                <a:srgbClr val="0070C0"/>
              </a:buClr>
              <a:buFont typeface="Arial" panose="020B0604020202020204" pitchFamily="34" charset="0"/>
              <a:buChar char="•"/>
            </a:pPr>
            <a:r>
              <a:rPr lang="it-IT" sz="4800" u="sng" dirty="0">
                <a:solidFill>
                  <a:srgbClr val="0070C0"/>
                </a:solidFill>
                <a:latin typeface="Poppins" panose="020B0604020202020204" charset="0"/>
                <a:cs typeface="Poppins" panose="020B0604020202020204" charset="0"/>
              </a:rPr>
              <a:t>Riclassificazione dello stato patrimoniale</a:t>
            </a:r>
          </a:p>
          <a:p>
            <a:pPr marL="685800" indent="-685800" algn="just">
              <a:buClr>
                <a:srgbClr val="0070C0"/>
              </a:buClr>
              <a:buFont typeface="Arial" panose="020B0604020202020204" pitchFamily="34" charset="0"/>
              <a:buChar char="•"/>
            </a:pPr>
            <a:r>
              <a:rPr lang="it-IT" sz="4800" u="sng" dirty="0">
                <a:solidFill>
                  <a:srgbClr val="0070C0"/>
                </a:solidFill>
                <a:latin typeface="Poppins" panose="020B0604020202020204" charset="0"/>
                <a:cs typeface="Poppins" panose="020B0604020202020204" charset="0"/>
              </a:rPr>
              <a:t>Riclassificazione del conto economico</a:t>
            </a:r>
          </a:p>
          <a:p>
            <a:pPr algn="just"/>
            <a:endParaRPr lang="it-IT" sz="4800" dirty="0">
              <a:solidFill>
                <a:srgbClr val="0070C0"/>
              </a:solidFill>
              <a:latin typeface="Poppins" panose="020B0604020202020204" charset="0"/>
              <a:cs typeface="Poppins" panose="020B0604020202020204" charset="0"/>
            </a:endParaRPr>
          </a:p>
          <a:p>
            <a:pPr algn="just"/>
            <a:r>
              <a:rPr lang="it-IT" sz="4800" dirty="0">
                <a:solidFill>
                  <a:srgbClr val="0070C0"/>
                </a:solidFill>
                <a:latin typeface="Poppins" panose="020B0604020202020204" charset="0"/>
                <a:cs typeface="Poppins" panose="020B0604020202020204" charset="0"/>
              </a:rPr>
              <a:t>I due schemi ottenuti tramite il processo di riclassificazione consentono di mettere in luce aspetti finanziari e contabili diversi come il complesso dei debiti aziendali, il reddito operativo, la provenienza e la forma di incassi e spese ecc..</a:t>
            </a:r>
          </a:p>
        </p:txBody>
      </p:sp>
    </p:spTree>
    <p:extLst>
      <p:ext uri="{BB962C8B-B14F-4D97-AF65-F5344CB8AC3E}">
        <p14:creationId xmlns:p14="http://schemas.microsoft.com/office/powerpoint/2010/main" val="3067661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STATO PATRIMONIALE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847492" y="2270763"/>
            <a:ext cx="16593015" cy="5262979"/>
          </a:xfrm>
          <a:prstGeom prst="rect">
            <a:avLst/>
          </a:prstGeom>
          <a:noFill/>
        </p:spPr>
        <p:txBody>
          <a:bodyPr wrap="square">
            <a:spAutoFit/>
          </a:bodyPr>
          <a:lstStyle/>
          <a:p>
            <a:pPr algn="just"/>
            <a:r>
              <a:rPr lang="it-IT" sz="4800" dirty="0">
                <a:solidFill>
                  <a:srgbClr val="0070C0"/>
                </a:solidFill>
                <a:latin typeface="Poppins" panose="020B0604020202020204" charset="0"/>
                <a:cs typeface="Poppins" panose="020B0604020202020204" charset="0"/>
              </a:rPr>
              <a:t>La riclassificazione dello stato patrimoniale consiste nell’organizzare e rielaborare i dati relativi alle attività e passività di un’impresa. </a:t>
            </a:r>
          </a:p>
          <a:p>
            <a:pPr algn="just"/>
            <a:endParaRPr lang="it-IT" sz="4800" dirty="0">
              <a:solidFill>
                <a:srgbClr val="0070C0"/>
              </a:solidFill>
              <a:latin typeface="Poppins" panose="020B0604020202020204" charset="0"/>
              <a:cs typeface="Poppins" panose="020B0604020202020204" charset="0"/>
            </a:endParaRPr>
          </a:p>
          <a:p>
            <a:pPr algn="just"/>
            <a:r>
              <a:rPr lang="it-IT" sz="4800" dirty="0">
                <a:solidFill>
                  <a:srgbClr val="0070C0"/>
                </a:solidFill>
                <a:latin typeface="Poppins" panose="020B0604020202020204" charset="0"/>
                <a:cs typeface="Poppins" panose="020B0604020202020204" charset="0"/>
              </a:rPr>
              <a:t>L’obiettivo è fornire una fotografia più chiara della consistenza del patrimonio aziendale, mettendone in luce il valore degli impieghi e le fonti di capitale.</a:t>
            </a:r>
          </a:p>
        </p:txBody>
      </p:sp>
    </p:spTree>
    <p:extLst>
      <p:ext uri="{BB962C8B-B14F-4D97-AF65-F5344CB8AC3E}">
        <p14:creationId xmlns:p14="http://schemas.microsoft.com/office/powerpoint/2010/main" val="3223846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STATO PATRIMONIALE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847492" y="1328654"/>
            <a:ext cx="16593015" cy="8156079"/>
          </a:xfrm>
          <a:prstGeom prst="rect">
            <a:avLst/>
          </a:prstGeom>
          <a:noFill/>
        </p:spPr>
        <p:txBody>
          <a:bodyPr wrap="square">
            <a:spAutoFit/>
          </a:bodyPr>
          <a:lstStyle/>
          <a:p>
            <a:pPr algn="just"/>
            <a:r>
              <a:rPr lang="it-IT" sz="4400" dirty="0">
                <a:solidFill>
                  <a:srgbClr val="0070C0"/>
                </a:solidFill>
                <a:latin typeface="Poppins" panose="020B0604020202020204" charset="0"/>
                <a:cs typeface="Poppins" panose="020B0604020202020204" charset="0"/>
              </a:rPr>
              <a:t>Da un punto di vista pratico, riclassificare lo stato patrimoniale significa riorganizzare le voci relative alle attività e passività seguendo principalmente un criterio finanziario.</a:t>
            </a:r>
          </a:p>
          <a:p>
            <a:pPr algn="just"/>
            <a:endParaRPr lang="it-IT" sz="2000" dirty="0">
              <a:solidFill>
                <a:srgbClr val="0070C0"/>
              </a:solidFill>
              <a:latin typeface="Poppins" panose="020B0604020202020204" charset="0"/>
              <a:cs typeface="Poppins" panose="020B0604020202020204" charset="0"/>
            </a:endParaRPr>
          </a:p>
          <a:p>
            <a:pPr algn="just"/>
            <a:r>
              <a:rPr lang="it-IT" sz="4400" dirty="0">
                <a:solidFill>
                  <a:srgbClr val="0070C0"/>
                </a:solidFill>
                <a:latin typeface="Poppins" panose="020B0604020202020204" charset="0"/>
                <a:cs typeface="Poppins" panose="020B0604020202020204" charset="0"/>
              </a:rPr>
              <a:t>In particolare, nel caso delle attività si tiene in considerazione il loro </a:t>
            </a:r>
            <a:r>
              <a:rPr lang="it-IT" sz="4400" u="sng" dirty="0">
                <a:solidFill>
                  <a:srgbClr val="0070C0"/>
                </a:solidFill>
                <a:latin typeface="Poppins" panose="020B0604020202020204" charset="0"/>
                <a:cs typeface="Poppins" panose="020B0604020202020204" charset="0"/>
              </a:rPr>
              <a:t>grado di liquidità</a:t>
            </a:r>
            <a:r>
              <a:rPr lang="it-IT" sz="4400" dirty="0">
                <a:solidFill>
                  <a:srgbClr val="0070C0"/>
                </a:solidFill>
                <a:latin typeface="Poppins" panose="020B0604020202020204" charset="0"/>
                <a:cs typeface="Poppins" panose="020B0604020202020204" charset="0"/>
              </a:rPr>
              <a:t>, inteso come la capacità/possibilità di essere trasformate in forma liquida, ossia in moneta, nel breve o lungo termine.</a:t>
            </a:r>
          </a:p>
          <a:p>
            <a:pPr algn="just"/>
            <a:endParaRPr lang="it-IT" sz="2000" dirty="0">
              <a:solidFill>
                <a:srgbClr val="0070C0"/>
              </a:solidFill>
              <a:latin typeface="Poppins" panose="020B0604020202020204" charset="0"/>
              <a:cs typeface="Poppins" panose="020B0604020202020204" charset="0"/>
            </a:endParaRPr>
          </a:p>
          <a:p>
            <a:pPr algn="just"/>
            <a:r>
              <a:rPr lang="it-IT" sz="4400" dirty="0">
                <a:solidFill>
                  <a:srgbClr val="0070C0"/>
                </a:solidFill>
                <a:latin typeface="Poppins" panose="020B0604020202020204" charset="0"/>
                <a:cs typeface="Poppins" panose="020B0604020202020204" charset="0"/>
              </a:rPr>
              <a:t>La riclassificazione delle passività, invece, si basa sul loro </a:t>
            </a:r>
            <a:r>
              <a:rPr lang="it-IT" sz="4400" u="sng" dirty="0">
                <a:solidFill>
                  <a:srgbClr val="0070C0"/>
                </a:solidFill>
                <a:latin typeface="Poppins" panose="020B0604020202020204" charset="0"/>
                <a:cs typeface="Poppins" panose="020B0604020202020204" charset="0"/>
              </a:rPr>
              <a:t>grado di esigibilità</a:t>
            </a:r>
            <a:r>
              <a:rPr lang="it-IT" sz="4400" dirty="0">
                <a:solidFill>
                  <a:srgbClr val="0070C0"/>
                </a:solidFill>
                <a:latin typeface="Poppins" panose="020B0604020202020204" charset="0"/>
                <a:cs typeface="Poppins" panose="020B0604020202020204" charset="0"/>
              </a:rPr>
              <a:t>, ossia sul tempo entro cui devono avvenire i pagamenti.</a:t>
            </a:r>
          </a:p>
        </p:txBody>
      </p:sp>
    </p:spTree>
    <p:extLst>
      <p:ext uri="{BB962C8B-B14F-4D97-AF65-F5344CB8AC3E}">
        <p14:creationId xmlns:p14="http://schemas.microsoft.com/office/powerpoint/2010/main" val="2479403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STATO PATRIMONIALE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847492" y="3743116"/>
            <a:ext cx="16593015" cy="2800767"/>
          </a:xfrm>
          <a:prstGeom prst="rect">
            <a:avLst/>
          </a:prstGeom>
          <a:noFill/>
        </p:spPr>
        <p:txBody>
          <a:bodyPr wrap="square">
            <a:spAutoFit/>
          </a:bodyPr>
          <a:lstStyle/>
          <a:p>
            <a:pPr algn="just"/>
            <a:r>
              <a:rPr lang="it-IT" sz="4400" dirty="0">
                <a:solidFill>
                  <a:srgbClr val="0070C0"/>
                </a:solidFill>
                <a:latin typeface="Poppins" panose="020B0604020202020204" charset="0"/>
                <a:cs typeface="Poppins" panose="020B0604020202020204" charset="0"/>
              </a:rPr>
              <a:t>Il criterio finanziario consente di riorganizzare le voci dello stato patrimoniale in base alla velocità di trasformazione in moneta in tempi brevi/lunghi sotto forma di incassi o pagamenti.</a:t>
            </a:r>
          </a:p>
        </p:txBody>
      </p:sp>
    </p:spTree>
    <p:extLst>
      <p:ext uri="{BB962C8B-B14F-4D97-AF65-F5344CB8AC3E}">
        <p14:creationId xmlns:p14="http://schemas.microsoft.com/office/powerpoint/2010/main" val="1428214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STATO PATRIMONIALE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847492" y="1217817"/>
            <a:ext cx="16593015" cy="8710077"/>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In tal prospettiva, è possibile distinguere tra:</a:t>
            </a:r>
          </a:p>
          <a:p>
            <a:pPr algn="just"/>
            <a:endParaRPr lang="it-IT" sz="40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4000" u="sng" dirty="0">
                <a:solidFill>
                  <a:srgbClr val="0070C0"/>
                </a:solidFill>
                <a:latin typeface="Poppins" panose="020B0604020202020204" charset="0"/>
                <a:cs typeface="Poppins" panose="020B0604020202020204" charset="0"/>
              </a:rPr>
              <a:t>attività o impieghi di capitale correnti o circolanti</a:t>
            </a:r>
            <a:r>
              <a:rPr lang="it-IT" sz="4000" dirty="0">
                <a:solidFill>
                  <a:srgbClr val="0070C0"/>
                </a:solidFill>
                <a:latin typeface="Poppins" panose="020B0604020202020204" charset="0"/>
                <a:cs typeface="Poppins" panose="020B0604020202020204" charset="0"/>
              </a:rPr>
              <a:t>, cioè liquidabili in breve termine (entro 12 mesi), per esempio i BOT semestrali, i titoli negoziabili a vista, le rimanenze del magazzino, ecc.</a:t>
            </a:r>
          </a:p>
          <a:p>
            <a:pPr marL="571500" indent="-571500" algn="just">
              <a:buClr>
                <a:srgbClr val="0070C0"/>
              </a:buClr>
              <a:buFont typeface="Arial" panose="020B0604020202020204" pitchFamily="34" charset="0"/>
              <a:buChar char="•"/>
            </a:pPr>
            <a:r>
              <a:rPr lang="it-IT" sz="4000" u="sng" dirty="0">
                <a:solidFill>
                  <a:srgbClr val="0070C0"/>
                </a:solidFill>
                <a:latin typeface="Poppins" panose="020B0604020202020204" charset="0"/>
                <a:cs typeface="Poppins" panose="020B0604020202020204" charset="0"/>
              </a:rPr>
              <a:t>attività consolidate</a:t>
            </a:r>
            <a:r>
              <a:rPr lang="it-IT" sz="4000" dirty="0">
                <a:solidFill>
                  <a:srgbClr val="0070C0"/>
                </a:solidFill>
                <a:latin typeface="Poppins" panose="020B0604020202020204" charset="0"/>
                <a:cs typeface="Poppins" panose="020B0604020202020204" charset="0"/>
              </a:rPr>
              <a:t>, ossia a lungo termine come, per esempio, le immobilizzazioni immateriali, materiali e finanziarie o gli investimenti di durata pluriennale che possono essere trasformate in moneta gradualmente</a:t>
            </a:r>
          </a:p>
          <a:p>
            <a:pPr marL="571500" indent="-571500" algn="just">
              <a:buClr>
                <a:srgbClr val="0070C0"/>
              </a:buClr>
              <a:buFont typeface="Arial" panose="020B0604020202020204" pitchFamily="34" charset="0"/>
              <a:buChar char="•"/>
            </a:pPr>
            <a:r>
              <a:rPr lang="it-IT" sz="4000" u="sng" dirty="0">
                <a:solidFill>
                  <a:srgbClr val="0070C0"/>
                </a:solidFill>
                <a:latin typeface="Poppins" panose="020B0604020202020204" charset="0"/>
                <a:cs typeface="Poppins" panose="020B0604020202020204" charset="0"/>
              </a:rPr>
              <a:t>passività correnti</a:t>
            </a:r>
            <a:r>
              <a:rPr lang="it-IT" sz="4000" dirty="0">
                <a:solidFill>
                  <a:srgbClr val="0070C0"/>
                </a:solidFill>
                <a:latin typeface="Poppins" panose="020B0604020202020204" charset="0"/>
                <a:cs typeface="Poppins" panose="020B0604020202020204" charset="0"/>
              </a:rPr>
              <a:t>, cioè i debiti da saldare a breve termine</a:t>
            </a:r>
          </a:p>
          <a:p>
            <a:pPr marL="571500" indent="-571500" algn="just">
              <a:buClr>
                <a:srgbClr val="0070C0"/>
              </a:buClr>
              <a:buFont typeface="Arial" panose="020B0604020202020204" pitchFamily="34" charset="0"/>
              <a:buChar char="•"/>
            </a:pPr>
            <a:r>
              <a:rPr lang="it-IT" sz="4000" u="sng" dirty="0">
                <a:solidFill>
                  <a:srgbClr val="0070C0"/>
                </a:solidFill>
                <a:latin typeface="Poppins" panose="020B0604020202020204" charset="0"/>
                <a:cs typeface="Poppins" panose="020B0604020202020204" charset="0"/>
              </a:rPr>
              <a:t>passività consolidate</a:t>
            </a:r>
            <a:r>
              <a:rPr lang="it-IT" sz="4000" dirty="0">
                <a:solidFill>
                  <a:srgbClr val="0070C0"/>
                </a:solidFill>
                <a:latin typeface="Poppins" panose="020B0604020202020204" charset="0"/>
                <a:cs typeface="Poppins" panose="020B0604020202020204" charset="0"/>
              </a:rPr>
              <a:t>, ossia i finanziamenti pluriennali (ad es. il mutuo) e le forme di capitale di credito con scadenza superiore a 12 mesi.</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4019469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STATO PATRIMONIALE </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847492" y="1771998"/>
            <a:ext cx="16593015" cy="7478970"/>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Nel caso di un rimborso secondo rate periodiche, le quote che scadono entro l’anno vanno inserite nelle passività correnti, mentre, quelle successive, rientrano nelle passività consolidate.</a:t>
            </a:r>
          </a:p>
          <a:p>
            <a:pPr algn="just"/>
            <a:endParaRPr lang="it-IT" sz="4000" dirty="0">
              <a:solidFill>
                <a:srgbClr val="0070C0"/>
              </a:solidFill>
              <a:latin typeface="Poppins" panose="020B0604020202020204" charset="0"/>
              <a:cs typeface="Poppins" panose="020B0604020202020204" charset="0"/>
            </a:endParaRPr>
          </a:p>
          <a:p>
            <a:pPr algn="just"/>
            <a:r>
              <a:rPr lang="it-IT" sz="4000" dirty="0">
                <a:solidFill>
                  <a:srgbClr val="0070C0"/>
                </a:solidFill>
                <a:latin typeface="Poppins" panose="020B0604020202020204" charset="0"/>
                <a:cs typeface="Poppins" panose="020B0604020202020204" charset="0"/>
              </a:rPr>
              <a:t>Stesso meccanismo va applicato anche ai fondi per le spese in preventivo.</a:t>
            </a:r>
          </a:p>
          <a:p>
            <a:pPr algn="just"/>
            <a:endParaRPr lang="it-IT" sz="4000" dirty="0">
              <a:solidFill>
                <a:srgbClr val="0070C0"/>
              </a:solidFill>
              <a:latin typeface="Poppins" panose="020B0604020202020204" charset="0"/>
              <a:cs typeface="Poppins" panose="020B0604020202020204" charset="0"/>
            </a:endParaRPr>
          </a:p>
          <a:p>
            <a:pPr algn="just"/>
            <a:r>
              <a:rPr lang="it-IT" sz="4000" dirty="0">
                <a:solidFill>
                  <a:srgbClr val="0070C0"/>
                </a:solidFill>
                <a:latin typeface="Poppins" panose="020B0604020202020204" charset="0"/>
                <a:cs typeface="Poppins" panose="020B0604020202020204" charset="0"/>
              </a:rPr>
              <a:t>Infine, altra voce importante nello stato patrimoniale riclassificato è il capitale netto o proprio che indica il capitale di proprietà dell’imprenditore utilizzabile come fonte di finanziamento aziendale.</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048674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847492" y="2327344"/>
            <a:ext cx="16593015" cy="5632311"/>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La procedura di riclassificazione del conto economico ha come obiettivo quello di riorganizzare e confrontare i costi e ricavi aziendali, separando il reddito derivante dalla gestione ordinaria (o corrente) da quello straordinario.</a:t>
            </a:r>
          </a:p>
          <a:p>
            <a:pPr algn="just"/>
            <a:endParaRPr lang="it-IT" sz="4000" dirty="0">
              <a:solidFill>
                <a:srgbClr val="0070C0"/>
              </a:solidFill>
              <a:latin typeface="Poppins" panose="020B0604020202020204" charset="0"/>
              <a:cs typeface="Poppins" panose="020B0604020202020204" charset="0"/>
            </a:endParaRPr>
          </a:p>
          <a:p>
            <a:pPr algn="just"/>
            <a:r>
              <a:rPr lang="it-IT" sz="4000" dirty="0">
                <a:solidFill>
                  <a:srgbClr val="0070C0"/>
                </a:solidFill>
                <a:latin typeface="Poppins" panose="020B0604020202020204" charset="0"/>
                <a:cs typeface="Poppins" panose="020B0604020202020204" charset="0"/>
              </a:rPr>
              <a:t>Nel conto economico riclassificato, ad esempio, vengono elencati i costi generali di sede, il costo dei fattori produttivi, i costi di produzione, vendita, ricerca e sviluppo, i costi per la pubblicità ecc.</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94597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180002" y="2019568"/>
            <a:ext cx="6408024" cy="6247864"/>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Il conto economico riclassificato consente di avere una visione immediata del “</a:t>
            </a:r>
            <a:r>
              <a:rPr lang="it-IT" sz="4000" u="sng" dirty="0">
                <a:solidFill>
                  <a:srgbClr val="0070C0"/>
                </a:solidFill>
                <a:latin typeface="Poppins" panose="020B0604020202020204" charset="0"/>
                <a:cs typeface="Poppins" panose="020B0604020202020204" charset="0"/>
              </a:rPr>
              <a:t>punto di pareggio</a:t>
            </a:r>
            <a:r>
              <a:rPr lang="it-IT" sz="4000" dirty="0">
                <a:solidFill>
                  <a:srgbClr val="0070C0"/>
                </a:solidFill>
                <a:latin typeface="Poppins" panose="020B0604020202020204" charset="0"/>
                <a:cs typeface="Poppins" panose="020B0604020202020204" charset="0"/>
              </a:rPr>
              <a:t>” ossia del livello di produzione e vendita che un’azienda deve superare per iniziare a generare </a:t>
            </a:r>
            <a:r>
              <a:rPr lang="it-IT" sz="4000" u="sng" dirty="0">
                <a:solidFill>
                  <a:srgbClr val="0070C0"/>
                </a:solidFill>
                <a:latin typeface="Poppins" panose="020B0604020202020204" charset="0"/>
                <a:cs typeface="Poppins" panose="020B0604020202020204" charset="0"/>
              </a:rPr>
              <a:t>profitti</a:t>
            </a:r>
            <a:r>
              <a:rPr lang="it-IT" sz="4000" dirty="0">
                <a:solidFill>
                  <a:srgbClr val="0070C0"/>
                </a:solidFill>
                <a:latin typeface="Poppins" panose="020B0604020202020204" charset="0"/>
                <a:cs typeface="Poppins" panose="020B0604020202020204" charset="0"/>
              </a:rPr>
              <a:t>.</a:t>
            </a:r>
            <a:endParaRPr lang="it-IT" sz="4400" dirty="0">
              <a:solidFill>
                <a:srgbClr val="0070C0"/>
              </a:solidFill>
              <a:latin typeface="Poppins" panose="020B0604020202020204" charset="0"/>
              <a:cs typeface="Poppins" panose="020B0604020202020204" charset="0"/>
            </a:endParaRPr>
          </a:p>
        </p:txBody>
      </p:sp>
      <p:pic>
        <p:nvPicPr>
          <p:cNvPr id="2" name="Immagine 1">
            <a:extLst>
              <a:ext uri="{FF2B5EF4-FFF2-40B4-BE49-F238E27FC236}">
                <a16:creationId xmlns:a16="http://schemas.microsoft.com/office/drawing/2014/main" id="{0B3BCEFB-576C-445B-9E9A-3981651D4449}"/>
              </a:ext>
            </a:extLst>
          </p:cNvPr>
          <p:cNvPicPr>
            <a:picLocks noChangeAspect="1"/>
          </p:cNvPicPr>
          <p:nvPr/>
        </p:nvPicPr>
        <p:blipFill rotWithShape="1">
          <a:blip r:embed="rId3"/>
          <a:srcRect l="10489" t="8494" r="8951" b="5289"/>
          <a:stretch/>
        </p:blipFill>
        <p:spPr>
          <a:xfrm>
            <a:off x="8103009" y="1772530"/>
            <a:ext cx="9691185" cy="7357492"/>
          </a:xfrm>
          <a:prstGeom prst="rect">
            <a:avLst/>
          </a:prstGeom>
        </p:spPr>
      </p:pic>
    </p:spTree>
    <p:extLst>
      <p:ext uri="{BB962C8B-B14F-4D97-AF65-F5344CB8AC3E}">
        <p14:creationId xmlns:p14="http://schemas.microsoft.com/office/powerpoint/2010/main" val="2228823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019568"/>
            <a:ext cx="16415271" cy="5632311"/>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Grazie al conto economico riclassificato, inoltre, un’impresa può sapere in maniera dettagliata se e come un eventuale utile provenga da una </a:t>
            </a:r>
            <a:r>
              <a:rPr lang="it-IT" sz="4000" u="sng" dirty="0">
                <a:solidFill>
                  <a:srgbClr val="0070C0"/>
                </a:solidFill>
                <a:latin typeface="Poppins" panose="020B0604020202020204" charset="0"/>
                <a:cs typeface="Poppins" panose="020B0604020202020204" charset="0"/>
              </a:rPr>
              <a:t>gestione ordinaria </a:t>
            </a:r>
            <a:r>
              <a:rPr lang="it-IT" sz="4000" dirty="0">
                <a:solidFill>
                  <a:srgbClr val="0070C0"/>
                </a:solidFill>
                <a:latin typeface="Poppins" panose="020B0604020202020204" charset="0"/>
                <a:cs typeface="Poppins" panose="020B0604020202020204" charset="0"/>
              </a:rPr>
              <a:t>(e possa, quindi, rappresentare un congruo profitto) oppure da una </a:t>
            </a:r>
            <a:r>
              <a:rPr lang="it-IT" sz="4000" u="sng" dirty="0">
                <a:solidFill>
                  <a:srgbClr val="0070C0"/>
                </a:solidFill>
                <a:latin typeface="Poppins" panose="020B0604020202020204" charset="0"/>
                <a:cs typeface="Poppins" panose="020B0604020202020204" charset="0"/>
              </a:rPr>
              <a:t>straordinaria</a:t>
            </a:r>
            <a:r>
              <a:rPr lang="it-IT" sz="4000" dirty="0">
                <a:solidFill>
                  <a:srgbClr val="0070C0"/>
                </a:solidFill>
                <a:latin typeface="Poppins" panose="020B0604020202020204" charset="0"/>
                <a:cs typeface="Poppins" panose="020B0604020202020204" charset="0"/>
              </a:rPr>
              <a:t>.</a:t>
            </a:r>
          </a:p>
          <a:p>
            <a:pPr algn="just"/>
            <a:endParaRPr lang="it-IT" sz="4000" dirty="0">
              <a:solidFill>
                <a:srgbClr val="0070C0"/>
              </a:solidFill>
              <a:latin typeface="Poppins" panose="020B0604020202020204" charset="0"/>
              <a:cs typeface="Poppins" panose="020B0604020202020204" charset="0"/>
            </a:endParaRPr>
          </a:p>
          <a:p>
            <a:pPr algn="just"/>
            <a:r>
              <a:rPr lang="it-IT" sz="4000" dirty="0">
                <a:solidFill>
                  <a:srgbClr val="0070C0"/>
                </a:solidFill>
                <a:latin typeface="Poppins" panose="020B0604020202020204" charset="0"/>
                <a:cs typeface="Poppins" panose="020B0604020202020204" charset="0"/>
              </a:rPr>
              <a:t>Il problema, in questo secondo caso, è che, difficilmente, un utile derivante da una gestione straordinaria potrà ripetersi nell’anno successivo.</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136538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1881023"/>
            <a:ext cx="16415271" cy="6494085"/>
          </a:xfrm>
          <a:prstGeom prst="rect">
            <a:avLst/>
          </a:prstGeom>
          <a:noFill/>
        </p:spPr>
        <p:txBody>
          <a:bodyPr wrap="square">
            <a:spAutoFit/>
          </a:bodyPr>
          <a:lstStyle/>
          <a:p>
            <a:pPr algn="just"/>
            <a:r>
              <a:rPr lang="it-IT" sz="3200" dirty="0">
                <a:solidFill>
                  <a:srgbClr val="0070C0"/>
                </a:solidFill>
                <a:latin typeface="Poppins" panose="020B0604020202020204" charset="0"/>
                <a:cs typeface="Poppins" panose="020B0604020202020204" charset="0"/>
              </a:rPr>
              <a:t>La </a:t>
            </a:r>
            <a:r>
              <a:rPr lang="it-IT" sz="3200" u="sng" dirty="0">
                <a:solidFill>
                  <a:srgbClr val="0070C0"/>
                </a:solidFill>
                <a:latin typeface="Poppins" panose="020B0604020202020204" charset="0"/>
                <a:cs typeface="Poppins" panose="020B0604020202020204" charset="0"/>
              </a:rPr>
              <a:t>gestione ordinaria</a:t>
            </a:r>
            <a:r>
              <a:rPr lang="it-IT" sz="3200" dirty="0">
                <a:solidFill>
                  <a:srgbClr val="0070C0"/>
                </a:solidFill>
                <a:latin typeface="Poppins" panose="020B0604020202020204" charset="0"/>
                <a:cs typeface="Poppins" panose="020B0604020202020204" charset="0"/>
              </a:rPr>
              <a:t>, ossia quella relativa alle normali operazioni aziendali, comprende:</a:t>
            </a:r>
          </a:p>
          <a:p>
            <a:pPr algn="just"/>
            <a:endParaRPr lang="it-IT" sz="32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3200" u="sng" dirty="0">
                <a:solidFill>
                  <a:srgbClr val="0070C0"/>
                </a:solidFill>
                <a:latin typeface="Poppins" panose="020B0604020202020204" charset="0"/>
                <a:cs typeface="Poppins" panose="020B0604020202020204" charset="0"/>
              </a:rPr>
              <a:t>gestione caratteristica, tipica o operativa</a:t>
            </a:r>
            <a:r>
              <a:rPr lang="it-IT" sz="3200" dirty="0">
                <a:solidFill>
                  <a:srgbClr val="0070C0"/>
                </a:solidFill>
                <a:latin typeface="Poppins" panose="020B0604020202020204" charset="0"/>
                <a:cs typeface="Poppins" panose="020B0604020202020204" charset="0"/>
              </a:rPr>
              <a:t>: evidenzia la differenza tra costi e ricavi relativi all’attività tipica dell’azienda;</a:t>
            </a:r>
          </a:p>
          <a:p>
            <a:pPr marL="571500" indent="-571500" algn="just">
              <a:buClr>
                <a:srgbClr val="0070C0"/>
              </a:buClr>
              <a:buFont typeface="Arial" panose="020B0604020202020204" pitchFamily="34" charset="0"/>
              <a:buChar char="•"/>
            </a:pPr>
            <a:r>
              <a:rPr lang="it-IT" sz="3200" u="sng" dirty="0">
                <a:solidFill>
                  <a:srgbClr val="0070C0"/>
                </a:solidFill>
                <a:latin typeface="Poppins" panose="020B0604020202020204" charset="0"/>
                <a:cs typeface="Poppins" panose="020B0604020202020204" charset="0"/>
              </a:rPr>
              <a:t>gestione patrimoniale, accessoria o atipica</a:t>
            </a:r>
            <a:r>
              <a:rPr lang="it-IT" sz="3200" dirty="0">
                <a:solidFill>
                  <a:srgbClr val="0070C0"/>
                </a:solidFill>
                <a:latin typeface="Poppins" panose="020B0604020202020204" charset="0"/>
                <a:cs typeface="Poppins" panose="020B0604020202020204" charset="0"/>
              </a:rPr>
              <a:t>: riassume i proventi e gli oneri derivanti da attività secondarie rispetto a quelle tipiche dell’impresa, per esempio la locazione di beni come ulteriore entrata;</a:t>
            </a:r>
          </a:p>
          <a:p>
            <a:pPr marL="571500" indent="-571500" algn="just">
              <a:buClr>
                <a:srgbClr val="0070C0"/>
              </a:buClr>
              <a:buFont typeface="Arial" panose="020B0604020202020204" pitchFamily="34" charset="0"/>
              <a:buChar char="•"/>
            </a:pPr>
            <a:r>
              <a:rPr lang="it-IT" sz="3200" u="sng" dirty="0">
                <a:solidFill>
                  <a:srgbClr val="0070C0"/>
                </a:solidFill>
                <a:latin typeface="Poppins" panose="020B0604020202020204" charset="0"/>
                <a:cs typeface="Poppins" panose="020B0604020202020204" charset="0"/>
              </a:rPr>
              <a:t>gestione finanziaria</a:t>
            </a:r>
            <a:r>
              <a:rPr lang="it-IT" sz="3200" dirty="0">
                <a:solidFill>
                  <a:srgbClr val="0070C0"/>
                </a:solidFill>
                <a:latin typeface="Poppins" panose="020B0604020202020204" charset="0"/>
                <a:cs typeface="Poppins" panose="020B0604020202020204" charset="0"/>
              </a:rPr>
              <a:t>: mette in luce la differenza tra ricavi e costi finanziari necessari per lo svolgimento dell’attività imprenditoriale e evidenzia l’impiego delle eventuali risorse eccedenti</a:t>
            </a:r>
          </a:p>
          <a:p>
            <a:pPr marL="571500" indent="-571500" algn="just">
              <a:buClr>
                <a:srgbClr val="0070C0"/>
              </a:buClr>
              <a:buFont typeface="Arial" panose="020B0604020202020204" pitchFamily="34" charset="0"/>
              <a:buChar char="•"/>
            </a:pPr>
            <a:r>
              <a:rPr lang="it-IT" sz="3200" u="sng" dirty="0">
                <a:solidFill>
                  <a:srgbClr val="0070C0"/>
                </a:solidFill>
                <a:latin typeface="Poppins" panose="020B0604020202020204" charset="0"/>
                <a:cs typeface="Poppins" panose="020B0604020202020204" charset="0"/>
              </a:rPr>
              <a:t>gestione fiscale</a:t>
            </a:r>
            <a:r>
              <a:rPr lang="it-IT" sz="3200" dirty="0">
                <a:solidFill>
                  <a:srgbClr val="0070C0"/>
                </a:solidFill>
                <a:latin typeface="Poppins" panose="020B0604020202020204" charset="0"/>
                <a:cs typeface="Poppins" panose="020B0604020202020204" charset="0"/>
              </a:rPr>
              <a:t>: schematizza e evidenzia le uscite dovute per il pagamento delle imposte.</a:t>
            </a:r>
            <a:endParaRPr lang="it-IT" sz="36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1487325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878551"/>
            <a:ext cx="16415271" cy="3170099"/>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La </a:t>
            </a:r>
            <a:r>
              <a:rPr lang="it-IT" sz="4000" u="sng" dirty="0">
                <a:solidFill>
                  <a:srgbClr val="0070C0"/>
                </a:solidFill>
                <a:latin typeface="Poppins" panose="020B0604020202020204" charset="0"/>
                <a:cs typeface="Poppins" panose="020B0604020202020204" charset="0"/>
              </a:rPr>
              <a:t>gestione straordinaria</a:t>
            </a:r>
            <a:r>
              <a:rPr lang="it-IT" sz="4000" dirty="0">
                <a:solidFill>
                  <a:srgbClr val="0070C0"/>
                </a:solidFill>
                <a:latin typeface="Poppins" panose="020B0604020202020204" charset="0"/>
                <a:cs typeface="Poppins" panose="020B0604020202020204" charset="0"/>
              </a:rPr>
              <a:t>, invece, esprime la differenza tra ricavi e costi derivanti da “fenomeni di carattere episodico ed eccezionale”, ad esempio i furti o gli incendi, la gestione straordinaria degli impianti, le vendite eccezionali di beni ammortizzabili (come i macchinari o gli impianti) ecc.</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2911550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1188297"/>
            <a:ext cx="16415271" cy="8279190"/>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Per riorganizzare il conto economico non esiste uno schema di riclassificazione unico. Generalmente si utilizzano tre modelli:</a:t>
            </a:r>
          </a:p>
          <a:p>
            <a:pPr algn="just"/>
            <a:endParaRPr lang="it-IT" sz="36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3600" u="sng" dirty="0">
                <a:solidFill>
                  <a:srgbClr val="0070C0"/>
                </a:solidFill>
                <a:latin typeface="Poppins" panose="020B0604020202020204" charset="0"/>
                <a:cs typeface="Poppins" panose="020B0604020202020204" charset="0"/>
              </a:rPr>
              <a:t>a valore aggiunto</a:t>
            </a:r>
            <a:r>
              <a:rPr lang="it-IT" sz="3600" dirty="0">
                <a:solidFill>
                  <a:srgbClr val="0070C0"/>
                </a:solidFill>
                <a:latin typeface="Poppins" panose="020B0604020202020204" charset="0"/>
                <a:cs typeface="Poppins" panose="020B0604020202020204" charset="0"/>
              </a:rPr>
              <a:t>: consiste nel calcolare la differenza tra il valore della produzione di un esercizio e i costi operativi (materie prime, servizi, impianti) interni ed esterni sostenuti per ottenere quella produzione</a:t>
            </a:r>
          </a:p>
          <a:p>
            <a:pPr marL="571500" indent="-571500" algn="just">
              <a:buClr>
                <a:srgbClr val="0070C0"/>
              </a:buClr>
              <a:buFont typeface="Arial" panose="020B0604020202020204" pitchFamily="34" charset="0"/>
              <a:buChar char="•"/>
            </a:pPr>
            <a:r>
              <a:rPr lang="it-IT" sz="3600" u="sng" dirty="0">
                <a:solidFill>
                  <a:srgbClr val="0070C0"/>
                </a:solidFill>
                <a:latin typeface="Poppins" panose="020B0604020202020204" charset="0"/>
                <a:cs typeface="Poppins" panose="020B0604020202020204" charset="0"/>
              </a:rPr>
              <a:t>a margine di contribuzione</a:t>
            </a:r>
            <a:r>
              <a:rPr lang="it-IT" sz="3600" dirty="0">
                <a:solidFill>
                  <a:srgbClr val="0070C0"/>
                </a:solidFill>
                <a:latin typeface="Poppins" panose="020B0604020202020204" charset="0"/>
                <a:cs typeface="Poppins" panose="020B0604020202020204" charset="0"/>
              </a:rPr>
              <a:t>: consiste nel suddividere i costi operativi in costi variabili e fissi e permette di valutare l’incidenza dei costi variabili sul totale dei costi aziendali</a:t>
            </a:r>
          </a:p>
          <a:p>
            <a:pPr marL="571500" indent="-571500" algn="just">
              <a:buClr>
                <a:srgbClr val="0070C0"/>
              </a:buClr>
              <a:buFont typeface="Arial" panose="020B0604020202020204" pitchFamily="34" charset="0"/>
              <a:buChar char="•"/>
            </a:pPr>
            <a:r>
              <a:rPr lang="it-IT" sz="3600" u="sng" dirty="0">
                <a:solidFill>
                  <a:srgbClr val="0070C0"/>
                </a:solidFill>
                <a:latin typeface="Poppins" panose="020B0604020202020204" charset="0"/>
                <a:cs typeface="Poppins" panose="020B0604020202020204" charset="0"/>
              </a:rPr>
              <a:t>a costo del venduto</a:t>
            </a:r>
            <a:r>
              <a:rPr lang="it-IT" sz="3600" dirty="0">
                <a:solidFill>
                  <a:srgbClr val="0070C0"/>
                </a:solidFill>
                <a:latin typeface="Poppins" panose="020B0604020202020204" charset="0"/>
                <a:cs typeface="Poppins" panose="020B0604020202020204" charset="0"/>
              </a:rPr>
              <a:t>: permette di suddividere i costi operativi in costi diretti e indiretti e offre una panoramica della situazione economica aziendale.</a:t>
            </a:r>
          </a:p>
          <a:p>
            <a:pPr marL="571500" indent="-571500" algn="just">
              <a:buFont typeface="Arial" panose="020B0604020202020204" pitchFamily="34" charset="0"/>
              <a:buChar char="•"/>
            </a:pPr>
            <a:endParaRPr lang="it-IT" sz="28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Ognuno dei tre modelli serve per mettere in luce aspetti diversi. </a:t>
            </a:r>
            <a:endParaRPr lang="it-IT" sz="40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4069164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047279"/>
            <a:ext cx="16415271" cy="5078313"/>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La determinazione del </a:t>
            </a:r>
            <a:r>
              <a:rPr lang="it-IT" sz="3600" u="sng" dirty="0">
                <a:solidFill>
                  <a:srgbClr val="0070C0"/>
                </a:solidFill>
                <a:latin typeface="Poppins" panose="020B0604020202020204" charset="0"/>
                <a:cs typeface="Poppins" panose="020B0604020202020204" charset="0"/>
              </a:rPr>
              <a:t>valore aggiunto </a:t>
            </a:r>
            <a:r>
              <a:rPr lang="it-IT" sz="3600" dirty="0">
                <a:solidFill>
                  <a:srgbClr val="0070C0"/>
                </a:solidFill>
                <a:latin typeface="Poppins" panose="020B0604020202020204" charset="0"/>
                <a:cs typeface="Poppins" panose="020B0604020202020204" charset="0"/>
              </a:rPr>
              <a:t>permette di valutare quanto valore un’impresa è riuscita ad aggiungere alle materie prime e alle risorse comprate da terzi. Questo modello può essere particolarmente utile per redigere il Bilancio Sociale.</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Oltre al reddito operativo, il conto economico riclassificato a valore aggiunto, permette di evidenziare il valore della produzione ottenuta, il margine operativo lordo, nonché il valore aggiunto caratteristico.</a:t>
            </a:r>
            <a:endParaRPr lang="it-IT" sz="40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1267477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1464223"/>
            <a:ext cx="16415271" cy="7848302"/>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La riclassificazione del conto economico a valore aggiunto (EVA) è uno strumento di misurazione della performance economica che sottolinea la creazione di valore da parte di un'azienda.</a:t>
            </a:r>
          </a:p>
          <a:p>
            <a:pPr algn="just"/>
            <a:r>
              <a:rPr lang="it-IT" sz="3600" dirty="0">
                <a:solidFill>
                  <a:srgbClr val="0070C0"/>
                </a:solidFill>
                <a:latin typeface="Poppins" panose="020B0604020202020204" charset="0"/>
                <a:cs typeface="Poppins" panose="020B0604020202020204" charset="0"/>
              </a:rPr>
              <a:t>In generale, indipendentemente dallo schema adottato, la riclassificazione del conto economico permette di:</a:t>
            </a:r>
          </a:p>
          <a:p>
            <a:pPr algn="just"/>
            <a:endParaRPr lang="it-IT" sz="36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ricostruire e mettere in evidenza parametri importanti per valutare l'andamento della gestione aziendale, come ad esempio il valore aggiunto o il reddito operativo;</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agevolare l'interpretazione delle dinamiche aziendali, suddividendo i dati in base alla finalità (funzionale, gestionale, finanziaria, ecc.);</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facilitare il confronto dei dati nel tempo e nello spazio tramite la determinazione di una serie di risultati intermedi.</a:t>
            </a:r>
          </a:p>
        </p:txBody>
      </p:sp>
    </p:spTree>
    <p:extLst>
      <p:ext uri="{BB962C8B-B14F-4D97-AF65-F5344CB8AC3E}">
        <p14:creationId xmlns:p14="http://schemas.microsoft.com/office/powerpoint/2010/main" val="419994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378624"/>
            <a:ext cx="16415271" cy="6370975"/>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In particolare, il conto economico a valore aggiunto permette di valutare quanto valore l'azienda è riuscita ad aggiungere, con i suoi processi produttivi, alle risorse acquisite da altri soggetti.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In altri termini, il conto economico riclassificato a valore aggiunto evidenzia la capacità di un'azienda di produrre ricchezza attraverso la propria attività.</a:t>
            </a:r>
          </a:p>
          <a:p>
            <a:pPr algn="just"/>
            <a:endParaRPr lang="it-IT" sz="3600" dirty="0">
              <a:solidFill>
                <a:srgbClr val="0070C0"/>
              </a:solidFill>
              <a:latin typeface="Poppins" panose="020B0604020202020204" charset="0"/>
              <a:cs typeface="Poppins" panose="020B0604020202020204" charset="0"/>
            </a:endParaRPr>
          </a:p>
          <a:p>
            <a:pPr algn="just"/>
            <a:r>
              <a:rPr lang="it-IT" sz="4000" dirty="0">
                <a:solidFill>
                  <a:srgbClr val="0070C0"/>
                </a:solidFill>
                <a:latin typeface="Poppins" panose="020B0604020202020204" charset="0"/>
                <a:cs typeface="Poppins" panose="020B0604020202020204" charset="0"/>
              </a:rPr>
              <a:t>Più nello specifico, con il conto economico a valore aggiunto è possibile determinare due importanti indicatori: il </a:t>
            </a:r>
            <a:r>
              <a:rPr lang="it-IT" sz="4000" u="sng" dirty="0">
                <a:solidFill>
                  <a:srgbClr val="0070C0"/>
                </a:solidFill>
                <a:latin typeface="Poppins" panose="020B0604020202020204" charset="0"/>
                <a:cs typeface="Poppins" panose="020B0604020202020204" charset="0"/>
              </a:rPr>
              <a:t>margine operativo lordo</a:t>
            </a:r>
            <a:r>
              <a:rPr lang="it-IT" sz="4000" dirty="0">
                <a:solidFill>
                  <a:srgbClr val="0070C0"/>
                </a:solidFill>
                <a:latin typeface="Poppins" panose="020B0604020202020204" charset="0"/>
                <a:cs typeface="Poppins" panose="020B0604020202020204" charset="0"/>
              </a:rPr>
              <a:t> (MOL o EBITDA) e il </a:t>
            </a:r>
            <a:r>
              <a:rPr lang="it-IT" sz="4000" u="sng" dirty="0">
                <a:solidFill>
                  <a:srgbClr val="0070C0"/>
                </a:solidFill>
                <a:latin typeface="Poppins" panose="020B0604020202020204" charset="0"/>
                <a:cs typeface="Poppins" panose="020B0604020202020204" charset="0"/>
              </a:rPr>
              <a:t>reddito operativo </a:t>
            </a:r>
            <a:r>
              <a:rPr lang="it-IT" sz="4000" dirty="0">
                <a:solidFill>
                  <a:srgbClr val="0070C0"/>
                </a:solidFill>
                <a:latin typeface="Poppins" panose="020B0604020202020204" charset="0"/>
                <a:cs typeface="Poppins" panose="020B0604020202020204" charset="0"/>
              </a:rPr>
              <a:t>(EBIT). </a:t>
            </a:r>
          </a:p>
        </p:txBody>
      </p:sp>
    </p:spTree>
    <p:extLst>
      <p:ext uri="{BB962C8B-B14F-4D97-AF65-F5344CB8AC3E}">
        <p14:creationId xmlns:p14="http://schemas.microsoft.com/office/powerpoint/2010/main" val="2668174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766551"/>
            <a:ext cx="16415271" cy="3970318"/>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Il calcolo del conto economico riclassificato a valore aggiunto permette di distinguere tra due aree:</a:t>
            </a:r>
          </a:p>
          <a:p>
            <a:pPr algn="just"/>
            <a:endParaRPr lang="it-IT" sz="36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3600" u="sng" dirty="0">
                <a:solidFill>
                  <a:srgbClr val="0070C0"/>
                </a:solidFill>
                <a:latin typeface="Poppins" panose="020B0604020202020204" charset="0"/>
                <a:cs typeface="Poppins" panose="020B0604020202020204" charset="0"/>
              </a:rPr>
              <a:t>l’area operativa</a:t>
            </a:r>
            <a:r>
              <a:rPr lang="it-IT" sz="3600" dirty="0">
                <a:solidFill>
                  <a:srgbClr val="0070C0"/>
                </a:solidFill>
                <a:latin typeface="Poppins" panose="020B0604020202020204" charset="0"/>
                <a:cs typeface="Poppins" panose="020B0604020202020204" charset="0"/>
              </a:rPr>
              <a:t>, che comprende il calcolo del valore aggiunto, del margine operativo lordo e del reddito operativo;</a:t>
            </a:r>
          </a:p>
          <a:p>
            <a:pPr marL="571500" indent="-571500" algn="just">
              <a:buClr>
                <a:srgbClr val="0070C0"/>
              </a:buClr>
              <a:buFont typeface="Arial" panose="020B0604020202020204" pitchFamily="34" charset="0"/>
              <a:buChar char="•"/>
            </a:pPr>
            <a:r>
              <a:rPr lang="it-IT" sz="3600" u="sng" dirty="0">
                <a:solidFill>
                  <a:srgbClr val="0070C0"/>
                </a:solidFill>
                <a:latin typeface="Poppins" panose="020B0604020202020204" charset="0"/>
                <a:cs typeface="Poppins" panose="020B0604020202020204" charset="0"/>
              </a:rPr>
              <a:t>l’area finanziaria</a:t>
            </a:r>
            <a:r>
              <a:rPr lang="it-IT" sz="3600" dirty="0">
                <a:solidFill>
                  <a:srgbClr val="0070C0"/>
                </a:solidFill>
                <a:latin typeface="Poppins" panose="020B0604020202020204" charset="0"/>
                <a:cs typeface="Poppins" panose="020B0604020202020204" charset="0"/>
              </a:rPr>
              <a:t>, dove rientrano il calcolo del reddito ante imposte e del reddito d'esercizio.</a:t>
            </a:r>
            <a:endParaRPr lang="it-IT" sz="40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2636813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766551"/>
            <a:ext cx="16415271" cy="6186309"/>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Per prima cosa, è necessario calcolare il </a:t>
            </a:r>
            <a:r>
              <a:rPr lang="it-IT" sz="3600" u="sng" dirty="0">
                <a:solidFill>
                  <a:srgbClr val="0070C0"/>
                </a:solidFill>
                <a:latin typeface="Poppins" panose="020B0604020202020204" charset="0"/>
                <a:cs typeface="Poppins" panose="020B0604020202020204" charset="0"/>
              </a:rPr>
              <a:t>valore aggiunto</a:t>
            </a:r>
            <a:r>
              <a:rPr lang="it-IT" sz="3600" dirty="0">
                <a:solidFill>
                  <a:srgbClr val="0070C0"/>
                </a:solidFill>
                <a:latin typeface="Poppins" panose="020B0604020202020204" charset="0"/>
                <a:cs typeface="Poppins" panose="020B0604020202020204" charset="0"/>
              </a:rPr>
              <a:t>, sottraendo al valore della produzione i costi diretti sostenuti per la produzione dei beni (come il costo delle materie prime), che rientrano nella categoria dei costi monetari. Non vengono invece presi in considerazione, in questa fase, i costi del personale.</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Tramite il calcolo del valore aggiunto è possibile ottenere il maggior valore dei prodotti rispetto alle spese sostenute per la loro produzione derivanti da rapporti con esterni (non si tiene ancora conto, quindi, dei costi diretti rappresentanti dal lavoro dei dipendenti dell'impresa).</a:t>
            </a:r>
            <a:endParaRPr lang="it-IT" sz="40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4193715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350914"/>
            <a:ext cx="16415271" cy="6186309"/>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In secondo luogo, si passa a determinare il </a:t>
            </a:r>
            <a:r>
              <a:rPr lang="it-IT" sz="3600" u="sng" dirty="0">
                <a:solidFill>
                  <a:srgbClr val="0070C0"/>
                </a:solidFill>
                <a:latin typeface="Poppins" panose="020B0604020202020204" charset="0"/>
                <a:cs typeface="Poppins" panose="020B0604020202020204" charset="0"/>
              </a:rPr>
              <a:t>margine operativo lordo </a:t>
            </a:r>
            <a:r>
              <a:rPr lang="it-IT" sz="3600" dirty="0">
                <a:solidFill>
                  <a:srgbClr val="0070C0"/>
                </a:solidFill>
                <a:latin typeface="Poppins" panose="020B0604020202020204" charset="0"/>
                <a:cs typeface="Poppins" panose="020B0604020202020204" charset="0"/>
              </a:rPr>
              <a:t>(MOL) o EBITDA (</a:t>
            </a:r>
            <a:r>
              <a:rPr lang="it-IT" sz="3600" dirty="0" err="1">
                <a:solidFill>
                  <a:srgbClr val="0070C0"/>
                </a:solidFill>
                <a:latin typeface="Poppins" panose="020B0604020202020204" charset="0"/>
                <a:cs typeface="Poppins" panose="020B0604020202020204" charset="0"/>
              </a:rPr>
              <a:t>Earning</a:t>
            </a:r>
            <a:r>
              <a:rPr lang="it-IT" sz="3600" dirty="0">
                <a:solidFill>
                  <a:srgbClr val="0070C0"/>
                </a:solidFill>
                <a:latin typeface="Poppins" panose="020B0604020202020204" charset="0"/>
                <a:cs typeface="Poppins" panose="020B0604020202020204" charset="0"/>
              </a:rPr>
              <a:t> </a:t>
            </a:r>
            <a:r>
              <a:rPr lang="it-IT" sz="3600" dirty="0" err="1">
                <a:solidFill>
                  <a:srgbClr val="0070C0"/>
                </a:solidFill>
                <a:latin typeface="Poppins" panose="020B0604020202020204" charset="0"/>
                <a:cs typeface="Poppins" panose="020B0604020202020204" charset="0"/>
              </a:rPr>
              <a:t>Before</a:t>
            </a:r>
            <a:r>
              <a:rPr lang="it-IT" sz="3600" dirty="0">
                <a:solidFill>
                  <a:srgbClr val="0070C0"/>
                </a:solidFill>
                <a:latin typeface="Poppins" panose="020B0604020202020204" charset="0"/>
                <a:cs typeface="Poppins" panose="020B0604020202020204" charset="0"/>
              </a:rPr>
              <a:t> </a:t>
            </a:r>
            <a:r>
              <a:rPr lang="it-IT" sz="3600" dirty="0" err="1">
                <a:solidFill>
                  <a:srgbClr val="0070C0"/>
                </a:solidFill>
                <a:latin typeface="Poppins" panose="020B0604020202020204" charset="0"/>
                <a:cs typeface="Poppins" panose="020B0604020202020204" charset="0"/>
              </a:rPr>
              <a:t>Interest</a:t>
            </a:r>
            <a:r>
              <a:rPr lang="it-IT" sz="3600" dirty="0">
                <a:solidFill>
                  <a:srgbClr val="0070C0"/>
                </a:solidFill>
                <a:latin typeface="Poppins" panose="020B0604020202020204" charset="0"/>
                <a:cs typeface="Poppins" panose="020B0604020202020204" charset="0"/>
              </a:rPr>
              <a:t> Taxes </a:t>
            </a:r>
            <a:r>
              <a:rPr lang="it-IT" sz="3600" dirty="0" err="1">
                <a:solidFill>
                  <a:srgbClr val="0070C0"/>
                </a:solidFill>
                <a:latin typeface="Poppins" panose="020B0604020202020204" charset="0"/>
                <a:cs typeface="Poppins" panose="020B0604020202020204" charset="0"/>
              </a:rPr>
              <a:t>Depreciation</a:t>
            </a:r>
            <a:r>
              <a:rPr lang="it-IT" sz="3600" dirty="0">
                <a:solidFill>
                  <a:srgbClr val="0070C0"/>
                </a:solidFill>
                <a:latin typeface="Poppins" panose="020B0604020202020204" charset="0"/>
                <a:cs typeface="Poppins" panose="020B0604020202020204" charset="0"/>
              </a:rPr>
              <a:t> and </a:t>
            </a:r>
            <a:r>
              <a:rPr lang="it-IT" sz="3600" dirty="0" err="1">
                <a:solidFill>
                  <a:srgbClr val="0070C0"/>
                </a:solidFill>
                <a:latin typeface="Poppins" panose="020B0604020202020204" charset="0"/>
                <a:cs typeface="Poppins" panose="020B0604020202020204" charset="0"/>
              </a:rPr>
              <a:t>Amortisation</a:t>
            </a:r>
            <a:r>
              <a:rPr lang="it-IT" sz="3600" dirty="0">
                <a:solidFill>
                  <a:srgbClr val="0070C0"/>
                </a:solidFill>
                <a:latin typeface="Poppins" panose="020B0604020202020204" charset="0"/>
                <a:cs typeface="Poppins" panose="020B0604020202020204" charset="0"/>
              </a:rPr>
              <a:t>): letteralmente significa guadagno prima degli interessi, tasse, svalutazione e ammortamenti.</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Per ottenere il margine operativo lordo occorre sottrarre al valore aggiunto i costi del personale interno, anche questi considerati come costi operativi monetari.</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In questo modo sono stati presi in causa tutti i costi diretti: sia quelli per le materie prime, sia i costi del lavoro dei dipendenti.</a:t>
            </a:r>
            <a:endParaRPr lang="it-IT" sz="40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1386634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1935278"/>
            <a:ext cx="16415271" cy="7294305"/>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Successivamente si ricava il </a:t>
            </a:r>
            <a:r>
              <a:rPr lang="it-IT" sz="3600" u="sng" dirty="0">
                <a:solidFill>
                  <a:srgbClr val="0070C0"/>
                </a:solidFill>
                <a:latin typeface="Poppins" panose="020B0604020202020204" charset="0"/>
                <a:cs typeface="Poppins" panose="020B0604020202020204" charset="0"/>
              </a:rPr>
              <a:t>reddito operativo lordo </a:t>
            </a:r>
            <a:r>
              <a:rPr lang="it-IT" sz="3600" dirty="0">
                <a:solidFill>
                  <a:srgbClr val="0070C0"/>
                </a:solidFill>
                <a:latin typeface="Poppins" panose="020B0604020202020204" charset="0"/>
                <a:cs typeface="Poppins" panose="020B0604020202020204" charset="0"/>
              </a:rPr>
              <a:t>(ROL), anche definito EBIT (</a:t>
            </a:r>
            <a:r>
              <a:rPr lang="it-IT" sz="3600" dirty="0" err="1">
                <a:solidFill>
                  <a:srgbClr val="0070C0"/>
                </a:solidFill>
                <a:latin typeface="Poppins" panose="020B0604020202020204" charset="0"/>
                <a:cs typeface="Poppins" panose="020B0604020202020204" charset="0"/>
              </a:rPr>
              <a:t>Earnings</a:t>
            </a:r>
            <a:r>
              <a:rPr lang="it-IT" sz="3600" dirty="0">
                <a:solidFill>
                  <a:srgbClr val="0070C0"/>
                </a:solidFill>
                <a:latin typeface="Poppins" panose="020B0604020202020204" charset="0"/>
                <a:cs typeface="Poppins" panose="020B0604020202020204" charset="0"/>
              </a:rPr>
              <a:t> </a:t>
            </a:r>
            <a:r>
              <a:rPr lang="it-IT" sz="3600" dirty="0" err="1">
                <a:solidFill>
                  <a:srgbClr val="0070C0"/>
                </a:solidFill>
                <a:latin typeface="Poppins" panose="020B0604020202020204" charset="0"/>
                <a:cs typeface="Poppins" panose="020B0604020202020204" charset="0"/>
              </a:rPr>
              <a:t>Before</a:t>
            </a:r>
            <a:r>
              <a:rPr lang="it-IT" sz="3600" dirty="0">
                <a:solidFill>
                  <a:srgbClr val="0070C0"/>
                </a:solidFill>
                <a:latin typeface="Poppins" panose="020B0604020202020204" charset="0"/>
                <a:cs typeface="Poppins" panose="020B0604020202020204" charset="0"/>
              </a:rPr>
              <a:t> </a:t>
            </a:r>
            <a:r>
              <a:rPr lang="it-IT" sz="3600" dirty="0" err="1">
                <a:solidFill>
                  <a:srgbClr val="0070C0"/>
                </a:solidFill>
                <a:latin typeface="Poppins" panose="020B0604020202020204" charset="0"/>
                <a:cs typeface="Poppins" panose="020B0604020202020204" charset="0"/>
              </a:rPr>
              <a:t>Interest</a:t>
            </a:r>
            <a:r>
              <a:rPr lang="it-IT" sz="3600" dirty="0">
                <a:solidFill>
                  <a:srgbClr val="0070C0"/>
                </a:solidFill>
                <a:latin typeface="Poppins" panose="020B0604020202020204" charset="0"/>
                <a:cs typeface="Poppins" panose="020B0604020202020204" charset="0"/>
              </a:rPr>
              <a:t> and Tax), ovvero il guadagno prima di pagare interessi e imposte, oppure MON, ovvero margine operativo netto (al netto degli ammortamenti).</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Per calcolare il reddito operativo lordo occorre sottrarre al margine operativo lordo tutti i costi operativi non monetari, o costi indiretti, ovvero gli ammortamenti, le svalutazioni e gli accantonamenti.</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Il risultato che si ottiene non tiene ancora conto degli interessi e delle imposte. Questo reddito dovrà quindi essere ripartito tra i soci (che riceveranno l'utile netto), le banche e i finanziatori (a cui andranno gli interessi) e lo Stato (a cui spettano le imposte).</a:t>
            </a:r>
            <a:endParaRPr lang="it-IT" sz="40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122000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604343"/>
            <a:ext cx="16415271" cy="5078313"/>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Con la determinazione del reddito operativo lordo si conclude la parte operativa della riclassificazione del conto economico a valore aggiunto e inizia quella finanziaria.</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Per prima cosa, si ricava il </a:t>
            </a:r>
            <a:r>
              <a:rPr lang="it-IT" sz="3600" u="sng" dirty="0">
                <a:solidFill>
                  <a:srgbClr val="0070C0"/>
                </a:solidFill>
                <a:latin typeface="Poppins" panose="020B0604020202020204" charset="0"/>
                <a:cs typeface="Poppins" panose="020B0604020202020204" charset="0"/>
              </a:rPr>
              <a:t>reddito ante imposte </a:t>
            </a:r>
            <a:r>
              <a:rPr lang="it-IT" sz="3600" dirty="0">
                <a:solidFill>
                  <a:srgbClr val="0070C0"/>
                </a:solidFill>
                <a:latin typeface="Poppins" panose="020B0604020202020204" charset="0"/>
                <a:cs typeface="Poppins" panose="020B0604020202020204" charset="0"/>
              </a:rPr>
              <a:t>(RAI), sottraendo al reddito operativo gli interessi passivi e aggiungendo eventuali interessi attivi. Il reddito ante imposte viene anche indicato con il termine EBT, </a:t>
            </a:r>
            <a:r>
              <a:rPr lang="it-IT" sz="3600" dirty="0" err="1">
                <a:solidFill>
                  <a:srgbClr val="0070C0"/>
                </a:solidFill>
                <a:latin typeface="Poppins" panose="020B0604020202020204" charset="0"/>
                <a:cs typeface="Poppins" panose="020B0604020202020204" charset="0"/>
              </a:rPr>
              <a:t>Earning</a:t>
            </a:r>
            <a:r>
              <a:rPr lang="it-IT" sz="3600" dirty="0">
                <a:solidFill>
                  <a:srgbClr val="0070C0"/>
                </a:solidFill>
                <a:latin typeface="Poppins" panose="020B0604020202020204" charset="0"/>
                <a:cs typeface="Poppins" panose="020B0604020202020204" charset="0"/>
              </a:rPr>
              <a:t> </a:t>
            </a:r>
            <a:r>
              <a:rPr lang="it-IT" sz="3600" dirty="0" err="1">
                <a:solidFill>
                  <a:srgbClr val="0070C0"/>
                </a:solidFill>
                <a:latin typeface="Poppins" panose="020B0604020202020204" charset="0"/>
                <a:cs typeface="Poppins" panose="020B0604020202020204" charset="0"/>
              </a:rPr>
              <a:t>Before</a:t>
            </a:r>
            <a:r>
              <a:rPr lang="it-IT" sz="3600" dirty="0">
                <a:solidFill>
                  <a:srgbClr val="0070C0"/>
                </a:solidFill>
                <a:latin typeface="Poppins" panose="020B0604020202020204" charset="0"/>
                <a:cs typeface="Poppins" panose="020B0604020202020204" charset="0"/>
              </a:rPr>
              <a:t> Taxes, ovvero i guadagni prima del pagamento delle tasse.</a:t>
            </a:r>
            <a:endParaRPr lang="it-IT" sz="40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793613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2604343"/>
            <a:ext cx="16415271" cy="3970318"/>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L'ultimo parametro da calcolare nella riclassificazione del conto economico a valore aggiunto è il </a:t>
            </a:r>
            <a:r>
              <a:rPr lang="it-IT" sz="3600" u="sng" dirty="0">
                <a:solidFill>
                  <a:srgbClr val="0070C0"/>
                </a:solidFill>
                <a:latin typeface="Poppins" panose="020B0604020202020204" charset="0"/>
                <a:cs typeface="Poppins" panose="020B0604020202020204" charset="0"/>
              </a:rPr>
              <a:t>reddito di esercizio </a:t>
            </a:r>
            <a:r>
              <a:rPr lang="it-IT" sz="3600" dirty="0">
                <a:solidFill>
                  <a:srgbClr val="0070C0"/>
                </a:solidFill>
                <a:latin typeface="Poppins" panose="020B0604020202020204" charset="0"/>
                <a:cs typeface="Poppins" panose="020B0604020202020204" charset="0"/>
              </a:rPr>
              <a:t>(RE) o utile di esercizio, che si ottiene sottraendo al reddito ante imposte le imposte.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Quest'ultimo viene inserito nello stato patrimoniale alla sezione del patrimonio netto.</a:t>
            </a:r>
            <a:endParaRPr lang="it-IT" sz="40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1265814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pic>
        <p:nvPicPr>
          <p:cNvPr id="3" name="Immagine 2">
            <a:extLst>
              <a:ext uri="{FF2B5EF4-FFF2-40B4-BE49-F238E27FC236}">
                <a16:creationId xmlns:a16="http://schemas.microsoft.com/office/drawing/2014/main" id="{DB65D5F6-482C-42F1-A240-766A13726232}"/>
              </a:ext>
            </a:extLst>
          </p:cNvPr>
          <p:cNvPicPr>
            <a:picLocks noChangeAspect="1"/>
          </p:cNvPicPr>
          <p:nvPr/>
        </p:nvPicPr>
        <p:blipFill>
          <a:blip r:embed="rId3"/>
          <a:stretch>
            <a:fillRect/>
          </a:stretch>
        </p:blipFill>
        <p:spPr>
          <a:xfrm>
            <a:off x="3154274" y="1137624"/>
            <a:ext cx="11979451" cy="8940546"/>
          </a:xfrm>
          <a:prstGeom prst="rect">
            <a:avLst/>
          </a:prstGeom>
        </p:spPr>
      </p:pic>
    </p:spTree>
    <p:extLst>
      <p:ext uri="{BB962C8B-B14F-4D97-AF65-F5344CB8AC3E}">
        <p14:creationId xmlns:p14="http://schemas.microsoft.com/office/powerpoint/2010/main" val="13258235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VALORE AGGIUNTO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1464039"/>
            <a:ext cx="16415271" cy="7971413"/>
          </a:xfrm>
          <a:prstGeom prst="rect">
            <a:avLst/>
          </a:prstGeom>
          <a:noFill/>
        </p:spPr>
        <p:txBody>
          <a:bodyPr wrap="square">
            <a:spAutoFit/>
          </a:bodyPr>
          <a:lstStyle/>
          <a:p>
            <a:pPr algn="just"/>
            <a:r>
              <a:rPr lang="it-IT" sz="3200" dirty="0">
                <a:solidFill>
                  <a:srgbClr val="0070C0"/>
                </a:solidFill>
                <a:latin typeface="Poppins" panose="020B0604020202020204" charset="0"/>
                <a:cs typeface="Poppins" panose="020B0604020202020204" charset="0"/>
              </a:rPr>
              <a:t>Il conto economico a valore aggiunto rappresenta uno strumento fondamentale per valutare la performance economica di un'azienda e misurare la creazione di valore. Il suo calcolo consente di ottenere informazioni dettagliate sui costi e ricavi dell'esercizio, distinguendo tra l'area operativa e quella finanziaria.</a:t>
            </a:r>
          </a:p>
          <a:p>
            <a:pPr algn="just"/>
            <a:endParaRPr lang="it-IT" sz="3200" dirty="0">
              <a:solidFill>
                <a:srgbClr val="0070C0"/>
              </a:solidFill>
              <a:latin typeface="Poppins" panose="020B0604020202020204" charset="0"/>
              <a:cs typeface="Poppins" panose="020B0604020202020204" charset="0"/>
            </a:endParaRPr>
          </a:p>
          <a:p>
            <a:pPr algn="just"/>
            <a:r>
              <a:rPr lang="it-IT" sz="3200" dirty="0">
                <a:solidFill>
                  <a:srgbClr val="0070C0"/>
                </a:solidFill>
                <a:latin typeface="Poppins" panose="020B0604020202020204" charset="0"/>
                <a:cs typeface="Poppins" panose="020B0604020202020204" charset="0"/>
              </a:rPr>
              <a:t>In particolare, il conto economico a valore aggiunto permette di valutare il valore aggiunto generato dall'azienda attraverso i propri processi produttivi ed evidenzia la sua capacità di produrre ricchezza. Grazie al calcolo del valore aggiunto, del margine operativo lordo e del reddito operativo, è possibile interpretare e analizzare aspetti chiave della gestione aziendale.</a:t>
            </a:r>
          </a:p>
          <a:p>
            <a:pPr algn="just"/>
            <a:endParaRPr lang="it-IT" sz="3200" dirty="0">
              <a:solidFill>
                <a:srgbClr val="0070C0"/>
              </a:solidFill>
              <a:latin typeface="Poppins" panose="020B0604020202020204" charset="0"/>
              <a:cs typeface="Poppins" panose="020B0604020202020204" charset="0"/>
            </a:endParaRPr>
          </a:p>
          <a:p>
            <a:pPr algn="just"/>
            <a:r>
              <a:rPr lang="it-IT" sz="3200" dirty="0">
                <a:solidFill>
                  <a:srgbClr val="0070C0"/>
                </a:solidFill>
                <a:latin typeface="Poppins" panose="020B0604020202020204" charset="0"/>
                <a:cs typeface="Poppins" panose="020B0604020202020204" charset="0"/>
              </a:rPr>
              <a:t>La riclassificazione del conto economico a valore aggiunto fornisce dunque un quadro completo delle performance finanziarie dell'azienda e facilita il confronto dei dati nel tempo e nello spazio, offrendo parametri importanti per valutare l'andamento e la sostenibilità dell'impresa.</a:t>
            </a:r>
            <a:endParaRPr lang="it-IT" sz="36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22867141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RICLASSIFICAZIONE CONTO ECONOMICO – MARGINE DI CONTRIBUZIONE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4" y="1896457"/>
            <a:ext cx="16415271" cy="6494085"/>
          </a:xfrm>
          <a:prstGeom prst="rect">
            <a:avLst/>
          </a:prstGeom>
          <a:noFill/>
        </p:spPr>
        <p:txBody>
          <a:bodyPr wrap="square">
            <a:spAutoFit/>
          </a:bodyPr>
          <a:lstStyle/>
          <a:p>
            <a:pPr algn="just"/>
            <a:r>
              <a:rPr lang="it-IT" sz="3200" dirty="0">
                <a:solidFill>
                  <a:srgbClr val="0070C0"/>
                </a:solidFill>
                <a:latin typeface="Poppins" panose="020B0604020202020204" charset="0"/>
                <a:cs typeface="Poppins" panose="020B0604020202020204" charset="0"/>
              </a:rPr>
              <a:t>Il conto economico a </a:t>
            </a:r>
            <a:r>
              <a:rPr lang="it-IT" sz="3200" u="sng" dirty="0">
                <a:solidFill>
                  <a:srgbClr val="0070C0"/>
                </a:solidFill>
                <a:latin typeface="Poppins" panose="020B0604020202020204" charset="0"/>
                <a:cs typeface="Poppins" panose="020B0604020202020204" charset="0"/>
              </a:rPr>
              <a:t>margine di contribuzione </a:t>
            </a:r>
            <a:r>
              <a:rPr lang="it-IT" sz="3200" dirty="0">
                <a:solidFill>
                  <a:srgbClr val="0070C0"/>
                </a:solidFill>
                <a:latin typeface="Poppins" panose="020B0604020202020204" charset="0"/>
                <a:cs typeface="Poppins" panose="020B0604020202020204" charset="0"/>
              </a:rPr>
              <a:t>si basa sulla distinzione tra costi fissi e variabili. Per le sue caratteristiche, esso consente di determinare velocemente il punto di pareggio il che lo rende molto utile per le aziende.</a:t>
            </a:r>
          </a:p>
          <a:p>
            <a:pPr algn="just"/>
            <a:endParaRPr lang="it-IT" sz="3200" dirty="0">
              <a:solidFill>
                <a:srgbClr val="0070C0"/>
              </a:solidFill>
              <a:latin typeface="Poppins" panose="020B0604020202020204" charset="0"/>
              <a:cs typeface="Poppins" panose="020B0604020202020204" charset="0"/>
            </a:endParaRPr>
          </a:p>
          <a:p>
            <a:pPr algn="just"/>
            <a:r>
              <a:rPr lang="it-IT" sz="3200" dirty="0">
                <a:solidFill>
                  <a:srgbClr val="0070C0"/>
                </a:solidFill>
                <a:latin typeface="Poppins" panose="020B0604020202020204" charset="0"/>
                <a:cs typeface="Poppins" panose="020B0604020202020204" charset="0"/>
              </a:rPr>
              <a:t>Tuttavia, questo modello non è di facile costruzione. Il problema principale è che, spesso, è difficile distinguere i costi variabili da quelli fissi.</a:t>
            </a:r>
          </a:p>
          <a:p>
            <a:pPr algn="just"/>
            <a:endParaRPr lang="it-IT" sz="3200" dirty="0">
              <a:solidFill>
                <a:srgbClr val="0070C0"/>
              </a:solidFill>
              <a:latin typeface="Poppins" panose="020B0604020202020204" charset="0"/>
              <a:cs typeface="Poppins" panose="020B0604020202020204" charset="0"/>
            </a:endParaRPr>
          </a:p>
          <a:p>
            <a:pPr algn="just"/>
            <a:r>
              <a:rPr lang="it-IT" sz="3200" dirty="0">
                <a:solidFill>
                  <a:srgbClr val="0070C0"/>
                </a:solidFill>
                <a:latin typeface="Poppins" panose="020B0604020202020204" charset="0"/>
                <a:cs typeface="Poppins" panose="020B0604020202020204" charset="0"/>
              </a:rPr>
              <a:t>In linea generale, sono costi fissi:</a:t>
            </a:r>
          </a:p>
          <a:p>
            <a:pPr algn="just"/>
            <a:endParaRPr lang="it-IT" sz="3200" dirty="0">
              <a:solidFill>
                <a:srgbClr val="0070C0"/>
              </a:solidFill>
              <a:latin typeface="Poppins" panose="020B0604020202020204" charset="0"/>
              <a:cs typeface="Poppins" panose="020B0604020202020204" charset="0"/>
            </a:endParaRPr>
          </a:p>
          <a:p>
            <a:pPr algn="just"/>
            <a:r>
              <a:rPr lang="it-IT" sz="3200" dirty="0">
                <a:solidFill>
                  <a:srgbClr val="0070C0"/>
                </a:solidFill>
                <a:latin typeface="Poppins" panose="020B0604020202020204" charset="0"/>
                <a:cs typeface="Poppins" panose="020B0604020202020204" charset="0"/>
              </a:rPr>
              <a:t>salari e stipendi</a:t>
            </a:r>
          </a:p>
          <a:p>
            <a:pPr algn="just"/>
            <a:r>
              <a:rPr lang="it-IT" sz="3200" dirty="0">
                <a:solidFill>
                  <a:srgbClr val="0070C0"/>
                </a:solidFill>
                <a:latin typeface="Poppins" panose="020B0604020202020204" charset="0"/>
                <a:cs typeface="Poppins" panose="020B0604020202020204" charset="0"/>
              </a:rPr>
              <a:t>ammortamenti, fitti, canoni ecc.</a:t>
            </a:r>
          </a:p>
          <a:p>
            <a:pPr algn="just"/>
            <a:r>
              <a:rPr lang="it-IT" sz="3200" dirty="0">
                <a:solidFill>
                  <a:srgbClr val="0070C0"/>
                </a:solidFill>
                <a:latin typeface="Poppins" panose="020B0604020202020204" charset="0"/>
                <a:cs typeface="Poppins" panose="020B0604020202020204" charset="0"/>
              </a:rPr>
              <a:t>spese generali e di amministrazione (ricerca e sviluppo, marketing e pubblicità, formazione ecc.)</a:t>
            </a:r>
            <a:endParaRPr lang="it-IT" sz="36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074354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COSTI FISSI E VARIABILI</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36365" y="2028883"/>
            <a:ext cx="7099272" cy="6494085"/>
          </a:xfrm>
          <a:prstGeom prst="rect">
            <a:avLst/>
          </a:prstGeom>
          <a:noFill/>
        </p:spPr>
        <p:txBody>
          <a:bodyPr wrap="square">
            <a:spAutoFit/>
          </a:bodyPr>
          <a:lstStyle/>
          <a:p>
            <a:pPr algn="just"/>
            <a:r>
              <a:rPr lang="it-IT" sz="3200" u="sng" dirty="0">
                <a:solidFill>
                  <a:srgbClr val="0070C0"/>
                </a:solidFill>
                <a:latin typeface="Poppins" panose="020B0604020202020204" charset="0"/>
                <a:cs typeface="Poppins" panose="020B0604020202020204" charset="0"/>
              </a:rPr>
              <a:t>I costi fissi </a:t>
            </a:r>
            <a:r>
              <a:rPr lang="it-IT" sz="3200" dirty="0">
                <a:solidFill>
                  <a:srgbClr val="0070C0"/>
                </a:solidFill>
                <a:latin typeface="Poppins" panose="020B0604020202020204" charset="0"/>
                <a:cs typeface="Poppins" panose="020B0604020202020204" charset="0"/>
              </a:rPr>
              <a:t>sono quei costi che non variano al variare delle quantità che un’azienda produce o vende.</a:t>
            </a:r>
          </a:p>
          <a:p>
            <a:pPr algn="just"/>
            <a:endParaRPr lang="it-IT" sz="3200" dirty="0">
              <a:solidFill>
                <a:srgbClr val="0070C0"/>
              </a:solidFill>
              <a:latin typeface="Poppins" panose="020B0604020202020204" charset="0"/>
              <a:cs typeface="Poppins" panose="020B0604020202020204" charset="0"/>
            </a:endParaRPr>
          </a:p>
          <a:p>
            <a:pPr algn="just"/>
            <a:r>
              <a:rPr lang="it-IT" sz="3200" u="sng" dirty="0">
                <a:solidFill>
                  <a:srgbClr val="0070C0"/>
                </a:solidFill>
                <a:latin typeface="Poppins" panose="020B0604020202020204" charset="0"/>
                <a:cs typeface="Poppins" panose="020B0604020202020204" charset="0"/>
              </a:rPr>
              <a:t>I costi variabili</a:t>
            </a:r>
            <a:r>
              <a:rPr lang="it-IT" sz="3200" dirty="0">
                <a:solidFill>
                  <a:srgbClr val="0070C0"/>
                </a:solidFill>
                <a:latin typeface="Poppins" panose="020B0604020202020204" charset="0"/>
                <a:cs typeface="Poppins" panose="020B0604020202020204" charset="0"/>
              </a:rPr>
              <a:t>, invece, sono direttamente e proporzionalmente legati alla quantità di beni e servizi prodotti da un’azienda. </a:t>
            </a:r>
          </a:p>
          <a:p>
            <a:pPr algn="just"/>
            <a:endParaRPr lang="it-IT" sz="3200" dirty="0">
              <a:solidFill>
                <a:srgbClr val="0070C0"/>
              </a:solidFill>
              <a:latin typeface="Poppins" panose="020B0604020202020204" charset="0"/>
              <a:cs typeface="Poppins" panose="020B0604020202020204" charset="0"/>
            </a:endParaRPr>
          </a:p>
          <a:p>
            <a:pPr algn="just"/>
            <a:r>
              <a:rPr lang="it-IT" sz="3200" u="sng" dirty="0">
                <a:solidFill>
                  <a:srgbClr val="0070C0"/>
                </a:solidFill>
                <a:latin typeface="Poppins" panose="020B0604020202020204" charset="0"/>
                <a:cs typeface="Poppins" panose="020B0604020202020204" charset="0"/>
              </a:rPr>
              <a:t>Il costo totale</a:t>
            </a:r>
            <a:r>
              <a:rPr lang="it-IT" sz="3200" dirty="0">
                <a:solidFill>
                  <a:srgbClr val="0070C0"/>
                </a:solidFill>
                <a:latin typeface="Poppins" panose="020B0604020202020204" charset="0"/>
                <a:cs typeface="Poppins" panose="020B0604020202020204" charset="0"/>
              </a:rPr>
              <a:t>, infine, è la somma tra costi fissi e costi variabili. </a:t>
            </a:r>
            <a:endParaRPr lang="it-IT" sz="3600" dirty="0">
              <a:solidFill>
                <a:srgbClr val="0070C0"/>
              </a:solidFill>
              <a:latin typeface="Poppins" panose="020B0604020202020204" charset="0"/>
              <a:cs typeface="Poppins" panose="020B0604020202020204" charset="0"/>
            </a:endParaRPr>
          </a:p>
        </p:txBody>
      </p:sp>
      <p:pic>
        <p:nvPicPr>
          <p:cNvPr id="3" name="Immagine 2">
            <a:extLst>
              <a:ext uri="{FF2B5EF4-FFF2-40B4-BE49-F238E27FC236}">
                <a16:creationId xmlns:a16="http://schemas.microsoft.com/office/drawing/2014/main" id="{2946E3F6-385B-4FE3-B3DC-D24A4C3A3BB9}"/>
              </a:ext>
            </a:extLst>
          </p:cNvPr>
          <p:cNvPicPr>
            <a:picLocks noChangeAspect="1"/>
          </p:cNvPicPr>
          <p:nvPr/>
        </p:nvPicPr>
        <p:blipFill rotWithShape="1">
          <a:blip r:embed="rId3"/>
          <a:srcRect l="5101" r="17914"/>
          <a:stretch/>
        </p:blipFill>
        <p:spPr>
          <a:xfrm>
            <a:off x="8443088" y="2549236"/>
            <a:ext cx="8908547" cy="5734916"/>
          </a:xfrm>
          <a:prstGeom prst="rect">
            <a:avLst/>
          </a:prstGeom>
        </p:spPr>
      </p:pic>
    </p:spTree>
    <p:extLst>
      <p:ext uri="{BB962C8B-B14F-4D97-AF65-F5344CB8AC3E}">
        <p14:creationId xmlns:p14="http://schemas.microsoft.com/office/powerpoint/2010/main" val="2391293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ESEMPIO</a:t>
            </a:r>
            <a:endParaRPr lang="en-US" dirty="0"/>
          </a:p>
        </p:txBody>
      </p:sp>
      <p:graphicFrame>
        <p:nvGraphicFramePr>
          <p:cNvPr id="4" name="Tabella 4">
            <a:extLst>
              <a:ext uri="{FF2B5EF4-FFF2-40B4-BE49-F238E27FC236}">
                <a16:creationId xmlns:a16="http://schemas.microsoft.com/office/drawing/2014/main" id="{E582E771-6E21-4189-A358-51081F1AE254}"/>
              </a:ext>
            </a:extLst>
          </p:cNvPr>
          <p:cNvGraphicFramePr>
            <a:graphicFrameLocks noGrp="1"/>
          </p:cNvGraphicFramePr>
          <p:nvPr/>
        </p:nvGraphicFramePr>
        <p:xfrm>
          <a:off x="3318163" y="1366565"/>
          <a:ext cx="11651674" cy="8107680"/>
        </p:xfrm>
        <a:graphic>
          <a:graphicData uri="http://schemas.openxmlformats.org/drawingml/2006/table">
            <a:tbl>
              <a:tblPr firstRow="1" bandRow="1">
                <a:tableStyleId>{5C22544A-7EE6-4342-B048-85BDC9FD1C3A}</a:tableStyleId>
              </a:tblPr>
              <a:tblGrid>
                <a:gridCol w="5825837">
                  <a:extLst>
                    <a:ext uri="{9D8B030D-6E8A-4147-A177-3AD203B41FA5}">
                      <a16:colId xmlns:a16="http://schemas.microsoft.com/office/drawing/2014/main" val="42755533"/>
                    </a:ext>
                  </a:extLst>
                </a:gridCol>
                <a:gridCol w="5825837">
                  <a:extLst>
                    <a:ext uri="{9D8B030D-6E8A-4147-A177-3AD203B41FA5}">
                      <a16:colId xmlns:a16="http://schemas.microsoft.com/office/drawing/2014/main" val="539140108"/>
                    </a:ext>
                  </a:extLst>
                </a:gridCol>
              </a:tblGrid>
              <a:tr h="476426">
                <a:tc>
                  <a:txBody>
                    <a:bodyPr/>
                    <a:lstStyle/>
                    <a:p>
                      <a:pPr algn="ctr"/>
                      <a:r>
                        <a:rPr lang="it-IT" sz="3200" dirty="0"/>
                        <a:t>VOCE DI COSTO</a:t>
                      </a:r>
                    </a:p>
                  </a:txBody>
                  <a:tcPr anchor="ctr"/>
                </a:tc>
                <a:tc>
                  <a:txBody>
                    <a:bodyPr/>
                    <a:lstStyle/>
                    <a:p>
                      <a:pPr algn="ctr"/>
                      <a:r>
                        <a:rPr lang="it-IT" sz="3200" dirty="0"/>
                        <a:t>CLASSIFICAZIONE</a:t>
                      </a:r>
                    </a:p>
                  </a:txBody>
                  <a:tcPr anchor="ctr"/>
                </a:tc>
                <a:extLst>
                  <a:ext uri="{0D108BD9-81ED-4DB2-BD59-A6C34878D82A}">
                    <a16:rowId xmlns:a16="http://schemas.microsoft.com/office/drawing/2014/main" val="1810446555"/>
                  </a:ext>
                </a:extLst>
              </a:tr>
              <a:tr h="476426">
                <a:tc>
                  <a:txBody>
                    <a:bodyPr/>
                    <a:lstStyle/>
                    <a:p>
                      <a:pPr algn="ctr"/>
                      <a:r>
                        <a:rPr lang="it-IT" sz="3200" dirty="0"/>
                        <a:t>Materie Prime</a:t>
                      </a:r>
                    </a:p>
                  </a:txBody>
                  <a:tcPr anchor="ctr"/>
                </a:tc>
                <a:tc>
                  <a:txBody>
                    <a:bodyPr/>
                    <a:lstStyle/>
                    <a:p>
                      <a:pPr algn="ctr"/>
                      <a:r>
                        <a:rPr lang="it-IT" sz="3200" dirty="0"/>
                        <a:t>Variabile</a:t>
                      </a:r>
                    </a:p>
                  </a:txBody>
                  <a:tcPr anchor="ctr"/>
                </a:tc>
                <a:extLst>
                  <a:ext uri="{0D108BD9-81ED-4DB2-BD59-A6C34878D82A}">
                    <a16:rowId xmlns:a16="http://schemas.microsoft.com/office/drawing/2014/main" val="841347394"/>
                  </a:ext>
                </a:extLst>
              </a:tr>
              <a:tr h="476426">
                <a:tc>
                  <a:txBody>
                    <a:bodyPr/>
                    <a:lstStyle/>
                    <a:p>
                      <a:pPr algn="ctr"/>
                      <a:r>
                        <a:rPr lang="it-IT" sz="3200" dirty="0"/>
                        <a:t>Energia Elettrica</a:t>
                      </a:r>
                    </a:p>
                  </a:txBody>
                  <a:tcPr anchor="ctr"/>
                </a:tc>
                <a:tc>
                  <a:txBody>
                    <a:bodyPr/>
                    <a:lstStyle/>
                    <a:p>
                      <a:pPr algn="ctr"/>
                      <a:r>
                        <a:rPr lang="it-IT" sz="3200"/>
                        <a:t>Variabile/Fisso</a:t>
                      </a:r>
                      <a:endParaRPr lang="it-IT" sz="3200" dirty="0"/>
                    </a:p>
                  </a:txBody>
                  <a:tcPr anchor="ctr"/>
                </a:tc>
                <a:extLst>
                  <a:ext uri="{0D108BD9-81ED-4DB2-BD59-A6C34878D82A}">
                    <a16:rowId xmlns:a16="http://schemas.microsoft.com/office/drawing/2014/main" val="1683044191"/>
                  </a:ext>
                </a:extLst>
              </a:tr>
              <a:tr h="476426">
                <a:tc>
                  <a:txBody>
                    <a:bodyPr/>
                    <a:lstStyle/>
                    <a:p>
                      <a:pPr algn="ctr"/>
                      <a:r>
                        <a:rPr lang="it-IT" sz="3200" dirty="0"/>
                        <a:t>Gas</a:t>
                      </a:r>
                    </a:p>
                  </a:txBody>
                  <a:tcPr anchor="ctr"/>
                </a:tc>
                <a:tc>
                  <a:txBody>
                    <a:bodyPr/>
                    <a:lstStyle/>
                    <a:p>
                      <a:pPr algn="ctr"/>
                      <a:r>
                        <a:rPr lang="it-IT" sz="3200"/>
                        <a:t>Variabile</a:t>
                      </a:r>
                      <a:endParaRPr lang="it-IT" sz="3200" dirty="0"/>
                    </a:p>
                  </a:txBody>
                  <a:tcPr anchor="ctr"/>
                </a:tc>
                <a:extLst>
                  <a:ext uri="{0D108BD9-81ED-4DB2-BD59-A6C34878D82A}">
                    <a16:rowId xmlns:a16="http://schemas.microsoft.com/office/drawing/2014/main" val="1637751848"/>
                  </a:ext>
                </a:extLst>
              </a:tr>
              <a:tr h="408010">
                <a:tc>
                  <a:txBody>
                    <a:bodyPr/>
                    <a:lstStyle/>
                    <a:p>
                      <a:pPr algn="ctr"/>
                      <a:r>
                        <a:rPr lang="it-IT" sz="3200" dirty="0"/>
                        <a:t>Riscaldamento</a:t>
                      </a:r>
                    </a:p>
                  </a:txBody>
                  <a:tcPr anchor="ctr"/>
                </a:tc>
                <a:tc>
                  <a:txBody>
                    <a:bodyPr/>
                    <a:lstStyle/>
                    <a:p>
                      <a:pPr algn="ctr"/>
                      <a:r>
                        <a:rPr lang="it-IT" sz="3200"/>
                        <a:t>Variabile/Fisso</a:t>
                      </a:r>
                      <a:endParaRPr lang="it-IT" sz="3200" dirty="0"/>
                    </a:p>
                  </a:txBody>
                  <a:tcPr anchor="ctr"/>
                </a:tc>
                <a:extLst>
                  <a:ext uri="{0D108BD9-81ED-4DB2-BD59-A6C34878D82A}">
                    <a16:rowId xmlns:a16="http://schemas.microsoft.com/office/drawing/2014/main" val="4039068501"/>
                  </a:ext>
                </a:extLst>
              </a:tr>
              <a:tr h="476426">
                <a:tc>
                  <a:txBody>
                    <a:bodyPr/>
                    <a:lstStyle/>
                    <a:p>
                      <a:pPr algn="ctr"/>
                      <a:r>
                        <a:rPr lang="it-IT" sz="3200" dirty="0"/>
                        <a:t>Acqua</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it-IT" sz="3200"/>
                        <a:t>Variabile/Fisso</a:t>
                      </a:r>
                      <a:endParaRPr lang="it-IT" sz="3200" dirty="0"/>
                    </a:p>
                  </a:txBody>
                  <a:tcPr anchor="ctr"/>
                </a:tc>
                <a:extLst>
                  <a:ext uri="{0D108BD9-81ED-4DB2-BD59-A6C34878D82A}">
                    <a16:rowId xmlns:a16="http://schemas.microsoft.com/office/drawing/2014/main" val="861559124"/>
                  </a:ext>
                </a:extLst>
              </a:tr>
              <a:tr h="476426">
                <a:tc>
                  <a:txBody>
                    <a:bodyPr/>
                    <a:lstStyle/>
                    <a:p>
                      <a:pPr algn="ctr"/>
                      <a:r>
                        <a:rPr lang="it-IT" sz="3200" dirty="0"/>
                        <a:t>Telefono</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it-IT" sz="3200"/>
                        <a:t>Variabile/Fisso</a:t>
                      </a:r>
                      <a:endParaRPr lang="it-IT" sz="3200" dirty="0"/>
                    </a:p>
                  </a:txBody>
                  <a:tcPr anchor="ctr"/>
                </a:tc>
                <a:extLst>
                  <a:ext uri="{0D108BD9-81ED-4DB2-BD59-A6C34878D82A}">
                    <a16:rowId xmlns:a16="http://schemas.microsoft.com/office/drawing/2014/main" val="3871765499"/>
                  </a:ext>
                </a:extLst>
              </a:tr>
              <a:tr h="476426">
                <a:tc>
                  <a:txBody>
                    <a:bodyPr/>
                    <a:lstStyle/>
                    <a:p>
                      <a:pPr algn="ctr"/>
                      <a:r>
                        <a:rPr lang="it-IT" sz="3200" dirty="0"/>
                        <a:t>Carburante</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it-IT" sz="3200"/>
                        <a:t>Variabile</a:t>
                      </a:r>
                      <a:endParaRPr lang="it-IT" sz="3200" dirty="0"/>
                    </a:p>
                  </a:txBody>
                  <a:tcPr anchor="ctr"/>
                </a:tc>
                <a:extLst>
                  <a:ext uri="{0D108BD9-81ED-4DB2-BD59-A6C34878D82A}">
                    <a16:rowId xmlns:a16="http://schemas.microsoft.com/office/drawing/2014/main" val="548778912"/>
                  </a:ext>
                </a:extLst>
              </a:tr>
              <a:tr h="476426">
                <a:tc>
                  <a:txBody>
                    <a:bodyPr/>
                    <a:lstStyle/>
                    <a:p>
                      <a:pPr algn="ctr"/>
                      <a:r>
                        <a:rPr lang="it-IT" sz="3200" dirty="0"/>
                        <a:t>Manutenzioni</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it-IT" sz="3200"/>
                        <a:t>Variabile</a:t>
                      </a:r>
                      <a:endParaRPr lang="it-IT" sz="3200" dirty="0"/>
                    </a:p>
                  </a:txBody>
                  <a:tcPr anchor="ctr"/>
                </a:tc>
                <a:extLst>
                  <a:ext uri="{0D108BD9-81ED-4DB2-BD59-A6C34878D82A}">
                    <a16:rowId xmlns:a16="http://schemas.microsoft.com/office/drawing/2014/main" val="3322026688"/>
                  </a:ext>
                </a:extLst>
              </a:tr>
              <a:tr h="476426">
                <a:tc>
                  <a:txBody>
                    <a:bodyPr/>
                    <a:lstStyle/>
                    <a:p>
                      <a:pPr algn="ctr"/>
                      <a:r>
                        <a:rPr lang="it-IT" sz="3200" dirty="0"/>
                        <a:t>Consulenti</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it-IT" sz="3200"/>
                        <a:t>Variabile/Fisso</a:t>
                      </a:r>
                      <a:endParaRPr lang="it-IT" sz="3200" dirty="0"/>
                    </a:p>
                  </a:txBody>
                  <a:tcPr anchor="ctr"/>
                </a:tc>
                <a:extLst>
                  <a:ext uri="{0D108BD9-81ED-4DB2-BD59-A6C34878D82A}">
                    <a16:rowId xmlns:a16="http://schemas.microsoft.com/office/drawing/2014/main" val="3259268602"/>
                  </a:ext>
                </a:extLst>
              </a:tr>
              <a:tr h="476426">
                <a:tc>
                  <a:txBody>
                    <a:bodyPr/>
                    <a:lstStyle/>
                    <a:p>
                      <a:pPr algn="ctr"/>
                      <a:r>
                        <a:rPr lang="it-IT" sz="3200" dirty="0"/>
                        <a:t>Ammortamenti</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it-IT" sz="3200"/>
                        <a:t>Fisso</a:t>
                      </a:r>
                      <a:endParaRPr lang="it-IT" sz="3200" dirty="0"/>
                    </a:p>
                  </a:txBody>
                  <a:tcPr anchor="ctr"/>
                </a:tc>
                <a:extLst>
                  <a:ext uri="{0D108BD9-81ED-4DB2-BD59-A6C34878D82A}">
                    <a16:rowId xmlns:a16="http://schemas.microsoft.com/office/drawing/2014/main" val="65028715"/>
                  </a:ext>
                </a:extLst>
              </a:tr>
              <a:tr h="476426">
                <a:tc>
                  <a:txBody>
                    <a:bodyPr/>
                    <a:lstStyle/>
                    <a:p>
                      <a:pPr algn="ctr"/>
                      <a:r>
                        <a:rPr lang="it-IT" sz="3200" dirty="0"/>
                        <a:t>Affitti e noleggi</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it-IT" sz="3200"/>
                        <a:t>Variabile/Fisso</a:t>
                      </a:r>
                      <a:endParaRPr lang="it-IT" sz="3200" dirty="0"/>
                    </a:p>
                  </a:txBody>
                  <a:tcPr anchor="ctr"/>
                </a:tc>
                <a:extLst>
                  <a:ext uri="{0D108BD9-81ED-4DB2-BD59-A6C34878D82A}">
                    <a16:rowId xmlns:a16="http://schemas.microsoft.com/office/drawing/2014/main" val="1969776283"/>
                  </a:ext>
                </a:extLst>
              </a:tr>
              <a:tr h="0">
                <a:tc>
                  <a:txBody>
                    <a:bodyPr/>
                    <a:lstStyle/>
                    <a:p>
                      <a:pPr algn="ctr"/>
                      <a:r>
                        <a:rPr lang="it-IT" sz="3200" dirty="0"/>
                        <a:t>Personale</a:t>
                      </a:r>
                    </a:p>
                  </a:txBody>
                  <a:tcPr anchor="ctr"/>
                </a:tc>
                <a:tc>
                  <a:txBody>
                    <a:bodyPr/>
                    <a:lstStyle/>
                    <a:p>
                      <a:pPr algn="ctr"/>
                      <a:r>
                        <a:rPr lang="it-IT" sz="3200" dirty="0"/>
                        <a:t>Fisso</a:t>
                      </a:r>
                    </a:p>
                  </a:txBody>
                  <a:tcPr anchor="ctr"/>
                </a:tc>
                <a:extLst>
                  <a:ext uri="{0D108BD9-81ED-4DB2-BD59-A6C34878D82A}">
                    <a16:rowId xmlns:a16="http://schemas.microsoft.com/office/drawing/2014/main" val="2798931707"/>
                  </a:ext>
                </a:extLst>
              </a:tr>
              <a:tr h="476426">
                <a:tc>
                  <a:txBody>
                    <a:bodyPr/>
                    <a:lstStyle/>
                    <a:p>
                      <a:pPr algn="ctr"/>
                      <a:r>
                        <a:rPr lang="it-IT" sz="3200" dirty="0"/>
                        <a:t>Imposte non sul reddito</a:t>
                      </a:r>
                    </a:p>
                  </a:txBody>
                  <a:tcPr anchor="ctr"/>
                </a:tc>
                <a:tc>
                  <a:txBody>
                    <a:bodyPr/>
                    <a:lstStyle/>
                    <a:p>
                      <a:pPr algn="ctr"/>
                      <a:r>
                        <a:rPr lang="it-IT" sz="3200" dirty="0"/>
                        <a:t>Fisso</a:t>
                      </a:r>
                    </a:p>
                  </a:txBody>
                  <a:tcPr anchor="ctr"/>
                </a:tc>
                <a:extLst>
                  <a:ext uri="{0D108BD9-81ED-4DB2-BD59-A6C34878D82A}">
                    <a16:rowId xmlns:a16="http://schemas.microsoft.com/office/drawing/2014/main" val="1796456407"/>
                  </a:ext>
                </a:extLst>
              </a:tr>
            </a:tbl>
          </a:graphicData>
        </a:graphic>
      </p:graphicFrame>
    </p:spTree>
    <p:extLst>
      <p:ext uri="{BB962C8B-B14F-4D97-AF65-F5344CB8AC3E}">
        <p14:creationId xmlns:p14="http://schemas.microsoft.com/office/powerpoint/2010/main" val="21404902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2942897"/>
            <a:ext cx="15855344" cy="4401205"/>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Quando si parla di </a:t>
            </a:r>
            <a:r>
              <a:rPr lang="it-IT" sz="4000" u="sng" dirty="0">
                <a:solidFill>
                  <a:srgbClr val="0070C0"/>
                </a:solidFill>
                <a:latin typeface="Poppins" panose="020B0604020202020204" charset="0"/>
                <a:cs typeface="Poppins" panose="020B0604020202020204" charset="0"/>
              </a:rPr>
              <a:t>indici di bilancio </a:t>
            </a:r>
            <a:r>
              <a:rPr lang="it-IT" sz="4000" dirty="0">
                <a:solidFill>
                  <a:srgbClr val="0070C0"/>
                </a:solidFill>
                <a:latin typeface="Poppins" panose="020B0604020202020204" charset="0"/>
                <a:cs typeface="Poppins" panose="020B0604020202020204" charset="0"/>
              </a:rPr>
              <a:t>si fa riferimento a una serie di indicatori sintetici, risultato di calcoli effettuati sulla base di grandezze patrimoniali, finanziarie ed economiche contenute nello stato patrimoniale e nel conto economico, la cui funzione principale è quella di favorire un confronto agevole tra bilanci di annualità differenti o anche di imprese diverse.</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1893454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971370"/>
            <a:ext cx="15855344" cy="9325630"/>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Quando si parla di indici di bilancio si fa riferimento a una lunga serie di dati la cui elaborazione consente di osservare:</a:t>
            </a:r>
          </a:p>
          <a:p>
            <a:pPr algn="just"/>
            <a:endParaRPr lang="it-IT" sz="24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4000" u="sng" dirty="0">
                <a:solidFill>
                  <a:srgbClr val="0070C0"/>
                </a:solidFill>
                <a:latin typeface="Poppins" panose="020B0604020202020204" charset="0"/>
                <a:cs typeface="Poppins" panose="020B0604020202020204" charset="0"/>
              </a:rPr>
              <a:t>la redditività</a:t>
            </a:r>
            <a:r>
              <a:rPr lang="it-IT" sz="4000" dirty="0">
                <a:solidFill>
                  <a:srgbClr val="0070C0"/>
                </a:solidFill>
                <a:latin typeface="Poppins" panose="020B0604020202020204" charset="0"/>
                <a:cs typeface="Poppins" panose="020B0604020202020204" charset="0"/>
              </a:rPr>
              <a:t>, ovvero la capacità di un'impresa di produrre reddito. Tali indicatori sono utili sia per l’azienda, che può verificare il rapporto tra ricavi e costi nelle diverse prospettive sia per gli investitori, che possono avere una previsione circa i possibili ritorni economici del loro investimento;</a:t>
            </a:r>
          </a:p>
          <a:p>
            <a:pPr marL="571500" indent="-571500" algn="just">
              <a:buClr>
                <a:srgbClr val="0070C0"/>
              </a:buClr>
              <a:buFont typeface="Arial" panose="020B0604020202020204" pitchFamily="34" charset="0"/>
              <a:buChar char="•"/>
            </a:pPr>
            <a:r>
              <a:rPr lang="it-IT" sz="4000" u="sng" dirty="0">
                <a:solidFill>
                  <a:srgbClr val="0070C0"/>
                </a:solidFill>
                <a:latin typeface="Poppins" panose="020B0604020202020204" charset="0"/>
                <a:cs typeface="Poppins" panose="020B0604020202020204" charset="0"/>
              </a:rPr>
              <a:t>la liquidità</a:t>
            </a:r>
            <a:r>
              <a:rPr lang="it-IT" sz="4000" dirty="0">
                <a:solidFill>
                  <a:srgbClr val="0070C0"/>
                </a:solidFill>
                <a:latin typeface="Poppins" panose="020B0604020202020204" charset="0"/>
                <a:cs typeface="Poppins" panose="020B0604020202020204" charset="0"/>
              </a:rPr>
              <a:t>, ovvero le informazioni sulla situazione finanziaria di un'azienda e, in particolare, sui flussi monetari nel corso dell'esercizio;</a:t>
            </a:r>
          </a:p>
          <a:p>
            <a:pPr marL="571500" indent="-571500" algn="just">
              <a:buClr>
                <a:srgbClr val="0070C0"/>
              </a:buClr>
              <a:buFont typeface="Arial" panose="020B0604020202020204" pitchFamily="34" charset="0"/>
              <a:buChar char="•"/>
            </a:pPr>
            <a:r>
              <a:rPr lang="it-IT" sz="4000" u="sng" dirty="0">
                <a:solidFill>
                  <a:srgbClr val="0070C0"/>
                </a:solidFill>
                <a:latin typeface="Poppins" panose="020B0604020202020204" charset="0"/>
                <a:cs typeface="Poppins" panose="020B0604020202020204" charset="0"/>
              </a:rPr>
              <a:t>la solvibilità</a:t>
            </a:r>
            <a:r>
              <a:rPr lang="it-IT" sz="4000" dirty="0">
                <a:solidFill>
                  <a:srgbClr val="0070C0"/>
                </a:solidFill>
                <a:latin typeface="Poppins" panose="020B0604020202020204" charset="0"/>
                <a:cs typeface="Poppins" panose="020B0604020202020204" charset="0"/>
              </a:rPr>
              <a:t>, ovvero la capacità di ripagare i propri debiti entro i termini di scadenza.</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0195143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1404015"/>
            <a:ext cx="15855344" cy="8094524"/>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Acronimo di Return On Equity, il </a:t>
            </a:r>
            <a:r>
              <a:rPr lang="it-IT" sz="4000" u="sng" dirty="0">
                <a:solidFill>
                  <a:srgbClr val="0070C0"/>
                </a:solidFill>
                <a:latin typeface="Poppins" panose="020B0604020202020204" charset="0"/>
                <a:cs typeface="Poppins" panose="020B0604020202020204" charset="0"/>
              </a:rPr>
              <a:t>ROE</a:t>
            </a:r>
            <a:r>
              <a:rPr lang="it-IT" sz="4000" dirty="0">
                <a:solidFill>
                  <a:srgbClr val="0070C0"/>
                </a:solidFill>
                <a:latin typeface="Poppins" panose="020B0604020202020204" charset="0"/>
                <a:cs typeface="Poppins" panose="020B0604020202020204" charset="0"/>
              </a:rPr>
              <a:t> è un indice economico sulla redditività del capitale proprio, utilizzato per verificare il tasso di remunerazione del capitale di rischio, ovvero quanto rende il capitale conferito all'azienda dai soci.</a:t>
            </a:r>
          </a:p>
          <a:p>
            <a:pPr algn="just"/>
            <a:endParaRPr lang="it-IT" sz="4000" dirty="0">
              <a:solidFill>
                <a:srgbClr val="0070C0"/>
              </a:solidFill>
              <a:latin typeface="Poppins" panose="020B0604020202020204" charset="0"/>
              <a:cs typeface="Poppins" panose="020B0604020202020204" charset="0"/>
            </a:endParaRPr>
          </a:p>
          <a:p>
            <a:pPr algn="just"/>
            <a:r>
              <a:rPr lang="it-IT" sz="4000" dirty="0">
                <a:solidFill>
                  <a:srgbClr val="0070C0"/>
                </a:solidFill>
                <a:latin typeface="Poppins" panose="020B0604020202020204" charset="0"/>
                <a:cs typeface="Poppins" panose="020B0604020202020204" charset="0"/>
              </a:rPr>
              <a:t>Il suo calcolo fornisce una fotografia sintetica di come il management sia riuscito a gestire i mezzi propri per aumentare gli utili aziendali. Il ROE non è solo determinato dalle scelte compiute nell’ambito della gestione caratteristica, ma anche dalle decisioni in merito alla gestione finanziaria e patrimoniale.</a:t>
            </a:r>
          </a:p>
          <a:p>
            <a:pPr algn="just"/>
            <a:endParaRPr lang="it-IT" sz="4000" dirty="0">
              <a:solidFill>
                <a:srgbClr val="0070C0"/>
              </a:solidFill>
              <a:latin typeface="Poppins" panose="020B0604020202020204" charset="0"/>
              <a:cs typeface="Poppins" panose="020B0604020202020204" charset="0"/>
            </a:endParaRPr>
          </a:p>
          <a:p>
            <a:pPr algn="ctr"/>
            <a:r>
              <a:rPr lang="it-IT" sz="4000" dirty="0">
                <a:solidFill>
                  <a:srgbClr val="0070C0"/>
                </a:solidFill>
                <a:latin typeface="Poppins" panose="020B0604020202020204" charset="0"/>
                <a:cs typeface="Poppins" panose="020B0604020202020204" charset="0"/>
              </a:rPr>
              <a:t>ROE = utile netto / capitale proprio * 100</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28452702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1404015"/>
            <a:ext cx="15855344" cy="8094524"/>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Acronimo di Return on Investment, il </a:t>
            </a:r>
            <a:r>
              <a:rPr lang="it-IT" sz="4000" u="sng" dirty="0">
                <a:solidFill>
                  <a:srgbClr val="0070C0"/>
                </a:solidFill>
                <a:latin typeface="Poppins" panose="020B0604020202020204" charset="0"/>
                <a:cs typeface="Poppins" panose="020B0604020202020204" charset="0"/>
              </a:rPr>
              <a:t>ROI</a:t>
            </a:r>
            <a:r>
              <a:rPr lang="it-IT" sz="4000" dirty="0">
                <a:solidFill>
                  <a:srgbClr val="0070C0"/>
                </a:solidFill>
                <a:latin typeface="Poppins" panose="020B0604020202020204" charset="0"/>
                <a:cs typeface="Poppins" panose="020B0604020202020204" charset="0"/>
              </a:rPr>
              <a:t> è uno degli indicatori di bilancio più utilizzati da investitori e imprenditori per fare luce sulla capacità dell’azienda di impiegare in maniera efficiente le risorse. </a:t>
            </a:r>
          </a:p>
          <a:p>
            <a:pPr algn="just"/>
            <a:endParaRPr lang="it-IT" sz="4000" dirty="0">
              <a:solidFill>
                <a:srgbClr val="0070C0"/>
              </a:solidFill>
              <a:latin typeface="Poppins" panose="020B0604020202020204" charset="0"/>
              <a:cs typeface="Poppins" panose="020B0604020202020204" charset="0"/>
            </a:endParaRPr>
          </a:p>
          <a:p>
            <a:pPr algn="just"/>
            <a:r>
              <a:rPr lang="it-IT" sz="4000" dirty="0">
                <a:solidFill>
                  <a:srgbClr val="0070C0"/>
                </a:solidFill>
                <a:latin typeface="Poppins" panose="020B0604020202020204" charset="0"/>
                <a:cs typeface="Poppins" panose="020B0604020202020204" charset="0"/>
              </a:rPr>
              <a:t>Rappresenta la redditività della gestione caratteristica, rispetto all’intero finanziamento aziendale, ovvero la redditività del capitale investito. In altre parole, il ROI misura la quantità di denaro che un'impresa è in grado di generare dopo aver investito in qualsiasi attività a prescindere dal tipo di fonti di finanziamento utilizzato.</a:t>
            </a:r>
          </a:p>
          <a:p>
            <a:pPr algn="just"/>
            <a:endParaRPr lang="it-IT" sz="4000" dirty="0">
              <a:solidFill>
                <a:srgbClr val="0070C0"/>
              </a:solidFill>
              <a:latin typeface="Poppins" panose="020B0604020202020204" charset="0"/>
              <a:cs typeface="Poppins" panose="020B0604020202020204" charset="0"/>
            </a:endParaRPr>
          </a:p>
          <a:p>
            <a:pPr algn="ctr"/>
            <a:r>
              <a:rPr lang="it-IT" sz="4000" dirty="0">
                <a:solidFill>
                  <a:srgbClr val="0070C0"/>
                </a:solidFill>
                <a:latin typeface="Poppins" panose="020B0604020202020204" charset="0"/>
                <a:cs typeface="Poppins" panose="020B0604020202020204" charset="0"/>
              </a:rPr>
              <a:t>ROI = reddito operativo / capitale investito netto operativo</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7825526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1404015"/>
            <a:ext cx="15855344" cy="7478970"/>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Acronimo di Return on Sale, in italiano redditività delle vendite, il </a:t>
            </a:r>
            <a:r>
              <a:rPr lang="it-IT" sz="4000" u="sng" dirty="0">
                <a:solidFill>
                  <a:srgbClr val="0070C0"/>
                </a:solidFill>
                <a:latin typeface="Poppins" panose="020B0604020202020204" charset="0"/>
                <a:cs typeface="Poppins" panose="020B0604020202020204" charset="0"/>
              </a:rPr>
              <a:t>ROS</a:t>
            </a:r>
            <a:r>
              <a:rPr lang="it-IT" sz="4000" dirty="0">
                <a:solidFill>
                  <a:srgbClr val="0070C0"/>
                </a:solidFill>
                <a:latin typeface="Poppins" panose="020B0604020202020204" charset="0"/>
                <a:cs typeface="Poppins" panose="020B0604020202020204" charset="0"/>
              </a:rPr>
              <a:t> è un indice molto impiegato nell'analisi finanziaria delle imprese industriali e commerciali per valutare l'efficienza operativa di un'azienda, ovvero per capire quanto un’azienda sia in grado di trasformare le vendite in profitti. </a:t>
            </a:r>
          </a:p>
          <a:p>
            <a:pPr algn="just"/>
            <a:endParaRPr lang="it-IT" sz="4000" dirty="0">
              <a:solidFill>
                <a:srgbClr val="0070C0"/>
              </a:solidFill>
              <a:latin typeface="Poppins" panose="020B0604020202020204" charset="0"/>
              <a:cs typeface="Poppins" panose="020B0604020202020204" charset="0"/>
            </a:endParaRPr>
          </a:p>
          <a:p>
            <a:pPr algn="just"/>
            <a:r>
              <a:rPr lang="it-IT" sz="4000" dirty="0">
                <a:solidFill>
                  <a:srgbClr val="0070C0"/>
                </a:solidFill>
                <a:latin typeface="Poppins" panose="020B0604020202020204" charset="0"/>
                <a:cs typeface="Poppins" panose="020B0604020202020204" charset="0"/>
              </a:rPr>
              <a:t>In particolare, si tratta di un indicatore che fornisce informazioni su quanto profitto viene prodotto per ogni euro incassato dalle vendite.</a:t>
            </a:r>
          </a:p>
          <a:p>
            <a:pPr algn="just"/>
            <a:endParaRPr lang="it-IT" sz="4000" dirty="0">
              <a:solidFill>
                <a:srgbClr val="0070C0"/>
              </a:solidFill>
              <a:latin typeface="Poppins" panose="020B0604020202020204" charset="0"/>
              <a:cs typeface="Poppins" panose="020B0604020202020204" charset="0"/>
            </a:endParaRPr>
          </a:p>
          <a:p>
            <a:pPr algn="ctr"/>
            <a:r>
              <a:rPr lang="it-IT" sz="4000" dirty="0">
                <a:solidFill>
                  <a:srgbClr val="0070C0"/>
                </a:solidFill>
                <a:latin typeface="Poppins" panose="020B0604020202020204" charset="0"/>
                <a:cs typeface="Poppins" panose="020B0604020202020204" charset="0"/>
              </a:rPr>
              <a:t>ROS = utile operativo (EBIT) / vendite nette</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6901325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2327344"/>
            <a:ext cx="15855344" cy="4401205"/>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Acronimo di Return on Asset, il </a:t>
            </a:r>
            <a:r>
              <a:rPr lang="it-IT" sz="4000" u="sng" dirty="0">
                <a:solidFill>
                  <a:srgbClr val="0070C0"/>
                </a:solidFill>
                <a:latin typeface="Poppins" panose="020B0604020202020204" charset="0"/>
                <a:cs typeface="Poppins" panose="020B0604020202020204" charset="0"/>
              </a:rPr>
              <a:t>ROA</a:t>
            </a:r>
            <a:r>
              <a:rPr lang="it-IT" sz="4000" dirty="0">
                <a:solidFill>
                  <a:srgbClr val="0070C0"/>
                </a:solidFill>
                <a:latin typeface="Poppins" panose="020B0604020202020204" charset="0"/>
                <a:cs typeface="Poppins" panose="020B0604020202020204" charset="0"/>
              </a:rPr>
              <a:t> è un indice di bilancio che misura la redditività degli asset aziendali, e quindi di tutto l’attivo dell’azienda, ovvero, immobilizzazioni, liquidità disponibile, attività finanziarie di varia natura, crediti verso clienti, materie prime e rimanenze.</a:t>
            </a:r>
          </a:p>
          <a:p>
            <a:pPr algn="just"/>
            <a:endParaRPr lang="it-IT" sz="4000" dirty="0">
              <a:solidFill>
                <a:srgbClr val="0070C0"/>
              </a:solidFill>
              <a:latin typeface="Poppins" panose="020B0604020202020204" charset="0"/>
              <a:cs typeface="Poppins" panose="020B0604020202020204" charset="0"/>
            </a:endParaRPr>
          </a:p>
          <a:p>
            <a:pPr algn="ctr"/>
            <a:r>
              <a:rPr lang="it-IT" sz="4000" dirty="0">
                <a:solidFill>
                  <a:srgbClr val="0070C0"/>
                </a:solidFill>
                <a:latin typeface="Poppins" panose="020B0604020202020204" charset="0"/>
                <a:cs typeface="Poppins" panose="020B0604020202020204" charset="0"/>
              </a:rPr>
              <a:t>ROA = utile operativo / totale attivo * 100</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13579322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1967126"/>
            <a:ext cx="15855344" cy="6863417"/>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Acronimo di </a:t>
            </a:r>
            <a:r>
              <a:rPr lang="it-IT" sz="4000" dirty="0" err="1">
                <a:solidFill>
                  <a:srgbClr val="0070C0"/>
                </a:solidFill>
                <a:latin typeface="Poppins" panose="020B0604020202020204" charset="0"/>
                <a:cs typeface="Poppins" panose="020B0604020202020204" charset="0"/>
              </a:rPr>
              <a:t>Earnings</a:t>
            </a:r>
            <a:r>
              <a:rPr lang="it-IT" sz="4000" dirty="0">
                <a:solidFill>
                  <a:srgbClr val="0070C0"/>
                </a:solidFill>
                <a:latin typeface="Poppins" panose="020B0604020202020204" charset="0"/>
                <a:cs typeface="Poppins" panose="020B0604020202020204" charset="0"/>
              </a:rPr>
              <a:t> </a:t>
            </a:r>
            <a:r>
              <a:rPr lang="it-IT" sz="4000" dirty="0" err="1">
                <a:solidFill>
                  <a:srgbClr val="0070C0"/>
                </a:solidFill>
                <a:latin typeface="Poppins" panose="020B0604020202020204" charset="0"/>
                <a:cs typeface="Poppins" panose="020B0604020202020204" charset="0"/>
              </a:rPr>
              <a:t>before</a:t>
            </a:r>
            <a:r>
              <a:rPr lang="it-IT" sz="4000" dirty="0">
                <a:solidFill>
                  <a:srgbClr val="0070C0"/>
                </a:solidFill>
                <a:latin typeface="Poppins" panose="020B0604020202020204" charset="0"/>
                <a:cs typeface="Poppins" panose="020B0604020202020204" charset="0"/>
              </a:rPr>
              <a:t> </a:t>
            </a:r>
            <a:r>
              <a:rPr lang="it-IT" sz="4000" dirty="0" err="1">
                <a:solidFill>
                  <a:srgbClr val="0070C0"/>
                </a:solidFill>
                <a:latin typeface="Poppins" panose="020B0604020202020204" charset="0"/>
                <a:cs typeface="Poppins" panose="020B0604020202020204" charset="0"/>
              </a:rPr>
              <a:t>Interest</a:t>
            </a:r>
            <a:r>
              <a:rPr lang="it-IT" sz="4000" dirty="0">
                <a:solidFill>
                  <a:srgbClr val="0070C0"/>
                </a:solidFill>
                <a:latin typeface="Poppins" panose="020B0604020202020204" charset="0"/>
                <a:cs typeface="Poppins" panose="020B0604020202020204" charset="0"/>
              </a:rPr>
              <a:t> &amp; Tax, in italiano reddito o utile operativo, l'</a:t>
            </a:r>
            <a:r>
              <a:rPr lang="it-IT" sz="4000" u="sng" dirty="0">
                <a:solidFill>
                  <a:srgbClr val="0070C0"/>
                </a:solidFill>
                <a:latin typeface="Poppins" panose="020B0604020202020204" charset="0"/>
                <a:cs typeface="Poppins" panose="020B0604020202020204" charset="0"/>
              </a:rPr>
              <a:t>EBIT</a:t>
            </a:r>
            <a:r>
              <a:rPr lang="it-IT" sz="4000" dirty="0">
                <a:solidFill>
                  <a:srgbClr val="0070C0"/>
                </a:solidFill>
                <a:latin typeface="Poppins" panose="020B0604020202020204" charset="0"/>
                <a:cs typeface="Poppins" panose="020B0604020202020204" charset="0"/>
              </a:rPr>
              <a:t> è quell'indicatore che mostra l'utile di una società prima che siano state detratte le imposte sul reddito e gli interessi passivi dell'azienda. In un bilancio redatto rispettando i principi contabili, l’EBIT è un risultato intermedio fondamentale, perché consente di valutare la redditività del business dell’impresa, senza considerare la struttura finanziaria dell’impresa.</a:t>
            </a:r>
          </a:p>
          <a:p>
            <a:pPr algn="just"/>
            <a:endParaRPr lang="it-IT" sz="4000" dirty="0">
              <a:solidFill>
                <a:srgbClr val="0070C0"/>
              </a:solidFill>
              <a:latin typeface="Poppins" panose="020B0604020202020204" charset="0"/>
              <a:cs typeface="Poppins" panose="020B0604020202020204" charset="0"/>
            </a:endParaRPr>
          </a:p>
          <a:p>
            <a:pPr algn="ctr"/>
            <a:r>
              <a:rPr lang="it-IT" sz="4000" dirty="0">
                <a:solidFill>
                  <a:srgbClr val="0070C0"/>
                </a:solidFill>
                <a:latin typeface="Poppins" panose="020B0604020202020204" charset="0"/>
                <a:cs typeface="Poppins" panose="020B0604020202020204" charset="0"/>
              </a:rPr>
              <a:t>EBIT = reddito netto + interesse + tasse</a:t>
            </a:r>
          </a:p>
          <a:p>
            <a:pPr algn="ctr"/>
            <a:r>
              <a:rPr lang="it-IT" sz="4000" dirty="0">
                <a:solidFill>
                  <a:srgbClr val="0070C0"/>
                </a:solidFill>
                <a:latin typeface="Poppins" panose="020B0604020202020204" charset="0"/>
                <a:cs typeface="Poppins" panose="020B0604020202020204" charset="0"/>
              </a:rPr>
              <a:t>EBIT = ricavi - costi dei beni venduti - spese operative</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24698392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1856289"/>
            <a:ext cx="15855344" cy="7478970"/>
          </a:xfrm>
          <a:prstGeom prst="rect">
            <a:avLst/>
          </a:prstGeom>
          <a:noFill/>
        </p:spPr>
        <p:txBody>
          <a:bodyPr wrap="square">
            <a:spAutoFit/>
          </a:bodyPr>
          <a:lstStyle/>
          <a:p>
            <a:pPr algn="just"/>
            <a:r>
              <a:rPr lang="it-IT" sz="4000" dirty="0">
                <a:solidFill>
                  <a:srgbClr val="0070C0"/>
                </a:solidFill>
                <a:latin typeface="Poppins" panose="020B0604020202020204" charset="0"/>
                <a:cs typeface="Poppins" panose="020B0604020202020204" charset="0"/>
              </a:rPr>
              <a:t>Acronimo di </a:t>
            </a:r>
            <a:r>
              <a:rPr lang="it-IT" sz="4000" dirty="0" err="1">
                <a:solidFill>
                  <a:srgbClr val="0070C0"/>
                </a:solidFill>
                <a:latin typeface="Poppins" panose="020B0604020202020204" charset="0"/>
                <a:cs typeface="Poppins" panose="020B0604020202020204" charset="0"/>
              </a:rPr>
              <a:t>Earning</a:t>
            </a:r>
            <a:r>
              <a:rPr lang="it-IT" sz="4000" dirty="0">
                <a:solidFill>
                  <a:srgbClr val="0070C0"/>
                </a:solidFill>
                <a:latin typeface="Poppins" panose="020B0604020202020204" charset="0"/>
                <a:cs typeface="Poppins" panose="020B0604020202020204" charset="0"/>
              </a:rPr>
              <a:t> </a:t>
            </a:r>
            <a:r>
              <a:rPr lang="it-IT" sz="4000" dirty="0" err="1">
                <a:solidFill>
                  <a:srgbClr val="0070C0"/>
                </a:solidFill>
                <a:latin typeface="Poppins" panose="020B0604020202020204" charset="0"/>
                <a:cs typeface="Poppins" panose="020B0604020202020204" charset="0"/>
              </a:rPr>
              <a:t>before</a:t>
            </a:r>
            <a:r>
              <a:rPr lang="it-IT" sz="4000" dirty="0">
                <a:solidFill>
                  <a:srgbClr val="0070C0"/>
                </a:solidFill>
                <a:latin typeface="Poppins" panose="020B0604020202020204" charset="0"/>
                <a:cs typeface="Poppins" panose="020B0604020202020204" charset="0"/>
              </a:rPr>
              <a:t> </a:t>
            </a:r>
            <a:r>
              <a:rPr lang="it-IT" sz="4000" dirty="0" err="1">
                <a:solidFill>
                  <a:srgbClr val="0070C0"/>
                </a:solidFill>
                <a:latin typeface="Poppins" panose="020B0604020202020204" charset="0"/>
                <a:cs typeface="Poppins" panose="020B0604020202020204" charset="0"/>
              </a:rPr>
              <a:t>interest</a:t>
            </a:r>
            <a:r>
              <a:rPr lang="it-IT" sz="4000" dirty="0">
                <a:solidFill>
                  <a:srgbClr val="0070C0"/>
                </a:solidFill>
                <a:latin typeface="Poppins" panose="020B0604020202020204" charset="0"/>
                <a:cs typeface="Poppins" panose="020B0604020202020204" charset="0"/>
              </a:rPr>
              <a:t> taxes </a:t>
            </a:r>
            <a:r>
              <a:rPr lang="it-IT" sz="4000" dirty="0" err="1">
                <a:solidFill>
                  <a:srgbClr val="0070C0"/>
                </a:solidFill>
                <a:latin typeface="Poppins" panose="020B0604020202020204" charset="0"/>
                <a:cs typeface="Poppins" panose="020B0604020202020204" charset="0"/>
              </a:rPr>
              <a:t>depreciation</a:t>
            </a:r>
            <a:r>
              <a:rPr lang="it-IT" sz="4000" dirty="0">
                <a:solidFill>
                  <a:srgbClr val="0070C0"/>
                </a:solidFill>
                <a:latin typeface="Poppins" panose="020B0604020202020204" charset="0"/>
                <a:cs typeface="Poppins" panose="020B0604020202020204" charset="0"/>
              </a:rPr>
              <a:t> and </a:t>
            </a:r>
            <a:r>
              <a:rPr lang="it-IT" sz="4000" dirty="0" err="1">
                <a:solidFill>
                  <a:srgbClr val="0070C0"/>
                </a:solidFill>
                <a:latin typeface="Poppins" panose="020B0604020202020204" charset="0"/>
                <a:cs typeface="Poppins" panose="020B0604020202020204" charset="0"/>
              </a:rPr>
              <a:t>amortization</a:t>
            </a:r>
            <a:r>
              <a:rPr lang="it-IT" sz="4000" dirty="0">
                <a:solidFill>
                  <a:srgbClr val="0070C0"/>
                </a:solidFill>
                <a:latin typeface="Poppins" panose="020B0604020202020204" charset="0"/>
                <a:cs typeface="Poppins" panose="020B0604020202020204" charset="0"/>
              </a:rPr>
              <a:t>, in italiano </a:t>
            </a:r>
            <a:r>
              <a:rPr lang="it-IT" sz="4000" u="sng" dirty="0">
                <a:solidFill>
                  <a:srgbClr val="0070C0"/>
                </a:solidFill>
                <a:latin typeface="Poppins" panose="020B0604020202020204" charset="0"/>
                <a:cs typeface="Poppins" panose="020B0604020202020204" charset="0"/>
              </a:rPr>
              <a:t>margine operativo lordo </a:t>
            </a:r>
            <a:r>
              <a:rPr lang="it-IT" sz="4000" dirty="0">
                <a:solidFill>
                  <a:srgbClr val="0070C0"/>
                </a:solidFill>
                <a:latin typeface="Poppins" panose="020B0604020202020204" charset="0"/>
                <a:cs typeface="Poppins" panose="020B0604020202020204" charset="0"/>
              </a:rPr>
              <a:t>(MOL), l'EBITDA è un indicatore di redditività che mostra l’utile di un’impresa prima che vengano sottratti tasse, interessi, svalutazioni e ammortamenti.</a:t>
            </a:r>
          </a:p>
          <a:p>
            <a:pPr algn="just"/>
            <a:endParaRPr lang="it-IT" sz="4000" dirty="0">
              <a:solidFill>
                <a:srgbClr val="0070C0"/>
              </a:solidFill>
              <a:latin typeface="Poppins" panose="020B0604020202020204" charset="0"/>
              <a:cs typeface="Poppins" panose="020B0604020202020204" charset="0"/>
            </a:endParaRPr>
          </a:p>
          <a:p>
            <a:pPr algn="just"/>
            <a:endParaRPr lang="it-IT" sz="4000" dirty="0">
              <a:solidFill>
                <a:srgbClr val="0070C0"/>
              </a:solidFill>
              <a:latin typeface="Poppins" panose="020B0604020202020204" charset="0"/>
              <a:cs typeface="Poppins" panose="020B0604020202020204" charset="0"/>
            </a:endParaRPr>
          </a:p>
          <a:p>
            <a:pPr algn="ctr"/>
            <a:r>
              <a:rPr lang="it-IT" sz="4000" dirty="0">
                <a:solidFill>
                  <a:srgbClr val="0070C0"/>
                </a:solidFill>
                <a:latin typeface="Poppins" panose="020B0604020202020204" charset="0"/>
                <a:cs typeface="Poppins" panose="020B0604020202020204" charset="0"/>
              </a:rPr>
              <a:t>EBITDA (o Margine Operativo Lordo) = utile netto + tasse + interessi passivi + ammortamenti e svalutazioni</a:t>
            </a:r>
          </a:p>
          <a:p>
            <a:pPr algn="just"/>
            <a:endParaRPr lang="it-IT" sz="4000" dirty="0">
              <a:solidFill>
                <a:srgbClr val="0070C0"/>
              </a:solidFill>
              <a:latin typeface="Poppins" panose="020B0604020202020204" charset="0"/>
              <a:cs typeface="Poppins" panose="020B0604020202020204" charset="0"/>
            </a:endParaRPr>
          </a:p>
          <a:p>
            <a:pPr algn="ctr"/>
            <a:r>
              <a:rPr lang="it-IT" sz="4000" dirty="0">
                <a:solidFill>
                  <a:srgbClr val="0070C0"/>
                </a:solidFill>
                <a:latin typeface="Poppins" panose="020B0604020202020204" charset="0"/>
                <a:cs typeface="Poppins" panose="020B0604020202020204" charset="0"/>
              </a:rPr>
              <a:t>EBITDA (o Margine Operativo Lordo) = fatturato - costi della produzione - costi generali - costi del personale</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2536885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16328" y="2521307"/>
            <a:ext cx="15855344" cy="4401205"/>
          </a:xfrm>
          <a:prstGeom prst="rect">
            <a:avLst/>
          </a:prstGeom>
          <a:noFill/>
        </p:spPr>
        <p:txBody>
          <a:bodyPr wrap="square">
            <a:spAutoFit/>
          </a:bodyPr>
          <a:lstStyle/>
          <a:p>
            <a:pPr algn="just"/>
            <a:r>
              <a:rPr lang="it-IT" sz="4000" u="sng" dirty="0">
                <a:solidFill>
                  <a:srgbClr val="0070C0"/>
                </a:solidFill>
                <a:latin typeface="Poppins" panose="020B0604020202020204" charset="0"/>
                <a:cs typeface="Poppins" panose="020B0604020202020204" charset="0"/>
              </a:rPr>
              <a:t>L’utile netto</a:t>
            </a:r>
            <a:r>
              <a:rPr lang="it-IT" sz="4000" dirty="0">
                <a:solidFill>
                  <a:srgbClr val="0070C0"/>
                </a:solidFill>
                <a:latin typeface="Poppins" panose="020B0604020202020204" charset="0"/>
                <a:cs typeface="Poppins" panose="020B0604020202020204" charset="0"/>
              </a:rPr>
              <a:t>, detto anche reddito netto, è un dato strategico per valutare la redditività di una società in un determinato periodo. Si tratta in pratica di quello che rimane nelle tasche dell’imprenditore o dei soci dopo aver sottratto i ricavi, le spese, le tasse e gli interessi.</a:t>
            </a:r>
          </a:p>
          <a:p>
            <a:pPr algn="just"/>
            <a:endParaRPr lang="it-IT" sz="4000" dirty="0">
              <a:solidFill>
                <a:srgbClr val="0070C0"/>
              </a:solidFill>
              <a:latin typeface="Poppins" panose="020B0604020202020204" charset="0"/>
              <a:cs typeface="Poppins" panose="020B0604020202020204" charset="0"/>
            </a:endParaRPr>
          </a:p>
          <a:p>
            <a:pPr algn="ctr"/>
            <a:r>
              <a:rPr lang="it-IT" sz="4000" dirty="0">
                <a:solidFill>
                  <a:srgbClr val="0070C0"/>
                </a:solidFill>
                <a:latin typeface="Poppins" panose="020B0604020202020204" charset="0"/>
                <a:cs typeface="Poppins" panose="020B0604020202020204" charset="0"/>
              </a:rPr>
              <a:t>Utile netto = ricavi totali - spese - tasse</a:t>
            </a:r>
            <a:endParaRPr lang="it-IT" sz="44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890559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pic>
        <p:nvPicPr>
          <p:cNvPr id="3" name="Immagine 2">
            <a:extLst>
              <a:ext uri="{FF2B5EF4-FFF2-40B4-BE49-F238E27FC236}">
                <a16:creationId xmlns:a16="http://schemas.microsoft.com/office/drawing/2014/main" id="{77582E0A-27E6-4FF0-9B1E-5F54EFB013DB}"/>
              </a:ext>
            </a:extLst>
          </p:cNvPr>
          <p:cNvPicPr>
            <a:picLocks noChangeAspect="1"/>
          </p:cNvPicPr>
          <p:nvPr/>
        </p:nvPicPr>
        <p:blipFill>
          <a:blip r:embed="rId3"/>
          <a:stretch>
            <a:fillRect/>
          </a:stretch>
        </p:blipFill>
        <p:spPr>
          <a:xfrm>
            <a:off x="4211782" y="971370"/>
            <a:ext cx="11952143" cy="9085118"/>
          </a:xfrm>
          <a:prstGeom prst="rect">
            <a:avLst/>
          </a:prstGeom>
        </p:spPr>
      </p:pic>
      <p:sp>
        <p:nvSpPr>
          <p:cNvPr id="4" name="Rettangolo 3">
            <a:extLst>
              <a:ext uri="{FF2B5EF4-FFF2-40B4-BE49-F238E27FC236}">
                <a16:creationId xmlns:a16="http://schemas.microsoft.com/office/drawing/2014/main" id="{2F5CF2BB-E1E4-410F-8B04-A9D36FD43E75}"/>
              </a:ext>
            </a:extLst>
          </p:cNvPr>
          <p:cNvSpPr/>
          <p:nvPr/>
        </p:nvSpPr>
        <p:spPr>
          <a:xfrm>
            <a:off x="14859000" y="1309255"/>
            <a:ext cx="1184564" cy="1059872"/>
          </a:xfrm>
          <a:prstGeom prst="rect">
            <a:avLst/>
          </a:prstGeom>
          <a:solidFill>
            <a:srgbClr val="316D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3078067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3" name="Google Shape;183;p22"/>
          <p:cNvSpPr txBox="1"/>
          <p:nvPr/>
        </p:nvSpPr>
        <p:spPr>
          <a:xfrm>
            <a:off x="1694985" y="602166"/>
            <a:ext cx="9250106" cy="369204"/>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INDICI DI BILANCIO</a:t>
            </a:r>
            <a:endParaRPr lang="en-US" dirty="0"/>
          </a:p>
        </p:txBody>
      </p:sp>
      <p:pic>
        <p:nvPicPr>
          <p:cNvPr id="2" name="Elementi multimediali online 1" title="Analisi di Bilancio - Analisi per indici">
            <a:hlinkClick r:id="" action="ppaction://media"/>
            <a:extLst>
              <a:ext uri="{FF2B5EF4-FFF2-40B4-BE49-F238E27FC236}">
                <a16:creationId xmlns:a16="http://schemas.microsoft.com/office/drawing/2014/main" id="{EC75D0E6-8EB7-4745-8EA1-932AA633BF5A}"/>
              </a:ext>
            </a:extLst>
          </p:cNvPr>
          <p:cNvPicPr>
            <a:picLocks noRot="1" noChangeAspect="1"/>
          </p:cNvPicPr>
          <p:nvPr>
            <a:videoFile r:link="rId1"/>
          </p:nvPr>
        </p:nvPicPr>
        <p:blipFill>
          <a:blip r:embed="rId4"/>
          <a:stretch>
            <a:fillRect/>
          </a:stretch>
        </p:blipFill>
        <p:spPr>
          <a:xfrm>
            <a:off x="2369183" y="1786659"/>
            <a:ext cx="13549633" cy="7655543"/>
          </a:xfrm>
          <a:prstGeom prst="rect">
            <a:avLst/>
          </a:prstGeom>
        </p:spPr>
      </p:pic>
    </p:spTree>
    <p:extLst>
      <p:ext uri="{BB962C8B-B14F-4D97-AF65-F5344CB8AC3E}">
        <p14:creationId xmlns:p14="http://schemas.microsoft.com/office/powerpoint/2010/main" val="3409347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CEADD803C0F48442AB4649F39F36D470" ma:contentTypeVersion="3" ma:contentTypeDescription="Creare un nuovo documento." ma:contentTypeScope="" ma:versionID="d35b2196341eb729f5da875762150e16">
  <xsd:schema xmlns:xsd="http://www.w3.org/2001/XMLSchema" xmlns:xs="http://www.w3.org/2001/XMLSchema" xmlns:p="http://schemas.microsoft.com/office/2006/metadata/properties" xmlns:ns2="e77681ba-7771-496a-b5df-ee3e7b098b60" targetNamespace="http://schemas.microsoft.com/office/2006/metadata/properties" ma:root="true" ma:fieldsID="a7b6408fcc08daad0ede9d1b64b7a63e" ns2:_="">
    <xsd:import namespace="e77681ba-7771-496a-b5df-ee3e7b098b6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7681ba-7771-496a-b5df-ee3e7b098b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C820A34-4FC7-41C4-9036-64B7ACCD363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EA66C3F-C0EA-4082-8A13-240251602BD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77681ba-7771-496a-b5df-ee3e7b098b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8B15084-F841-4055-8329-539DA79D24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886</TotalTime>
  <Words>3072</Words>
  <Application>Microsoft Office PowerPoint</Application>
  <PresentationFormat>Personalizzato</PresentationFormat>
  <Paragraphs>227</Paragraphs>
  <Slides>42</Slides>
  <Notes>42</Notes>
  <HiddenSlides>0</HiddenSlides>
  <MMClips>1</MMClips>
  <ScaleCrop>false</ScaleCrop>
  <HeadingPairs>
    <vt:vector size="4" baseType="variant">
      <vt:variant>
        <vt:lpstr>Tema</vt:lpstr>
      </vt:variant>
      <vt:variant>
        <vt:i4>1</vt:i4>
      </vt:variant>
      <vt:variant>
        <vt:lpstr>Titoli diapositive</vt:lpstr>
      </vt:variant>
      <vt:variant>
        <vt:i4>42</vt:i4>
      </vt:variant>
    </vt:vector>
  </HeadingPairs>
  <TitlesOfParts>
    <vt:vector size="43" baseType="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Lenovo</dc:creator>
  <cp:lastModifiedBy>Piccirillo Giuseppe</cp:lastModifiedBy>
  <cp:revision>27</cp:revision>
  <dcterms:modified xsi:type="dcterms:W3CDTF">2026-06-01T14:23:36Z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0x010100CEADD803C0F48442AB4649F39F36D470</vt:lpwstr>
  </property>
</Properties>
</file>