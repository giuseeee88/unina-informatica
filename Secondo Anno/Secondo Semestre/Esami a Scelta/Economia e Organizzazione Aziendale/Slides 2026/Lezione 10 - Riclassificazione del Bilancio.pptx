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6"/>
  </p:notesMasterIdLst>
  <p:sldIdLst>
    <p:sldId id="321" r:id="rId6"/>
    <p:sldId id="319" r:id="rId7"/>
    <p:sldId id="323" r:id="rId8"/>
    <p:sldId id="324" r:id="rId9"/>
    <p:sldId id="325" r:id="rId10"/>
    <p:sldId id="326" r:id="rId11"/>
    <p:sldId id="327" r:id="rId12"/>
    <p:sldId id="256" r:id="rId13"/>
    <p:sldId id="257" r:id="rId14"/>
    <p:sldId id="258" r:id="rId15"/>
    <p:sldId id="259" r:id="rId16"/>
    <p:sldId id="322" r:id="rId17"/>
    <p:sldId id="284" r:id="rId18"/>
    <p:sldId id="309" r:id="rId19"/>
    <p:sldId id="311" r:id="rId20"/>
    <p:sldId id="312" r:id="rId21"/>
    <p:sldId id="313" r:id="rId22"/>
    <p:sldId id="314" r:id="rId23"/>
    <p:sldId id="315" r:id="rId24"/>
    <p:sldId id="318" r:id="rId2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921"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493A2-DF13-4115-97E7-C6035F4116CB}" type="datetimeFigureOut">
              <a:rPr lang="it-IT" smtClean="0"/>
              <a:t>01/06/2026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4C47E-9652-49FD-81BB-9E5D2317455D}" type="slidenum">
              <a:rPr lang="it-IT" smtClean="0"/>
              <a:t>‹N›</a:t>
            </a:fld>
            <a:endParaRPr lang="it-IT"/>
          </a:p>
        </p:txBody>
      </p:sp>
    </p:spTree>
    <p:extLst>
      <p:ext uri="{BB962C8B-B14F-4D97-AF65-F5344CB8AC3E}">
        <p14:creationId xmlns:p14="http://schemas.microsoft.com/office/powerpoint/2010/main" val="37551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5</a:t>
            </a:fld>
            <a:endParaRPr lang="it-IT"/>
          </a:p>
        </p:txBody>
      </p:sp>
    </p:spTree>
    <p:extLst>
      <p:ext uri="{BB962C8B-B14F-4D97-AF65-F5344CB8AC3E}">
        <p14:creationId xmlns:p14="http://schemas.microsoft.com/office/powerpoint/2010/main" val="4178559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6</a:t>
            </a:fld>
            <a:endParaRPr lang="it-IT"/>
          </a:p>
        </p:txBody>
      </p:sp>
    </p:spTree>
    <p:extLst>
      <p:ext uri="{BB962C8B-B14F-4D97-AF65-F5344CB8AC3E}">
        <p14:creationId xmlns:p14="http://schemas.microsoft.com/office/powerpoint/2010/main" val="4206384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7</a:t>
            </a:fld>
            <a:endParaRPr lang="it-IT"/>
          </a:p>
        </p:txBody>
      </p:sp>
    </p:spTree>
    <p:extLst>
      <p:ext uri="{BB962C8B-B14F-4D97-AF65-F5344CB8AC3E}">
        <p14:creationId xmlns:p14="http://schemas.microsoft.com/office/powerpoint/2010/main" val="3631885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16</a:t>
            </a:fld>
            <a:endParaRPr lang="it-IT"/>
          </a:p>
        </p:txBody>
      </p:sp>
    </p:spTree>
    <p:extLst>
      <p:ext uri="{BB962C8B-B14F-4D97-AF65-F5344CB8AC3E}">
        <p14:creationId xmlns:p14="http://schemas.microsoft.com/office/powerpoint/2010/main" val="3828793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20</a:t>
            </a:fld>
            <a:endParaRPr lang="it-IT"/>
          </a:p>
        </p:txBody>
      </p:sp>
    </p:spTree>
    <p:extLst>
      <p:ext uri="{BB962C8B-B14F-4D97-AF65-F5344CB8AC3E}">
        <p14:creationId xmlns:p14="http://schemas.microsoft.com/office/powerpoint/2010/main" val="2002246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368837-5288-47E5-A833-E3E3519B3F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578F856-4B6A-4ED6-A203-1BE5896FF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D2E2E7D-4CA7-43C7-A807-ECCE44C5A945}"/>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DDDA2F36-3038-4040-8483-E73ACE0AD1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94B57-E4E9-4A8F-98E3-0E51EC1A2152}"/>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291012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3C5775-AB0F-46CE-BA22-390245003B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16510D4-E73D-451E-B48E-4BCA9307FB89}"/>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3BDE66-140A-4845-B713-0276F509A865}"/>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E6E24D9D-DAFA-4623-B545-D642CCCC5B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60DE184-B902-425B-B1B1-979C12A8FE64}"/>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122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8EE8D5-3730-4DBD-A749-781D7879011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CE7788-352D-48DD-84A7-D04E87F33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9B2F352B-5879-4EE4-AC7E-A224962B15A2}"/>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FC5737B0-274F-4323-84A7-A6C6B1392D8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05AE5D-D98A-45E6-85CE-458A4503130F}"/>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8608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64C420-186E-4B94-972B-7ABA8E9B82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24CD84D-C174-499D-8E8F-0D392E00B6A1}"/>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3F88DA7-AFF0-426E-820B-3C838D5B8280}"/>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0A725E-7EF5-4915-831C-C0F2F5E682BA}"/>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9CD361F0-0898-40D5-BF49-830517AD9B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4E2330-B793-45D4-B81A-4E306F5F582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568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B5F04-31DF-43EB-956B-4EAC3EBEC2F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D81060-765D-41DE-A86C-916CE029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A88A0D31-EDD4-4372-A8C7-6343D7C4FD84}"/>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7D0FA69-B712-46BC-9393-03F759648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E55F1BD7-4DCA-4EB9-A453-353920514E1B}"/>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31EA687-BCAD-4D59-9B5A-A8C15BB78591}"/>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8" name="Segnaposto piè di pagina 7">
            <a:extLst>
              <a:ext uri="{FF2B5EF4-FFF2-40B4-BE49-F238E27FC236}">
                <a16:creationId xmlns:a16="http://schemas.microsoft.com/office/drawing/2014/main" id="{D6B3CED9-8688-43D0-98F1-E8E3D189D57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B00C7AF-27C8-4F0A-BC21-05660E2FE13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19624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2E6E2-3353-4A3A-8B2C-BDACE1973B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D8C5F73-F032-4CC9-B247-78BA3D9E0810}"/>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4" name="Segnaposto piè di pagina 3">
            <a:extLst>
              <a:ext uri="{FF2B5EF4-FFF2-40B4-BE49-F238E27FC236}">
                <a16:creationId xmlns:a16="http://schemas.microsoft.com/office/drawing/2014/main" id="{8D635235-9FE9-4CEF-87A0-F66DC6DEEB1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B71705-86F9-4116-8F32-A13CE56CEE9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766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8D9CB1-8F78-4C37-AD0A-B492C0678076}"/>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3" name="Segnaposto piè di pagina 2">
            <a:extLst>
              <a:ext uri="{FF2B5EF4-FFF2-40B4-BE49-F238E27FC236}">
                <a16:creationId xmlns:a16="http://schemas.microsoft.com/office/drawing/2014/main" id="{9B540092-6ABE-420D-A902-021F6538AAD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BBE8BC9-4090-4683-B534-3818804D778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847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C9FB83-FA33-45B9-BFEC-D5C829B778F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B1EF28E-23D5-4DBB-A827-4D40FAE85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D0A8C9A-3FD8-41BC-B0D6-BABC43A0C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E961658A-27D5-4587-9A78-FA2704CEDA40}"/>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6D43C08F-25A8-451C-9502-B6C2C852C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7D59952-49F9-4D6B-83B0-AE52CF3FB1B5}"/>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07320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872A0-49A4-41AE-9158-785521A3E8A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F092E96-E1E5-4E7B-8169-7BDB7C616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C869C89-12CD-4FE1-A00B-CA7CB7DD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1C84C2D0-BE17-4C01-81C6-72CF033D2797}"/>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C752A295-24E9-4505-B8F6-F1E8AF0C99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21BB4F-4DF6-41EF-9BAE-3593EECE76A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418801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AA7206-1E15-48EB-9513-5090494FA5F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2D3766-4530-4B58-BB58-6A7C97BDF323}"/>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F698F9-B520-4001-8F4A-D067C36FF8F3}"/>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0CC86F44-2F84-43CF-9F7E-58E0AAF93FD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506024-6409-4235-B64A-8715E416E4B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9514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D73AA2F-F844-4B33-9D7A-65FF40BFA15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13E856E-C78D-4558-A739-2748DE8F4005}"/>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EB624E1-4E3E-47D6-A5D1-A0FF513C4FA8}"/>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7AA06D3C-62A8-410B-91E4-2670EFC563E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8D0662-936B-4C63-9D2B-6BD61185BE9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44714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5524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421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75923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6"/>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1010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7"/>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7"/>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7"/>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9116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50080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9"/>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00617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194859" y="408517"/>
            <a:ext cx="3657600" cy="2743200"/>
          </a:xfrm>
          <a:prstGeom prst="rect">
            <a:avLst/>
          </a:prstGeom>
          <a:noFill/>
          <a:ln>
            <a:noFill/>
          </a:ln>
        </p:spPr>
      </p:sp>
      <p:sp>
        <p:nvSpPr>
          <p:cNvPr id="64" name="Google Shape;64;p10"/>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1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40888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3802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3440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FE853A8-BABE-4EEA-9FB1-73EA704E8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7CB922-0E3E-41C0-9C80-31C796257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024FB5-D1BA-4637-A2B3-2469BDB1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2FC43967-B4CD-4ABA-9935-2FFB83B74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D309784-7990-4C3F-B899-222DC7D40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4672-51B9-4845-9E81-C2365497E07A}" type="slidenum">
              <a:rPr lang="it-IT" smtClean="0"/>
              <a:t>‹N›</a:t>
            </a:fld>
            <a:endParaRPr lang="it-IT"/>
          </a:p>
        </p:txBody>
      </p:sp>
    </p:spTree>
    <p:extLst>
      <p:ext uri="{BB962C8B-B14F-4D97-AF65-F5344CB8AC3E}">
        <p14:creationId xmlns:p14="http://schemas.microsoft.com/office/powerpoint/2010/main" val="165913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3376978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685800" y="834282"/>
            <a:ext cx="2706633" cy="96235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7767684" y="3048800"/>
            <a:ext cx="3738517" cy="2972121"/>
          </a:xfrm>
          <a:prstGeom prst="rect">
            <a:avLst/>
          </a:prstGeom>
          <a:noFill/>
          <a:ln>
            <a:noFill/>
          </a:ln>
        </p:spPr>
      </p:pic>
      <p:sp>
        <p:nvSpPr>
          <p:cNvPr id="86" name="Google Shape;86;p13"/>
          <p:cNvSpPr txBox="1"/>
          <p:nvPr/>
        </p:nvSpPr>
        <p:spPr>
          <a:xfrm>
            <a:off x="685800" y="3201627"/>
            <a:ext cx="4832657" cy="1034129"/>
          </a:xfrm>
          <a:prstGeom prst="rect">
            <a:avLst/>
          </a:prstGeom>
          <a:noFill/>
          <a:ln>
            <a:noFill/>
          </a:ln>
        </p:spPr>
        <p:txBody>
          <a:bodyPr spcFirstLastPara="1" wrap="square" lIns="0" tIns="0" rIns="0" bIns="0" anchor="t" anchorCtr="0">
            <a:spAutoFit/>
          </a:bodyPr>
          <a:lstStyle/>
          <a:p>
            <a:pPr defTabSz="609630">
              <a:lnSpc>
                <a:spcPct val="120000"/>
              </a:lnSpc>
              <a:buClr>
                <a:srgbClr val="000000"/>
              </a:buClr>
            </a:pPr>
            <a:r>
              <a:rPr lang="en-US" sz="5600" b="1" kern="0">
                <a:solidFill>
                  <a:srgbClr val="FFFFFF"/>
                </a:solidFill>
                <a:latin typeface="Poppins SemiBold"/>
                <a:ea typeface="Poppins SemiBold"/>
                <a:cs typeface="Poppins SemiBold"/>
                <a:sym typeface="Poppins SemiBold"/>
              </a:rPr>
              <a:t>Corso EOA</a:t>
            </a:r>
            <a:endParaRPr sz="933" kern="0">
              <a:solidFill>
                <a:srgbClr val="000000"/>
              </a:solidFill>
              <a:latin typeface="Arial"/>
              <a:cs typeface="Arial"/>
              <a:sym typeface="Arial"/>
            </a:endParaRPr>
          </a:p>
        </p:txBody>
      </p:sp>
      <p:sp>
        <p:nvSpPr>
          <p:cNvPr id="87" name="Google Shape;87;p13"/>
          <p:cNvSpPr txBox="1"/>
          <p:nvPr/>
        </p:nvSpPr>
        <p:spPr>
          <a:xfrm>
            <a:off x="3585412" y="902380"/>
            <a:ext cx="3151981" cy="660437"/>
          </a:xfrm>
          <a:prstGeom prst="rect">
            <a:avLst/>
          </a:prstGeom>
          <a:noFill/>
          <a:ln>
            <a:noFill/>
          </a:ln>
        </p:spPr>
        <p:txBody>
          <a:bodyPr spcFirstLastPara="1" wrap="square" lIns="0" tIns="0" rIns="0" bIns="0" anchor="t" anchorCtr="0">
            <a:spAutoFit/>
          </a:bodyPr>
          <a:lstStyle/>
          <a:p>
            <a:pPr defTabSz="609630">
              <a:lnSpc>
                <a:spcPct val="161030"/>
              </a:lnSpc>
              <a:buClr>
                <a:srgbClr val="000000"/>
              </a:buClr>
            </a:pPr>
            <a:r>
              <a:rPr lang="en-US" sz="1333" b="1" kern="0" dirty="0">
                <a:solidFill>
                  <a:srgbClr val="FFFFFF"/>
                </a:solidFill>
                <a:latin typeface="Poppins"/>
                <a:ea typeface="Poppins"/>
                <a:cs typeface="Poppins"/>
                <a:sym typeface="Poppins"/>
              </a:rPr>
              <a:t>LAUREA TRIENNALE IN INFORMATICA </a:t>
            </a:r>
            <a:endParaRPr sz="933" kern="0" dirty="0">
              <a:solidFill>
                <a:srgbClr val="000000"/>
              </a:solidFill>
              <a:latin typeface="Arial"/>
              <a:cs typeface="Arial"/>
              <a:sym typeface="Arial"/>
            </a:endParaRPr>
          </a:p>
        </p:txBody>
      </p:sp>
      <p:sp>
        <p:nvSpPr>
          <p:cNvPr id="88" name="Google Shape;88;p13"/>
          <p:cNvSpPr txBox="1"/>
          <p:nvPr/>
        </p:nvSpPr>
        <p:spPr>
          <a:xfrm>
            <a:off x="687679" y="4196240"/>
            <a:ext cx="4473724" cy="590931"/>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867" b="1" kern="0" dirty="0">
                <a:solidFill>
                  <a:srgbClr val="FFFFFF"/>
                </a:solidFill>
                <a:latin typeface="Poppins"/>
                <a:ea typeface="Poppins"/>
                <a:cs typeface="Poppins"/>
                <a:sym typeface="Poppins"/>
              </a:rPr>
              <a:t>Prof. Giuseppe </a:t>
            </a:r>
            <a:r>
              <a:rPr lang="en-US" sz="1867" b="1" kern="0" dirty="0" err="1">
                <a:solidFill>
                  <a:srgbClr val="FFFFFF"/>
                </a:solidFill>
                <a:latin typeface="Poppins"/>
                <a:ea typeface="Poppins"/>
                <a:cs typeface="Poppins"/>
                <a:sym typeface="Poppins"/>
              </a:rPr>
              <a:t>Piccirillo</a:t>
            </a:r>
            <a:endParaRPr sz="1333" kern="0" dirty="0">
              <a:solidFill>
                <a:srgbClr val="000000"/>
              </a:solidFill>
              <a:latin typeface="Arial"/>
              <a:cs typeface="Arial"/>
              <a:sym typeface="Arial"/>
            </a:endParaRPr>
          </a:p>
          <a:p>
            <a:pPr defTabSz="609630">
              <a:lnSpc>
                <a:spcPct val="120010"/>
              </a:lnSpc>
              <a:buClr>
                <a:srgbClr val="000000"/>
              </a:buClr>
            </a:pPr>
            <a:endParaRPr sz="1333" b="1" kern="0" dirty="0">
              <a:solidFill>
                <a:srgbClr val="FFFFFF"/>
              </a:solidFill>
              <a:latin typeface="Poppins"/>
              <a:ea typeface="Poppins"/>
              <a:cs typeface="Poppins"/>
              <a:sym typeface="Poppins"/>
            </a:endParaRPr>
          </a:p>
        </p:txBody>
      </p:sp>
      <p:sp>
        <p:nvSpPr>
          <p:cNvPr id="89" name="Google Shape;89;p13"/>
          <p:cNvSpPr txBox="1"/>
          <p:nvPr/>
        </p:nvSpPr>
        <p:spPr>
          <a:xfrm>
            <a:off x="6967489" y="959530"/>
            <a:ext cx="3694067" cy="492314"/>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333" b="1" kern="0" dirty="0">
                <a:solidFill>
                  <a:srgbClr val="FFFFFF"/>
                </a:solidFill>
                <a:latin typeface="Poppins"/>
                <a:ea typeface="Poppins"/>
                <a:cs typeface="Poppins"/>
                <a:sym typeface="Poppins"/>
              </a:rPr>
              <a:t>CORSO II SEMESTRE</a:t>
            </a:r>
            <a:endParaRPr sz="933" kern="0" dirty="0">
              <a:solidFill>
                <a:srgbClr val="000000"/>
              </a:solidFill>
              <a:latin typeface="Arial"/>
              <a:cs typeface="Arial"/>
              <a:sym typeface="Arial"/>
            </a:endParaRPr>
          </a:p>
          <a:p>
            <a:pPr defTabSz="609630">
              <a:lnSpc>
                <a:spcPct val="120010"/>
              </a:lnSpc>
              <a:buClr>
                <a:srgbClr val="000000"/>
              </a:buClr>
            </a:pPr>
            <a:r>
              <a:rPr lang="en-US" sz="1333" b="1" kern="0">
                <a:solidFill>
                  <a:srgbClr val="FFFFFF"/>
                </a:solidFill>
                <a:latin typeface="Poppins"/>
                <a:ea typeface="Poppins"/>
                <a:cs typeface="Poppins"/>
                <a:sym typeface="Poppins"/>
              </a:rPr>
              <a:t>2025 - 2026</a:t>
            </a:r>
            <a:endParaRPr sz="933" kern="0" dirty="0">
              <a:solidFill>
                <a:srgbClr val="000000"/>
              </a:solidFill>
              <a:latin typeface="Arial"/>
              <a:cs typeface="Arial"/>
              <a:sym typeface="Arial"/>
            </a:endParaRPr>
          </a:p>
        </p:txBody>
      </p:sp>
      <p:sp>
        <p:nvSpPr>
          <p:cNvPr id="91" name="Google Shape;91;p13"/>
          <p:cNvSpPr txBox="1"/>
          <p:nvPr/>
        </p:nvSpPr>
        <p:spPr>
          <a:xfrm>
            <a:off x="685800" y="2453454"/>
            <a:ext cx="10124792" cy="369204"/>
          </a:xfrm>
          <a:prstGeom prst="rect">
            <a:avLst/>
          </a:prstGeom>
          <a:noFill/>
          <a:ln>
            <a:noFill/>
          </a:ln>
        </p:spPr>
        <p:txBody>
          <a:bodyPr spcFirstLastPara="1" wrap="square" lIns="0" tIns="0" rIns="0" bIns="0" anchor="t" anchorCtr="0">
            <a:spAutoFit/>
          </a:bodyPr>
          <a:lstStyle/>
          <a:p>
            <a:pPr defTabSz="609630">
              <a:lnSpc>
                <a:spcPct val="120006"/>
              </a:lnSpc>
              <a:buClr>
                <a:srgbClr val="000000"/>
              </a:buClr>
            </a:pPr>
            <a:r>
              <a:rPr lang="en-US" sz="1999" b="1" kern="0" dirty="0">
                <a:solidFill>
                  <a:srgbClr val="FFFFFF"/>
                </a:solidFill>
                <a:latin typeface="Poppins"/>
                <a:ea typeface="Poppins"/>
                <a:cs typeface="Poppins"/>
                <a:sym typeface="Poppins"/>
              </a:rPr>
              <a:t>LEZIONE. </a:t>
            </a:r>
            <a:r>
              <a:rPr lang="en-US" sz="1999" b="1" kern="0">
                <a:solidFill>
                  <a:srgbClr val="FFFFFF"/>
                </a:solidFill>
                <a:latin typeface="Poppins"/>
                <a:ea typeface="Poppins"/>
                <a:cs typeface="Poppins"/>
                <a:sym typeface="Poppins"/>
              </a:rPr>
              <a:t>10 </a:t>
            </a:r>
            <a:r>
              <a:rPr lang="en-US" sz="1999" b="1" kern="0" dirty="0">
                <a:solidFill>
                  <a:srgbClr val="FFFFFF"/>
                </a:solidFill>
                <a:latin typeface="Poppins"/>
                <a:ea typeface="Poppins"/>
                <a:cs typeface="Poppins"/>
                <a:sym typeface="Poppins"/>
              </a:rPr>
              <a:t>-  RICLASSIFICARE IL BILANCIO</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401205"/>
          </a:xfrm>
          <a:prstGeom prst="rect">
            <a:avLst/>
          </a:prstGeom>
        </p:spPr>
        <p:txBody>
          <a:bodyPr wrap="square">
            <a:spAutoFit/>
          </a:bodyPr>
          <a:lstStyle/>
          <a:p>
            <a:pPr algn="just"/>
            <a:r>
              <a:rPr lang="it-IT" sz="4000" u="sng" dirty="0">
                <a:solidFill>
                  <a:srgbClr val="0070C0"/>
                </a:solidFill>
                <a:latin typeface="Poppins" panose="020B0604020202020204" charset="0"/>
                <a:cs typeface="Poppins" panose="020B0604020202020204" charset="0"/>
              </a:rPr>
              <a:t>Riclassificare</a:t>
            </a:r>
            <a:r>
              <a:rPr lang="it-IT" sz="4000" dirty="0">
                <a:solidFill>
                  <a:srgbClr val="0070C0"/>
                </a:solidFill>
                <a:latin typeface="Poppins" panose="020B0604020202020204" charset="0"/>
                <a:cs typeface="Poppins" panose="020B0604020202020204" charset="0"/>
              </a:rPr>
              <a:t> significa disporre i dati di partenza contenuti nello stato patrimoniale e nel conto economico in un’altra maniera, disaggregandoli, riaggregandoli e infine riordinandoli diversamente, così da evidenziare alcune voci e favorire il confronto o l’analisi.</a:t>
            </a:r>
          </a:p>
        </p:txBody>
      </p:sp>
    </p:spTree>
    <p:extLst>
      <p:ext uri="{BB962C8B-B14F-4D97-AF65-F5344CB8AC3E}">
        <p14:creationId xmlns:p14="http://schemas.microsoft.com/office/powerpoint/2010/main" val="321679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524315"/>
          </a:xfrm>
          <a:prstGeom prst="rect">
            <a:avLst/>
          </a:prstGeom>
        </p:spPr>
        <p:txBody>
          <a:bodyPr wrap="square">
            <a:spAutoFit/>
          </a:bodyPr>
          <a:lstStyle/>
          <a:p>
            <a:pPr algn="just"/>
            <a:r>
              <a:rPr lang="it-IT" sz="3600" dirty="0">
                <a:solidFill>
                  <a:srgbClr val="0070C0"/>
                </a:solidFill>
                <a:latin typeface="Poppins" panose="020B0604020202020204" charset="0"/>
                <a:cs typeface="Poppins" panose="020B0604020202020204" charset="0"/>
              </a:rPr>
              <a:t>Bisogna creare un nuovo schema di stato patrimoniale in cui le attività e le passività restano sempre separate, ma sono ordinate in maniera decrescente in funzione della loro liquidità o esigibilità: si comincia a sistemare nella parte alta quelle che vengono trasformate in denaro per prime e si finisce con quelle che hanno una durata maggiore.</a:t>
            </a:r>
          </a:p>
        </p:txBody>
      </p:sp>
    </p:spTree>
    <p:extLst>
      <p:ext uri="{BB962C8B-B14F-4D97-AF65-F5344CB8AC3E}">
        <p14:creationId xmlns:p14="http://schemas.microsoft.com/office/powerpoint/2010/main" val="3734703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7858" y="612844"/>
            <a:ext cx="10372166" cy="3539430"/>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Le attività sono divise in funzione del momento in cui daranno luogo a un flusso di cassa e in particolare si parla di:</a:t>
            </a:r>
          </a:p>
          <a:p>
            <a:pPr marL="571500" indent="-5715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attività correnti, se possono essere monetizzate entro 12 mesi;</a:t>
            </a:r>
          </a:p>
          <a:p>
            <a:pPr marL="571500" indent="-5715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attività consolidate (o immobilizzate), quando la loro scadenza avviene oltre i 12 mesi; a loro volta queste attività possono essere suddivise in base alla loro natura in materiali, immateriali e finanziarie.</a:t>
            </a:r>
          </a:p>
        </p:txBody>
      </p:sp>
      <p:pic>
        <p:nvPicPr>
          <p:cNvPr id="3" name="Immagine 2">
            <a:extLst>
              <a:ext uri="{FF2B5EF4-FFF2-40B4-BE49-F238E27FC236}">
                <a16:creationId xmlns:a16="http://schemas.microsoft.com/office/drawing/2014/main" id="{946C41BA-DAB0-4F51-B16D-530A8414F659}"/>
              </a:ext>
            </a:extLst>
          </p:cNvPr>
          <p:cNvPicPr>
            <a:picLocks noChangeAspect="1"/>
          </p:cNvPicPr>
          <p:nvPr/>
        </p:nvPicPr>
        <p:blipFill rotWithShape="1">
          <a:blip r:embed="rId2"/>
          <a:srcRect t="11958"/>
          <a:stretch/>
        </p:blipFill>
        <p:spPr>
          <a:xfrm>
            <a:off x="7037294" y="3899646"/>
            <a:ext cx="4679577" cy="2646867"/>
          </a:xfrm>
          <a:prstGeom prst="rect">
            <a:avLst/>
          </a:prstGeom>
        </p:spPr>
      </p:pic>
      <p:sp>
        <p:nvSpPr>
          <p:cNvPr id="5" name="Google Shape;183;p22">
            <a:extLst>
              <a:ext uri="{FF2B5EF4-FFF2-40B4-BE49-F238E27FC236}">
                <a16:creationId xmlns:a16="http://schemas.microsoft.com/office/drawing/2014/main" id="{B0ADB139-12AA-4629-B83C-A280D0F7E632}"/>
              </a:ext>
            </a:extLst>
          </p:cNvPr>
          <p:cNvSpPr txBox="1"/>
          <p:nvPr/>
        </p:nvSpPr>
        <p:spPr>
          <a:xfrm>
            <a:off x="797858" y="182221"/>
            <a:ext cx="6408024" cy="258532"/>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400" b="1" i="0" u="none" strike="noStrike" cap="none" dirty="0">
                <a:solidFill>
                  <a:srgbClr val="216AD9"/>
                </a:solidFill>
                <a:latin typeface="Poppins"/>
                <a:ea typeface="Poppins"/>
                <a:cs typeface="Poppins"/>
                <a:sym typeface="Poppins"/>
              </a:rPr>
              <a:t>ATTIVITÀ</a:t>
            </a:r>
            <a:endParaRPr lang="en-US" sz="1200" b="1" dirty="0"/>
          </a:p>
        </p:txBody>
      </p:sp>
    </p:spTree>
    <p:extLst>
      <p:ext uri="{BB962C8B-B14F-4D97-AF65-F5344CB8AC3E}">
        <p14:creationId xmlns:p14="http://schemas.microsoft.com/office/powerpoint/2010/main" val="199343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7858" y="612844"/>
            <a:ext cx="10372166" cy="2677656"/>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Le passività sono invece divise prima in base alla loro provenienza, che può essere interna o esterna all’azienda. </a:t>
            </a:r>
          </a:p>
          <a:p>
            <a:pPr algn="just"/>
            <a:r>
              <a:rPr lang="it-IT" sz="2800" dirty="0">
                <a:solidFill>
                  <a:srgbClr val="0070C0"/>
                </a:solidFill>
                <a:latin typeface="Poppins" panose="020B0604020202020204" charset="0"/>
                <a:cs typeface="Poppins" panose="020B0604020202020204" charset="0"/>
              </a:rPr>
              <a:t>In particolare:</a:t>
            </a:r>
          </a:p>
          <a:p>
            <a:pPr marL="457200" indent="-4572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quando le fonti di finanziamento sono interne si parla di </a:t>
            </a:r>
            <a:r>
              <a:rPr lang="it-IT" sz="2800" b="1" dirty="0">
                <a:solidFill>
                  <a:srgbClr val="0070C0"/>
                </a:solidFill>
                <a:latin typeface="Poppins" panose="020B0604020202020204" charset="0"/>
                <a:cs typeface="Poppins" panose="020B0604020202020204" charset="0"/>
              </a:rPr>
              <a:t>capitale proprio</a:t>
            </a:r>
            <a:r>
              <a:rPr lang="it-IT" sz="2800" dirty="0">
                <a:solidFill>
                  <a:srgbClr val="0070C0"/>
                </a:solidFill>
                <a:latin typeface="Poppins" panose="020B0604020202020204" charset="0"/>
                <a:cs typeface="Poppins" panose="020B0604020202020204" charset="0"/>
              </a:rPr>
              <a:t>;</a:t>
            </a:r>
          </a:p>
          <a:p>
            <a:pPr marL="457200" indent="-4572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quando sono esterne si tratta invece di </a:t>
            </a:r>
            <a:r>
              <a:rPr lang="it-IT" sz="2800" b="1" dirty="0">
                <a:solidFill>
                  <a:srgbClr val="0070C0"/>
                </a:solidFill>
                <a:latin typeface="Poppins" panose="020B0604020202020204" charset="0"/>
                <a:cs typeface="Poppins" panose="020B0604020202020204" charset="0"/>
              </a:rPr>
              <a:t>capitale di terzi</a:t>
            </a:r>
            <a:r>
              <a:rPr lang="it-IT" sz="2800" dirty="0">
                <a:solidFill>
                  <a:srgbClr val="0070C0"/>
                </a:solidFill>
                <a:latin typeface="Poppins" panose="020B0604020202020204" charset="0"/>
                <a:cs typeface="Poppins" panose="020B0604020202020204" charset="0"/>
              </a:rPr>
              <a:t>.</a:t>
            </a:r>
          </a:p>
        </p:txBody>
      </p:sp>
      <p:sp>
        <p:nvSpPr>
          <p:cNvPr id="5" name="Google Shape;183;p22">
            <a:extLst>
              <a:ext uri="{FF2B5EF4-FFF2-40B4-BE49-F238E27FC236}">
                <a16:creationId xmlns:a16="http://schemas.microsoft.com/office/drawing/2014/main" id="{B0ADB139-12AA-4629-B83C-A280D0F7E632}"/>
              </a:ext>
            </a:extLst>
          </p:cNvPr>
          <p:cNvSpPr txBox="1"/>
          <p:nvPr/>
        </p:nvSpPr>
        <p:spPr>
          <a:xfrm>
            <a:off x="797858" y="182221"/>
            <a:ext cx="6408024" cy="258532"/>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400" b="1" dirty="0">
                <a:solidFill>
                  <a:srgbClr val="216AD9"/>
                </a:solidFill>
                <a:latin typeface="Poppins"/>
                <a:ea typeface="Poppins"/>
                <a:cs typeface="Poppins"/>
                <a:sym typeface="Poppins"/>
              </a:rPr>
              <a:t>PASS</a:t>
            </a:r>
            <a:r>
              <a:rPr lang="en-US" sz="1400" b="1" i="0" u="none" strike="noStrike" cap="none" dirty="0">
                <a:solidFill>
                  <a:srgbClr val="216AD9"/>
                </a:solidFill>
                <a:latin typeface="Poppins"/>
                <a:ea typeface="Poppins"/>
                <a:cs typeface="Poppins"/>
                <a:sym typeface="Poppins"/>
              </a:rPr>
              <a:t>IVITÀ</a:t>
            </a:r>
            <a:endParaRPr lang="en-US" sz="1200" b="1" dirty="0"/>
          </a:p>
        </p:txBody>
      </p:sp>
      <p:pic>
        <p:nvPicPr>
          <p:cNvPr id="2" name="Immagine 1">
            <a:extLst>
              <a:ext uri="{FF2B5EF4-FFF2-40B4-BE49-F238E27FC236}">
                <a16:creationId xmlns:a16="http://schemas.microsoft.com/office/drawing/2014/main" id="{06C31EB0-76F4-4497-9351-D0AAC0279964}"/>
              </a:ext>
            </a:extLst>
          </p:cNvPr>
          <p:cNvPicPr>
            <a:picLocks noChangeAspect="1"/>
          </p:cNvPicPr>
          <p:nvPr/>
        </p:nvPicPr>
        <p:blipFill rotWithShape="1">
          <a:blip r:embed="rId3"/>
          <a:srcRect t="6877"/>
          <a:stretch/>
        </p:blipFill>
        <p:spPr>
          <a:xfrm>
            <a:off x="4776866" y="3650051"/>
            <a:ext cx="3420570" cy="2595105"/>
          </a:xfrm>
          <a:prstGeom prst="rect">
            <a:avLst/>
          </a:prstGeom>
        </p:spPr>
      </p:pic>
    </p:spTree>
    <p:extLst>
      <p:ext uri="{BB962C8B-B14F-4D97-AF65-F5344CB8AC3E}">
        <p14:creationId xmlns:p14="http://schemas.microsoft.com/office/powerpoint/2010/main" val="190554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36790A62-9BCD-4A9C-8308-9E3BF2189FAA}"/>
              </a:ext>
            </a:extLst>
          </p:cNvPr>
          <p:cNvSpPr/>
          <p:nvPr/>
        </p:nvSpPr>
        <p:spPr>
          <a:xfrm>
            <a:off x="1192306" y="491769"/>
            <a:ext cx="9628094" cy="5632311"/>
          </a:xfrm>
          <a:prstGeom prst="rect">
            <a:avLst/>
          </a:prstGeom>
        </p:spPr>
        <p:txBody>
          <a:bodyPr wrap="square">
            <a:spAutoFit/>
          </a:bodyPr>
          <a:lstStyle/>
          <a:p>
            <a:pPr algn="just"/>
            <a:r>
              <a:rPr lang="it-IT" sz="4000" dirty="0">
                <a:solidFill>
                  <a:srgbClr val="0070C0"/>
                </a:solidFill>
                <a:latin typeface="Poppins" panose="020B0604020202020204" charset="0"/>
                <a:cs typeface="Poppins" panose="020B0604020202020204" charset="0"/>
              </a:rPr>
              <a:t>L’aggregazione delle voci in attività e passività correnti e consolidate consente di vedere se esiste una corrispondenza tra le scadenze temporali degli investimenti e dei finanziamenti: a prima vista può sembrare un’informazione senza grande significato, invece si tratta di un tassello fondamentale per capire se l’azienda gode di buona salute.</a:t>
            </a:r>
          </a:p>
        </p:txBody>
      </p:sp>
    </p:spTree>
    <p:extLst>
      <p:ext uri="{BB962C8B-B14F-4D97-AF65-F5344CB8AC3E}">
        <p14:creationId xmlns:p14="http://schemas.microsoft.com/office/powerpoint/2010/main" val="47950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36790A62-9BCD-4A9C-8308-9E3BF2189FAA}"/>
              </a:ext>
            </a:extLst>
          </p:cNvPr>
          <p:cNvSpPr/>
          <p:nvPr/>
        </p:nvSpPr>
        <p:spPr>
          <a:xfrm>
            <a:off x="1192306" y="491769"/>
            <a:ext cx="9628094" cy="1938992"/>
          </a:xfrm>
          <a:prstGeom prst="rect">
            <a:avLst/>
          </a:prstGeom>
        </p:spPr>
        <p:txBody>
          <a:bodyPr wrap="square">
            <a:spAutoFit/>
          </a:bodyPr>
          <a:lstStyle/>
          <a:p>
            <a:pPr algn="just"/>
            <a:r>
              <a:rPr lang="it-IT" sz="2000" dirty="0">
                <a:solidFill>
                  <a:srgbClr val="0070C0"/>
                </a:solidFill>
                <a:latin typeface="Poppins" panose="020B0604020202020204" charset="0"/>
                <a:cs typeface="Poppins" panose="020B0604020202020204" charset="0"/>
              </a:rPr>
              <a:t>Il problema è che quando le </a:t>
            </a:r>
            <a:r>
              <a:rPr lang="it-IT" sz="2000" b="1" dirty="0">
                <a:solidFill>
                  <a:srgbClr val="0070C0"/>
                </a:solidFill>
                <a:latin typeface="Poppins" panose="020B0604020202020204" charset="0"/>
                <a:cs typeface="Poppins" panose="020B0604020202020204" charset="0"/>
              </a:rPr>
              <a:t>passività a breve termine sono maggiori delle attività correnti</a:t>
            </a:r>
            <a:r>
              <a:rPr lang="it-IT" sz="2000" dirty="0">
                <a:solidFill>
                  <a:srgbClr val="0070C0"/>
                </a:solidFill>
                <a:latin typeface="Poppins" panose="020B0604020202020204" charset="0"/>
                <a:cs typeface="Poppins" panose="020B0604020202020204" charset="0"/>
              </a:rPr>
              <a:t>, l’azienda si trova in una situazione molto rischiosa, perché significa che le attività che possono essere trasformate in moneta entro 12 mesi non sono in grado di coprire i debiti in scadenza nello stesso periodo. </a:t>
            </a:r>
          </a:p>
          <a:p>
            <a:pPr algn="just"/>
            <a:endParaRPr lang="it-IT" sz="2000" dirty="0">
              <a:solidFill>
                <a:srgbClr val="0070C0"/>
              </a:solidFill>
              <a:latin typeface="Poppins" panose="020B0604020202020204" charset="0"/>
              <a:cs typeface="Poppins" panose="020B0604020202020204" charset="0"/>
            </a:endParaRPr>
          </a:p>
          <a:p>
            <a:pPr algn="just"/>
            <a:endParaRPr lang="it-IT" sz="2000" dirty="0">
              <a:solidFill>
                <a:srgbClr val="0070C0"/>
              </a:solidFill>
              <a:latin typeface="Poppins" panose="020B0604020202020204" charset="0"/>
              <a:cs typeface="Poppins" panose="020B0604020202020204" charset="0"/>
            </a:endParaRPr>
          </a:p>
        </p:txBody>
      </p:sp>
      <p:sp>
        <p:nvSpPr>
          <p:cNvPr id="2" name="Rettangolo 1">
            <a:extLst>
              <a:ext uri="{FF2B5EF4-FFF2-40B4-BE49-F238E27FC236}">
                <a16:creationId xmlns:a16="http://schemas.microsoft.com/office/drawing/2014/main" id="{46EB28A1-824A-4DC9-AE26-A8299556066D}"/>
              </a:ext>
            </a:extLst>
          </p:cNvPr>
          <p:cNvSpPr/>
          <p:nvPr/>
        </p:nvSpPr>
        <p:spPr>
          <a:xfrm>
            <a:off x="1102659" y="3970075"/>
            <a:ext cx="9986682" cy="1938992"/>
          </a:xfrm>
          <a:prstGeom prst="rect">
            <a:avLst/>
          </a:prstGeom>
        </p:spPr>
        <p:txBody>
          <a:bodyPr wrap="square">
            <a:spAutoFit/>
          </a:bodyPr>
          <a:lstStyle/>
          <a:p>
            <a:pPr algn="just"/>
            <a:r>
              <a:rPr lang="it-IT" sz="2000" dirty="0">
                <a:solidFill>
                  <a:srgbClr val="0070C0"/>
                </a:solidFill>
                <a:latin typeface="Poppins" panose="020B0604020202020204" charset="0"/>
                <a:cs typeface="Poppins" panose="020B0604020202020204" charset="0"/>
              </a:rPr>
              <a:t>Questa situazione genera inevitabilmente forti tensioni finanziarie, che possono essere coperte percorrendo due strade diverse ma ugualmente sfavorevoli:</a:t>
            </a:r>
          </a:p>
          <a:p>
            <a:pPr algn="just"/>
            <a:r>
              <a:rPr lang="it-IT" sz="2000" dirty="0">
                <a:solidFill>
                  <a:srgbClr val="0070C0"/>
                </a:solidFill>
                <a:latin typeface="Poppins" panose="020B0604020202020204" charset="0"/>
                <a:cs typeface="Poppins" panose="020B0604020202020204" charset="0"/>
              </a:rPr>
              <a:t>1. grazie a operazioni straordinarie di vendita o dismissione delle attività consolidate, probabilmente a prezzi svantaggiosi;</a:t>
            </a:r>
          </a:p>
          <a:p>
            <a:pPr algn="just"/>
            <a:r>
              <a:rPr lang="it-IT" sz="2000" dirty="0">
                <a:solidFill>
                  <a:srgbClr val="0070C0"/>
                </a:solidFill>
                <a:latin typeface="Poppins" panose="020B0604020202020204" charset="0"/>
                <a:cs typeface="Poppins" panose="020B0604020202020204" charset="0"/>
              </a:rPr>
              <a:t>2. attraverso la rinegoziazione e l’allungamento delle passività in scadenza, sostenendo i relativi costi.</a:t>
            </a:r>
          </a:p>
        </p:txBody>
      </p:sp>
      <p:pic>
        <p:nvPicPr>
          <p:cNvPr id="3" name="Immagine 2">
            <a:extLst>
              <a:ext uri="{FF2B5EF4-FFF2-40B4-BE49-F238E27FC236}">
                <a16:creationId xmlns:a16="http://schemas.microsoft.com/office/drawing/2014/main" id="{0641F034-0A9D-4953-BDA7-49C37E43BECD}"/>
              </a:ext>
            </a:extLst>
          </p:cNvPr>
          <p:cNvPicPr>
            <a:picLocks noChangeAspect="1"/>
          </p:cNvPicPr>
          <p:nvPr/>
        </p:nvPicPr>
        <p:blipFill>
          <a:blip r:embed="rId3"/>
          <a:stretch>
            <a:fillRect/>
          </a:stretch>
        </p:blipFill>
        <p:spPr>
          <a:xfrm>
            <a:off x="5239731" y="2121303"/>
            <a:ext cx="1533244" cy="1533244"/>
          </a:xfrm>
          <a:prstGeom prst="rect">
            <a:avLst/>
          </a:prstGeom>
        </p:spPr>
      </p:pic>
    </p:spTree>
    <p:extLst>
      <p:ext uri="{BB962C8B-B14F-4D97-AF65-F5344CB8AC3E}">
        <p14:creationId xmlns:p14="http://schemas.microsoft.com/office/powerpoint/2010/main" val="3423319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F954DCC0-6D3A-41B5-861A-7D10B369F7D7}"/>
              </a:ext>
            </a:extLst>
          </p:cNvPr>
          <p:cNvSpPr/>
          <p:nvPr/>
        </p:nvSpPr>
        <p:spPr>
          <a:xfrm>
            <a:off x="377319" y="808656"/>
            <a:ext cx="11537589" cy="923330"/>
          </a:xfrm>
          <a:prstGeom prst="rect">
            <a:avLst/>
          </a:prstGeom>
        </p:spPr>
        <p:txBody>
          <a:bodyPr wrap="square">
            <a:spAutoFit/>
          </a:bodyPr>
          <a:lstStyle/>
          <a:p>
            <a:pPr algn="just"/>
            <a:r>
              <a:rPr lang="it-IT" dirty="0">
                <a:solidFill>
                  <a:srgbClr val="0070C0"/>
                </a:solidFill>
                <a:latin typeface="Poppins" panose="020B0604020202020204" charset="0"/>
                <a:cs typeface="Poppins" panose="020B0604020202020204" charset="0"/>
              </a:rPr>
              <a:t>Si proceda a collocare le voci sotto elencate – riprese dal bilancio di esercizio 2009 della società Alfa S.p.A., operante nel settore delle telecomunicazioni – nell’ambito del seguente prospetti:</a:t>
            </a:r>
          </a:p>
          <a:p>
            <a:pPr marL="285750" indent="-285750" algn="just">
              <a:buFont typeface="Arial" panose="020B0604020202020204" pitchFamily="34" charset="0"/>
              <a:buChar char="•"/>
            </a:pPr>
            <a:r>
              <a:rPr lang="it-IT" dirty="0">
                <a:solidFill>
                  <a:srgbClr val="0070C0"/>
                </a:solidFill>
                <a:latin typeface="Poppins" panose="020B0604020202020204" charset="0"/>
                <a:cs typeface="Poppins" panose="020B0604020202020204" charset="0"/>
              </a:rPr>
              <a:t>lo Stato Patrimoniale riclassificato secondo il “criterio finanziario».</a:t>
            </a:r>
          </a:p>
        </p:txBody>
      </p:sp>
      <p:pic>
        <p:nvPicPr>
          <p:cNvPr id="5" name="Immagine 4">
            <a:extLst>
              <a:ext uri="{FF2B5EF4-FFF2-40B4-BE49-F238E27FC236}">
                <a16:creationId xmlns:a16="http://schemas.microsoft.com/office/drawing/2014/main" id="{2CE840E8-A9BD-4401-BBAA-0E88AF97EE2D}"/>
              </a:ext>
            </a:extLst>
          </p:cNvPr>
          <p:cNvPicPr>
            <a:picLocks noChangeAspect="1"/>
          </p:cNvPicPr>
          <p:nvPr/>
        </p:nvPicPr>
        <p:blipFill>
          <a:blip r:embed="rId2"/>
          <a:stretch>
            <a:fillRect/>
          </a:stretch>
        </p:blipFill>
        <p:spPr>
          <a:xfrm>
            <a:off x="377319" y="2078147"/>
            <a:ext cx="11437361" cy="3047868"/>
          </a:xfrm>
          <a:prstGeom prst="rect">
            <a:avLst/>
          </a:prstGeom>
        </p:spPr>
      </p:pic>
    </p:spTree>
    <p:extLst>
      <p:ext uri="{BB962C8B-B14F-4D97-AF65-F5344CB8AC3E}">
        <p14:creationId xmlns:p14="http://schemas.microsoft.com/office/powerpoint/2010/main" val="1380717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901B1490-6325-4946-8CBB-2BD585BB03BE}"/>
              </a:ext>
            </a:extLst>
          </p:cNvPr>
          <p:cNvPicPr>
            <a:picLocks noChangeAspect="1"/>
          </p:cNvPicPr>
          <p:nvPr/>
        </p:nvPicPr>
        <p:blipFill>
          <a:blip r:embed="rId2"/>
          <a:stretch>
            <a:fillRect/>
          </a:stretch>
        </p:blipFill>
        <p:spPr>
          <a:xfrm>
            <a:off x="1219200" y="309983"/>
            <a:ext cx="9238715" cy="6238034"/>
          </a:xfrm>
          <a:prstGeom prst="rect">
            <a:avLst/>
          </a:prstGeom>
        </p:spPr>
      </p:pic>
      <p:sp>
        <p:nvSpPr>
          <p:cNvPr id="5" name="Rettangolo 4">
            <a:extLst>
              <a:ext uri="{FF2B5EF4-FFF2-40B4-BE49-F238E27FC236}">
                <a16:creationId xmlns:a16="http://schemas.microsoft.com/office/drawing/2014/main" id="{9B6DE916-2245-4809-AEB4-36FEC157C74D}"/>
              </a:ext>
            </a:extLst>
          </p:cNvPr>
          <p:cNvSpPr/>
          <p:nvPr/>
        </p:nvSpPr>
        <p:spPr>
          <a:xfrm>
            <a:off x="9556962" y="6257365"/>
            <a:ext cx="743485" cy="2906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6" name="Connettore diritto 5">
            <a:extLst>
              <a:ext uri="{FF2B5EF4-FFF2-40B4-BE49-F238E27FC236}">
                <a16:creationId xmlns:a16="http://schemas.microsoft.com/office/drawing/2014/main" id="{9D23CBD3-F6F1-48BA-996B-83BF14675CEA}"/>
              </a:ext>
            </a:extLst>
          </p:cNvPr>
          <p:cNvCxnSpPr>
            <a:cxnSpLocks/>
          </p:cNvCxnSpPr>
          <p:nvPr/>
        </p:nvCxnSpPr>
        <p:spPr>
          <a:xfrm>
            <a:off x="9251577" y="6515938"/>
            <a:ext cx="1066800" cy="0"/>
          </a:xfrm>
          <a:prstGeom prst="line">
            <a:avLst/>
          </a:prstGeom>
          <a:ln/>
        </p:spPr>
        <p:style>
          <a:lnRef idx="3">
            <a:schemeClr val="dk1"/>
          </a:lnRef>
          <a:fillRef idx="0">
            <a:schemeClr val="dk1"/>
          </a:fillRef>
          <a:effectRef idx="2">
            <a:schemeClr val="dk1"/>
          </a:effectRef>
          <a:fontRef idx="minor">
            <a:schemeClr val="tx1"/>
          </a:fontRef>
        </p:style>
      </p:cxnSp>
      <p:sp>
        <p:nvSpPr>
          <p:cNvPr id="9" name="CasellaDiTesto 8">
            <a:extLst>
              <a:ext uri="{FF2B5EF4-FFF2-40B4-BE49-F238E27FC236}">
                <a16:creationId xmlns:a16="http://schemas.microsoft.com/office/drawing/2014/main" id="{020EE1EE-AF80-4B56-BDB7-1EE3434C3DD2}"/>
              </a:ext>
            </a:extLst>
          </p:cNvPr>
          <p:cNvSpPr txBox="1"/>
          <p:nvPr/>
        </p:nvSpPr>
        <p:spPr>
          <a:xfrm>
            <a:off x="9630258" y="6177384"/>
            <a:ext cx="748923"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12.205</a:t>
            </a:r>
          </a:p>
        </p:txBody>
      </p:sp>
    </p:spTree>
    <p:extLst>
      <p:ext uri="{BB962C8B-B14F-4D97-AF65-F5344CB8AC3E}">
        <p14:creationId xmlns:p14="http://schemas.microsoft.com/office/powerpoint/2010/main" val="1550578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8719566-ED3C-42E0-951B-E808329C3E92}"/>
              </a:ext>
            </a:extLst>
          </p:cNvPr>
          <p:cNvPicPr>
            <a:picLocks noChangeAspect="1"/>
          </p:cNvPicPr>
          <p:nvPr/>
        </p:nvPicPr>
        <p:blipFill>
          <a:blip r:embed="rId2"/>
          <a:stretch>
            <a:fillRect/>
          </a:stretch>
        </p:blipFill>
        <p:spPr>
          <a:xfrm>
            <a:off x="1919878" y="556668"/>
            <a:ext cx="8352244" cy="5646909"/>
          </a:xfrm>
          <a:prstGeom prst="rect">
            <a:avLst/>
          </a:prstGeom>
        </p:spPr>
      </p:pic>
      <p:sp>
        <p:nvSpPr>
          <p:cNvPr id="5" name="Rettangolo 4">
            <a:extLst>
              <a:ext uri="{FF2B5EF4-FFF2-40B4-BE49-F238E27FC236}">
                <a16:creationId xmlns:a16="http://schemas.microsoft.com/office/drawing/2014/main" id="{9B6DE916-2245-4809-AEB4-36FEC157C74D}"/>
              </a:ext>
            </a:extLst>
          </p:cNvPr>
          <p:cNvSpPr/>
          <p:nvPr/>
        </p:nvSpPr>
        <p:spPr>
          <a:xfrm>
            <a:off x="9439835" y="5880846"/>
            <a:ext cx="636494" cy="3227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6" name="Connettore diritto 5">
            <a:extLst>
              <a:ext uri="{FF2B5EF4-FFF2-40B4-BE49-F238E27FC236}">
                <a16:creationId xmlns:a16="http://schemas.microsoft.com/office/drawing/2014/main" id="{E8FAA510-2C81-4BC3-9985-3DEE404251AA}"/>
              </a:ext>
            </a:extLst>
          </p:cNvPr>
          <p:cNvCxnSpPr/>
          <p:nvPr/>
        </p:nvCxnSpPr>
        <p:spPr>
          <a:xfrm>
            <a:off x="9439835" y="6149788"/>
            <a:ext cx="708212" cy="0"/>
          </a:xfrm>
          <a:prstGeom prst="line">
            <a:avLst/>
          </a:prstGeom>
          <a:ln/>
        </p:spPr>
        <p:style>
          <a:lnRef idx="3">
            <a:schemeClr val="dk1"/>
          </a:lnRef>
          <a:fillRef idx="0">
            <a:schemeClr val="dk1"/>
          </a:fillRef>
          <a:effectRef idx="2">
            <a:schemeClr val="dk1"/>
          </a:effectRef>
          <a:fontRef idx="minor">
            <a:schemeClr val="tx1"/>
          </a:fontRef>
        </p:style>
      </p:cxnSp>
      <p:sp>
        <p:nvSpPr>
          <p:cNvPr id="7" name="CasellaDiTesto 6">
            <a:extLst>
              <a:ext uri="{FF2B5EF4-FFF2-40B4-BE49-F238E27FC236}">
                <a16:creationId xmlns:a16="http://schemas.microsoft.com/office/drawing/2014/main" id="{0B589CF0-4B26-4274-A4CF-362FF8A0222C}"/>
              </a:ext>
            </a:extLst>
          </p:cNvPr>
          <p:cNvSpPr txBox="1"/>
          <p:nvPr/>
        </p:nvSpPr>
        <p:spPr>
          <a:xfrm>
            <a:off x="9537576" y="5829163"/>
            <a:ext cx="646331"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1.000</a:t>
            </a:r>
          </a:p>
        </p:txBody>
      </p:sp>
    </p:spTree>
    <p:extLst>
      <p:ext uri="{BB962C8B-B14F-4D97-AF65-F5344CB8AC3E}">
        <p14:creationId xmlns:p14="http://schemas.microsoft.com/office/powerpoint/2010/main" val="1310474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1052626" y="711587"/>
            <a:ext cx="10086747" cy="5434826"/>
          </a:xfrm>
          <a:prstGeom prst="rect">
            <a:avLst/>
          </a:prstGeom>
        </p:spPr>
      </p:pic>
      <p:sp>
        <p:nvSpPr>
          <p:cNvPr id="5" name="Rettangolo 4">
            <a:extLst>
              <a:ext uri="{FF2B5EF4-FFF2-40B4-BE49-F238E27FC236}">
                <a16:creationId xmlns:a16="http://schemas.microsoft.com/office/drawing/2014/main" id="{845228D2-E213-4129-9B5E-21106AC36EF9}"/>
              </a:ext>
            </a:extLst>
          </p:cNvPr>
          <p:cNvSpPr/>
          <p:nvPr/>
        </p:nvSpPr>
        <p:spPr>
          <a:xfrm>
            <a:off x="5289176" y="797859"/>
            <a:ext cx="717177" cy="510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A78649DC-AB36-4127-B941-DACA30C1485E}"/>
              </a:ext>
            </a:extLst>
          </p:cNvPr>
          <p:cNvSpPr/>
          <p:nvPr/>
        </p:nvSpPr>
        <p:spPr>
          <a:xfrm>
            <a:off x="10242903" y="797858"/>
            <a:ext cx="717177" cy="510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804700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F2099AB-95C8-4142-82C8-64AA17BDA2EF}"/>
              </a:ext>
            </a:extLst>
          </p:cNvPr>
          <p:cNvPicPr>
            <a:picLocks noChangeAspect="1"/>
          </p:cNvPicPr>
          <p:nvPr/>
        </p:nvPicPr>
        <p:blipFill>
          <a:blip r:embed="rId2"/>
          <a:stretch>
            <a:fillRect/>
          </a:stretch>
        </p:blipFill>
        <p:spPr>
          <a:xfrm>
            <a:off x="411613" y="560294"/>
            <a:ext cx="11368773" cy="5737412"/>
          </a:xfrm>
          <a:prstGeom prst="rect">
            <a:avLst/>
          </a:prstGeom>
        </p:spPr>
      </p:pic>
      <p:sp>
        <p:nvSpPr>
          <p:cNvPr id="5" name="Rettangolo 4">
            <a:extLst>
              <a:ext uri="{FF2B5EF4-FFF2-40B4-BE49-F238E27FC236}">
                <a16:creationId xmlns:a16="http://schemas.microsoft.com/office/drawing/2014/main" id="{E8041E04-EFEE-465D-A6E0-CE88E792BC05}"/>
              </a:ext>
            </a:extLst>
          </p:cNvPr>
          <p:cNvSpPr/>
          <p:nvPr/>
        </p:nvSpPr>
        <p:spPr>
          <a:xfrm>
            <a:off x="5175239" y="726140"/>
            <a:ext cx="750432" cy="47244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2DA9DC31-2F5B-44AD-AD76-CF745A9BEC71}"/>
              </a:ext>
            </a:extLst>
          </p:cNvPr>
          <p:cNvSpPr/>
          <p:nvPr/>
        </p:nvSpPr>
        <p:spPr>
          <a:xfrm>
            <a:off x="10707769" y="726139"/>
            <a:ext cx="750432" cy="47244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CD49C501-4DD1-4BF0-8210-BF3CD7E89B73}"/>
              </a:ext>
            </a:extLst>
          </p:cNvPr>
          <p:cNvSpPr/>
          <p:nvPr/>
        </p:nvSpPr>
        <p:spPr>
          <a:xfrm>
            <a:off x="5084777" y="5616386"/>
            <a:ext cx="840894" cy="276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CCF471E9-B5B6-4F55-BC45-50EB78F48815}"/>
              </a:ext>
            </a:extLst>
          </p:cNvPr>
          <p:cNvSpPr/>
          <p:nvPr/>
        </p:nvSpPr>
        <p:spPr>
          <a:xfrm>
            <a:off x="10662538" y="5625213"/>
            <a:ext cx="840894" cy="276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7812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1052626" y="711587"/>
            <a:ext cx="10086747" cy="5434826"/>
          </a:xfrm>
          <a:prstGeom prst="rect">
            <a:avLst/>
          </a:prstGeom>
        </p:spPr>
      </p:pic>
    </p:spTree>
    <p:extLst>
      <p:ext uri="{BB962C8B-B14F-4D97-AF65-F5344CB8AC3E}">
        <p14:creationId xmlns:p14="http://schemas.microsoft.com/office/powerpoint/2010/main" val="202507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F2099AB-95C8-4142-82C8-64AA17BDA2EF}"/>
              </a:ext>
            </a:extLst>
          </p:cNvPr>
          <p:cNvPicPr>
            <a:picLocks noChangeAspect="1"/>
          </p:cNvPicPr>
          <p:nvPr/>
        </p:nvPicPr>
        <p:blipFill>
          <a:blip r:embed="rId2"/>
          <a:stretch>
            <a:fillRect/>
          </a:stretch>
        </p:blipFill>
        <p:spPr>
          <a:xfrm>
            <a:off x="411613" y="560294"/>
            <a:ext cx="11368773" cy="5737412"/>
          </a:xfrm>
          <a:prstGeom prst="rect">
            <a:avLst/>
          </a:prstGeom>
        </p:spPr>
      </p:pic>
    </p:spTree>
    <p:extLst>
      <p:ext uri="{BB962C8B-B14F-4D97-AF65-F5344CB8AC3E}">
        <p14:creationId xmlns:p14="http://schemas.microsoft.com/office/powerpoint/2010/main" val="166211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2313389" y="251793"/>
            <a:ext cx="7565222" cy="3239960"/>
          </a:xfrm>
          <a:prstGeom prst="rect">
            <a:avLst/>
          </a:prstGeom>
        </p:spPr>
      </p:pic>
      <p:pic>
        <p:nvPicPr>
          <p:cNvPr id="3" name="Immagine 2">
            <a:extLst>
              <a:ext uri="{FF2B5EF4-FFF2-40B4-BE49-F238E27FC236}">
                <a16:creationId xmlns:a16="http://schemas.microsoft.com/office/drawing/2014/main" id="{A7A78C7A-DA33-414C-8447-0F1335A66320}"/>
              </a:ext>
            </a:extLst>
          </p:cNvPr>
          <p:cNvPicPr>
            <a:picLocks noChangeAspect="1"/>
          </p:cNvPicPr>
          <p:nvPr/>
        </p:nvPicPr>
        <p:blipFill rotWithShape="1">
          <a:blip r:embed="rId3"/>
          <a:srcRect r="723"/>
          <a:stretch/>
        </p:blipFill>
        <p:spPr>
          <a:xfrm>
            <a:off x="2313389" y="3571564"/>
            <a:ext cx="7634495" cy="3034643"/>
          </a:xfrm>
          <a:prstGeom prst="rect">
            <a:avLst/>
          </a:prstGeom>
        </p:spPr>
      </p:pic>
    </p:spTree>
    <p:extLst>
      <p:ext uri="{BB962C8B-B14F-4D97-AF65-F5344CB8AC3E}">
        <p14:creationId xmlns:p14="http://schemas.microsoft.com/office/powerpoint/2010/main" val="3296483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D5514F0D-9B5E-49CC-8F87-36F5B577C2A1}"/>
              </a:ext>
            </a:extLst>
          </p:cNvPr>
          <p:cNvPicPr>
            <a:picLocks noChangeAspect="1"/>
          </p:cNvPicPr>
          <p:nvPr/>
        </p:nvPicPr>
        <p:blipFill>
          <a:blip r:embed="rId3"/>
          <a:stretch>
            <a:fillRect/>
          </a:stretch>
        </p:blipFill>
        <p:spPr>
          <a:xfrm>
            <a:off x="1657151" y="803027"/>
            <a:ext cx="9404170" cy="5251946"/>
          </a:xfrm>
          <a:prstGeom prst="rect">
            <a:avLst/>
          </a:prstGeom>
        </p:spPr>
      </p:pic>
      <p:sp>
        <p:nvSpPr>
          <p:cNvPr id="4" name="Rettangolo 3">
            <a:extLst>
              <a:ext uri="{FF2B5EF4-FFF2-40B4-BE49-F238E27FC236}">
                <a16:creationId xmlns:a16="http://schemas.microsoft.com/office/drawing/2014/main" id="{39A922C0-88BE-4AD1-B08B-1ADB64946680}"/>
              </a:ext>
            </a:extLst>
          </p:cNvPr>
          <p:cNvSpPr/>
          <p:nvPr/>
        </p:nvSpPr>
        <p:spPr>
          <a:xfrm>
            <a:off x="8950036" y="1025237"/>
            <a:ext cx="1870364" cy="48629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CasellaDiTesto 1">
            <a:extLst>
              <a:ext uri="{FF2B5EF4-FFF2-40B4-BE49-F238E27FC236}">
                <a16:creationId xmlns:a16="http://schemas.microsoft.com/office/drawing/2014/main" id="{28D59708-4024-42E7-9E52-29E2ECF814BE}"/>
              </a:ext>
            </a:extLst>
          </p:cNvPr>
          <p:cNvSpPr txBox="1"/>
          <p:nvPr/>
        </p:nvSpPr>
        <p:spPr>
          <a:xfrm>
            <a:off x="9254836" y="955963"/>
            <a:ext cx="2175164" cy="5170646"/>
          </a:xfrm>
          <a:prstGeom prst="rect">
            <a:avLst/>
          </a:prstGeom>
          <a:noFill/>
        </p:spPr>
        <p:txBody>
          <a:bodyPr wrap="square" rtlCol="0">
            <a:spAutoFit/>
          </a:bodyPr>
          <a:lstStyle/>
          <a:p>
            <a:r>
              <a:rPr lang="it-IT" sz="2200" dirty="0">
                <a:latin typeface="Times New Roman" panose="02020603050405020304" pitchFamily="18" charset="0"/>
                <a:cs typeface="Times New Roman" panose="02020603050405020304" pitchFamily="18" charset="0"/>
              </a:rPr>
              <a:t>        215</a:t>
            </a:r>
          </a:p>
          <a:p>
            <a:r>
              <a:rPr lang="it-IT" sz="2200" u="sng" dirty="0">
                <a:latin typeface="Times New Roman" panose="02020603050405020304" pitchFamily="18" charset="0"/>
                <a:cs typeface="Times New Roman" panose="02020603050405020304" pitchFamily="18" charset="0"/>
              </a:rPr>
              <a:t>   17.600</a:t>
            </a:r>
          </a:p>
          <a:p>
            <a:r>
              <a:rPr lang="it-IT" sz="2200" u="sng" dirty="0">
                <a:latin typeface="Times New Roman" panose="02020603050405020304" pitchFamily="18" charset="0"/>
                <a:cs typeface="Times New Roman" panose="02020603050405020304" pitchFamily="18" charset="0"/>
              </a:rPr>
              <a:t>   17.815</a:t>
            </a:r>
          </a:p>
          <a:p>
            <a:r>
              <a:rPr lang="it-IT" sz="2200" dirty="0">
                <a:latin typeface="Times New Roman" panose="02020603050405020304" pitchFamily="18" charset="0"/>
                <a:cs typeface="Times New Roman" panose="02020603050405020304" pitchFamily="18" charset="0"/>
              </a:rPr>
              <a:t>        265</a:t>
            </a:r>
          </a:p>
          <a:p>
            <a:r>
              <a:rPr lang="it-IT" sz="2200" u="sng" dirty="0">
                <a:latin typeface="Times New Roman" panose="02020603050405020304" pitchFamily="18" charset="0"/>
                <a:cs typeface="Times New Roman" panose="02020603050405020304" pitchFamily="18" charset="0"/>
              </a:rPr>
              <a:t>   18.080</a:t>
            </a:r>
          </a:p>
          <a:p>
            <a:r>
              <a:rPr lang="it-IT" sz="2200" dirty="0">
                <a:latin typeface="Times New Roman" panose="02020603050405020304" pitchFamily="18" charset="0"/>
                <a:cs typeface="Times New Roman" panose="02020603050405020304" pitchFamily="18" charset="0"/>
              </a:rPr>
              <a:t>   27.058</a:t>
            </a:r>
          </a:p>
          <a:p>
            <a:endParaRPr lang="it-IT" sz="2200" dirty="0">
              <a:latin typeface="Times New Roman" panose="02020603050405020304" pitchFamily="18" charset="0"/>
              <a:cs typeface="Times New Roman" panose="02020603050405020304" pitchFamily="18" charset="0"/>
            </a:endParaRPr>
          </a:p>
          <a:p>
            <a:endParaRPr lang="it-IT" sz="2200" dirty="0">
              <a:latin typeface="Times New Roman" panose="02020603050405020304" pitchFamily="18" charset="0"/>
              <a:cs typeface="Times New Roman" panose="02020603050405020304" pitchFamily="18" charset="0"/>
            </a:endParaRPr>
          </a:p>
          <a:p>
            <a:endParaRPr lang="it-IT" sz="1000" dirty="0">
              <a:latin typeface="Times New Roman" panose="02020603050405020304" pitchFamily="18" charset="0"/>
              <a:cs typeface="Times New Roman" panose="02020603050405020304" pitchFamily="18" charset="0"/>
            </a:endParaRPr>
          </a:p>
          <a:p>
            <a:r>
              <a:rPr lang="it-IT" sz="2200" dirty="0">
                <a:latin typeface="Times New Roman" panose="02020603050405020304" pitchFamily="18" charset="0"/>
                <a:cs typeface="Times New Roman" panose="02020603050405020304" pitchFamily="18" charset="0"/>
              </a:rPr>
              <a:t>   55.640</a:t>
            </a:r>
          </a:p>
          <a:p>
            <a:r>
              <a:rPr lang="it-IT" sz="2200" dirty="0">
                <a:latin typeface="Times New Roman" panose="02020603050405020304" pitchFamily="18" charset="0"/>
                <a:cs typeface="Times New Roman" panose="02020603050405020304" pitchFamily="18" charset="0"/>
              </a:rPr>
              <a:t>   32.412</a:t>
            </a:r>
          </a:p>
          <a:p>
            <a:endParaRPr lang="it-IT" sz="2200" dirty="0">
              <a:latin typeface="Times New Roman" panose="02020603050405020304" pitchFamily="18" charset="0"/>
              <a:cs typeface="Times New Roman" panose="02020603050405020304" pitchFamily="18" charset="0"/>
            </a:endParaRPr>
          </a:p>
          <a:p>
            <a:pPr marL="342900" indent="-342900">
              <a:buFontTx/>
              <a:buChar char="-"/>
            </a:pPr>
            <a:r>
              <a:rPr lang="it-IT" sz="2200" b="1" u="sng" dirty="0">
                <a:latin typeface="Times New Roman" panose="02020603050405020304" pitchFamily="18" charset="0"/>
                <a:cs typeface="Times New Roman" panose="02020603050405020304" pitchFamily="18" charset="0"/>
              </a:rPr>
              <a:t>8.978</a:t>
            </a:r>
          </a:p>
          <a:p>
            <a:pPr marL="342900" indent="-342900">
              <a:buFontTx/>
              <a:buChar char="-"/>
            </a:pPr>
            <a:r>
              <a:rPr lang="it-IT" sz="2200" b="1" u="sng" dirty="0">
                <a:latin typeface="Times New Roman" panose="02020603050405020304" pitchFamily="18" charset="0"/>
                <a:cs typeface="Times New Roman" panose="02020603050405020304" pitchFamily="18" charset="0"/>
              </a:rPr>
              <a:t>9.243</a:t>
            </a:r>
          </a:p>
          <a:p>
            <a:pPr marL="342900" indent="-342900">
              <a:buFontTx/>
              <a:buChar char="-"/>
            </a:pPr>
            <a:r>
              <a:rPr lang="it-IT" sz="2200" b="1" u="sng" dirty="0">
                <a:latin typeface="Times New Roman" panose="02020603050405020304" pitchFamily="18" charset="0"/>
                <a:cs typeface="Times New Roman" panose="02020603050405020304" pitchFamily="18" charset="0"/>
              </a:rPr>
              <a:t>23.228</a:t>
            </a:r>
          </a:p>
        </p:txBody>
      </p:sp>
    </p:spTree>
    <p:extLst>
      <p:ext uri="{BB962C8B-B14F-4D97-AF65-F5344CB8AC3E}">
        <p14:creationId xmlns:p14="http://schemas.microsoft.com/office/powerpoint/2010/main" val="601258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F1E35DB4-CC2C-4479-98F6-339810B36CDD}"/>
              </a:ext>
            </a:extLst>
          </p:cNvPr>
          <p:cNvSpPr/>
          <p:nvPr/>
        </p:nvSpPr>
        <p:spPr>
          <a:xfrm>
            <a:off x="715617" y="341317"/>
            <a:ext cx="11078817" cy="1477328"/>
          </a:xfrm>
          <a:prstGeom prst="rect">
            <a:avLst/>
          </a:prstGeom>
        </p:spPr>
        <p:txBody>
          <a:bodyPr wrap="square">
            <a:spAutoFit/>
          </a:bodyPr>
          <a:lstStyle/>
          <a:p>
            <a:pPr algn="just"/>
            <a:r>
              <a:rPr lang="it-IT" dirty="0"/>
              <a:t>Si proceda a collocare le voci sotto elencate – riprese dal bilancio di esercizio 2009 della società Alfa S.p.A., operante nel settore delle telecomunicazioni – nell’ambito del prospetto di Conto Economico riclassificato a “ricavi e costo del venduto”. </a:t>
            </a:r>
          </a:p>
          <a:p>
            <a:pPr algn="just"/>
            <a:r>
              <a:rPr lang="it-IT" dirty="0"/>
              <a:t>Si provveda inoltre ad esprimere un giudizio in ordine al contributo offerto dalle varie “aree di gestione” alla formazione del risultato economico dell’esercizio.</a:t>
            </a:r>
          </a:p>
        </p:txBody>
      </p:sp>
      <p:pic>
        <p:nvPicPr>
          <p:cNvPr id="5" name="Immagine 4">
            <a:extLst>
              <a:ext uri="{FF2B5EF4-FFF2-40B4-BE49-F238E27FC236}">
                <a16:creationId xmlns:a16="http://schemas.microsoft.com/office/drawing/2014/main" id="{55D29187-5A0E-422C-A384-58B6C1E1297E}"/>
              </a:ext>
            </a:extLst>
          </p:cNvPr>
          <p:cNvPicPr>
            <a:picLocks noChangeAspect="1"/>
          </p:cNvPicPr>
          <p:nvPr/>
        </p:nvPicPr>
        <p:blipFill>
          <a:blip r:embed="rId2"/>
          <a:stretch>
            <a:fillRect/>
          </a:stretch>
        </p:blipFill>
        <p:spPr>
          <a:xfrm>
            <a:off x="1161310" y="1935281"/>
            <a:ext cx="10187430" cy="4706909"/>
          </a:xfrm>
          <a:prstGeom prst="rect">
            <a:avLst/>
          </a:prstGeom>
        </p:spPr>
      </p:pic>
      <p:sp>
        <p:nvSpPr>
          <p:cNvPr id="6" name="Rettangolo 5">
            <a:extLst>
              <a:ext uri="{FF2B5EF4-FFF2-40B4-BE49-F238E27FC236}">
                <a16:creationId xmlns:a16="http://schemas.microsoft.com/office/drawing/2014/main" id="{1AB8FA44-B903-4000-9E1E-E7B7B26DED26}"/>
              </a:ext>
            </a:extLst>
          </p:cNvPr>
          <p:cNvSpPr/>
          <p:nvPr/>
        </p:nvSpPr>
        <p:spPr>
          <a:xfrm>
            <a:off x="10574656" y="6239434"/>
            <a:ext cx="636494" cy="4027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7" name="Connettore diritto 6">
            <a:extLst>
              <a:ext uri="{FF2B5EF4-FFF2-40B4-BE49-F238E27FC236}">
                <a16:creationId xmlns:a16="http://schemas.microsoft.com/office/drawing/2014/main" id="{8124EFD8-3812-4384-9D7A-F6E8106361C9}"/>
              </a:ext>
            </a:extLst>
          </p:cNvPr>
          <p:cNvCxnSpPr/>
          <p:nvPr/>
        </p:nvCxnSpPr>
        <p:spPr>
          <a:xfrm>
            <a:off x="10556726" y="6536460"/>
            <a:ext cx="708212" cy="0"/>
          </a:xfrm>
          <a:prstGeom prst="line">
            <a:avLst/>
          </a:prstGeom>
          <a:ln/>
        </p:spPr>
        <p:style>
          <a:lnRef idx="3">
            <a:schemeClr val="dk1"/>
          </a:lnRef>
          <a:fillRef idx="0">
            <a:schemeClr val="dk1"/>
          </a:fillRef>
          <a:effectRef idx="2">
            <a:schemeClr val="dk1"/>
          </a:effectRef>
          <a:fontRef idx="minor">
            <a:schemeClr val="tx1"/>
          </a:fontRef>
        </p:style>
      </p:cxnSp>
      <p:sp>
        <p:nvSpPr>
          <p:cNvPr id="8" name="CasellaDiTesto 7">
            <a:extLst>
              <a:ext uri="{FF2B5EF4-FFF2-40B4-BE49-F238E27FC236}">
                <a16:creationId xmlns:a16="http://schemas.microsoft.com/office/drawing/2014/main" id="{A899389B-554C-43D2-A142-B9377BAB3F25}"/>
              </a:ext>
            </a:extLst>
          </p:cNvPr>
          <p:cNvSpPr txBox="1"/>
          <p:nvPr/>
        </p:nvSpPr>
        <p:spPr>
          <a:xfrm>
            <a:off x="10784468" y="6178129"/>
            <a:ext cx="492443"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900</a:t>
            </a:r>
          </a:p>
        </p:txBody>
      </p:sp>
    </p:spTree>
    <p:extLst>
      <p:ext uri="{BB962C8B-B14F-4D97-AF65-F5344CB8AC3E}">
        <p14:creationId xmlns:p14="http://schemas.microsoft.com/office/powerpoint/2010/main" val="393989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84DC5DE2-96C9-42FF-983B-E914E3E75DE2}"/>
              </a:ext>
            </a:extLst>
          </p:cNvPr>
          <p:cNvPicPr>
            <a:picLocks noChangeAspect="1"/>
          </p:cNvPicPr>
          <p:nvPr/>
        </p:nvPicPr>
        <p:blipFill rotWithShape="1">
          <a:blip r:embed="rId2"/>
          <a:srcRect t="602"/>
          <a:stretch/>
        </p:blipFill>
        <p:spPr>
          <a:xfrm>
            <a:off x="1306646" y="149994"/>
            <a:ext cx="9578707" cy="6558011"/>
          </a:xfrm>
          <a:prstGeom prst="rect">
            <a:avLst/>
          </a:prstGeom>
        </p:spPr>
      </p:pic>
      <p:sp>
        <p:nvSpPr>
          <p:cNvPr id="6" name="Rettangolo 5">
            <a:extLst>
              <a:ext uri="{FF2B5EF4-FFF2-40B4-BE49-F238E27FC236}">
                <a16:creationId xmlns:a16="http://schemas.microsoft.com/office/drawing/2014/main" id="{1AB8FA44-B903-4000-9E1E-E7B7B26DED26}"/>
              </a:ext>
            </a:extLst>
          </p:cNvPr>
          <p:cNvSpPr/>
          <p:nvPr/>
        </p:nvSpPr>
        <p:spPr>
          <a:xfrm>
            <a:off x="9818553" y="6338045"/>
            <a:ext cx="636494" cy="4027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7" name="Connettore diritto 6">
            <a:extLst>
              <a:ext uri="{FF2B5EF4-FFF2-40B4-BE49-F238E27FC236}">
                <a16:creationId xmlns:a16="http://schemas.microsoft.com/office/drawing/2014/main" id="{8124EFD8-3812-4384-9D7A-F6E8106361C9}"/>
              </a:ext>
            </a:extLst>
          </p:cNvPr>
          <p:cNvCxnSpPr/>
          <p:nvPr/>
        </p:nvCxnSpPr>
        <p:spPr>
          <a:xfrm>
            <a:off x="9818553" y="6636285"/>
            <a:ext cx="708212" cy="0"/>
          </a:xfrm>
          <a:prstGeom prst="line">
            <a:avLst/>
          </a:prstGeom>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505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C6F1FF6D-1CFA-4205-B600-C1F7054B96FA}"/>
              </a:ext>
            </a:extLst>
          </p:cNvPr>
          <p:cNvPicPr>
            <a:picLocks noChangeAspect="1"/>
          </p:cNvPicPr>
          <p:nvPr/>
        </p:nvPicPr>
        <p:blipFill>
          <a:blip r:embed="rId2"/>
          <a:stretch>
            <a:fillRect/>
          </a:stretch>
        </p:blipFill>
        <p:spPr>
          <a:xfrm>
            <a:off x="3713809" y="477465"/>
            <a:ext cx="4560503" cy="2830509"/>
          </a:xfrm>
          <a:prstGeom prst="rect">
            <a:avLst/>
          </a:prstGeom>
        </p:spPr>
      </p:pic>
      <p:pic>
        <p:nvPicPr>
          <p:cNvPr id="5" name="Immagine 4">
            <a:extLst>
              <a:ext uri="{FF2B5EF4-FFF2-40B4-BE49-F238E27FC236}">
                <a16:creationId xmlns:a16="http://schemas.microsoft.com/office/drawing/2014/main" id="{49E1D643-B6BB-4081-84A0-F1820B3B43A0}"/>
              </a:ext>
            </a:extLst>
          </p:cNvPr>
          <p:cNvPicPr>
            <a:picLocks noChangeAspect="1"/>
          </p:cNvPicPr>
          <p:nvPr/>
        </p:nvPicPr>
        <p:blipFill>
          <a:blip r:embed="rId3"/>
          <a:stretch>
            <a:fillRect/>
          </a:stretch>
        </p:blipFill>
        <p:spPr>
          <a:xfrm>
            <a:off x="3731740" y="3307976"/>
            <a:ext cx="4513366" cy="3226886"/>
          </a:xfrm>
          <a:prstGeom prst="rect">
            <a:avLst/>
          </a:prstGeom>
        </p:spPr>
      </p:pic>
      <p:sp>
        <p:nvSpPr>
          <p:cNvPr id="6" name="Rettangolo 5">
            <a:extLst>
              <a:ext uri="{FF2B5EF4-FFF2-40B4-BE49-F238E27FC236}">
                <a16:creationId xmlns:a16="http://schemas.microsoft.com/office/drawing/2014/main" id="{36F99931-CE06-43DF-A32D-7B9F09FEB4E3}"/>
              </a:ext>
            </a:extLst>
          </p:cNvPr>
          <p:cNvSpPr/>
          <p:nvPr/>
        </p:nvSpPr>
        <p:spPr>
          <a:xfrm>
            <a:off x="8236141" y="5903067"/>
            <a:ext cx="1658471" cy="8422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8" name="Connettore diritto 7">
            <a:extLst>
              <a:ext uri="{FF2B5EF4-FFF2-40B4-BE49-F238E27FC236}">
                <a16:creationId xmlns:a16="http://schemas.microsoft.com/office/drawing/2014/main" id="{A2362F29-82AB-403F-9636-1FDA7387432A}"/>
              </a:ext>
            </a:extLst>
          </p:cNvPr>
          <p:cNvCxnSpPr/>
          <p:nvPr/>
        </p:nvCxnSpPr>
        <p:spPr>
          <a:xfrm>
            <a:off x="7888941" y="6534862"/>
            <a:ext cx="519953"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 name="Connettore diritto 8">
            <a:extLst>
              <a:ext uri="{FF2B5EF4-FFF2-40B4-BE49-F238E27FC236}">
                <a16:creationId xmlns:a16="http://schemas.microsoft.com/office/drawing/2014/main" id="{E101DDE1-A456-44E4-98AD-78C0128F76FF}"/>
              </a:ext>
            </a:extLst>
          </p:cNvPr>
          <p:cNvCxnSpPr>
            <a:cxnSpLocks/>
          </p:cNvCxnSpPr>
          <p:nvPr/>
        </p:nvCxnSpPr>
        <p:spPr>
          <a:xfrm flipH="1">
            <a:off x="7940306" y="6380533"/>
            <a:ext cx="286870"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55283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6B33EA90-02A2-47CB-ACE0-3AF03A40DDFF}"/>
              </a:ext>
            </a:extLst>
          </p:cNvPr>
          <p:cNvPicPr>
            <a:picLocks noChangeAspect="1"/>
          </p:cNvPicPr>
          <p:nvPr/>
        </p:nvPicPr>
        <p:blipFill>
          <a:blip r:embed="rId3"/>
          <a:stretch>
            <a:fillRect/>
          </a:stretch>
        </p:blipFill>
        <p:spPr>
          <a:xfrm>
            <a:off x="2040276" y="2012438"/>
            <a:ext cx="8111447" cy="4146994"/>
          </a:xfrm>
          <a:prstGeom prst="rect">
            <a:avLst/>
          </a:prstGeom>
        </p:spPr>
      </p:pic>
      <p:sp>
        <p:nvSpPr>
          <p:cNvPr id="5" name="Rettangolo 4">
            <a:extLst>
              <a:ext uri="{FF2B5EF4-FFF2-40B4-BE49-F238E27FC236}">
                <a16:creationId xmlns:a16="http://schemas.microsoft.com/office/drawing/2014/main" id="{F92B36F9-9384-48E6-BC2B-2834D3B9F5B2}"/>
              </a:ext>
            </a:extLst>
          </p:cNvPr>
          <p:cNvSpPr/>
          <p:nvPr/>
        </p:nvSpPr>
        <p:spPr>
          <a:xfrm>
            <a:off x="1165410" y="301697"/>
            <a:ext cx="10165977" cy="1477328"/>
          </a:xfrm>
          <a:prstGeom prst="rect">
            <a:avLst/>
          </a:prstGeom>
        </p:spPr>
        <p:txBody>
          <a:bodyPr wrap="square">
            <a:spAutoFit/>
          </a:bodyPr>
          <a:lstStyle/>
          <a:p>
            <a:pPr algn="just"/>
            <a:r>
              <a:rPr lang="it-IT" dirty="0">
                <a:solidFill>
                  <a:srgbClr val="0070C0"/>
                </a:solidFill>
                <a:latin typeface="Poppins" panose="020B0604020202020204" charset="0"/>
                <a:cs typeface="Poppins" panose="020B0604020202020204" charset="0"/>
              </a:rPr>
              <a:t>Facciamo una considerazione. Abbiamo appena notato che la società in esame ha ottenuto un utile di esercizio di 2,8 milioni, ma in che modo questa informazione può essere rilevante? Detto così non molto, se non per sapere che l’azienda ha prodotto un utile... Ma senza poter compiere analisi comparative e non avendo altri dati a disposizione possiamo calcolare il peso percentuale rispetto ai ricavi di vendita di ogni grandezza presente nel conto economico.</a:t>
            </a:r>
          </a:p>
        </p:txBody>
      </p:sp>
    </p:spTree>
    <p:extLst>
      <p:ext uri="{BB962C8B-B14F-4D97-AF65-F5344CB8AC3E}">
        <p14:creationId xmlns:p14="http://schemas.microsoft.com/office/powerpoint/2010/main" val="214213097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3525EF-CE30-45FF-BEB6-8453F0C1D900}">
  <ds:schemaRefs>
    <ds:schemaRef ds:uri="http://schemas.microsoft.com/sharepoint/v3/contenttype/forms"/>
  </ds:schemaRefs>
</ds:datastoreItem>
</file>

<file path=customXml/itemProps2.xml><?xml version="1.0" encoding="utf-8"?>
<ds:datastoreItem xmlns:ds="http://schemas.openxmlformats.org/officeDocument/2006/customXml" ds:itemID="{4A2A45BF-0B45-4094-BB33-ADD82FAEA0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7681ba-7771-496a-b5df-ee3e7b098b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8AA1535-5A9F-4DAC-9C04-0BAD0A72A54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1215</TotalTime>
  <Words>625</Words>
  <Application>Microsoft Office PowerPoint</Application>
  <PresentationFormat>Widescreen</PresentationFormat>
  <Paragraphs>50</Paragraphs>
  <Slides>20</Slides>
  <Notes>6</Notes>
  <HiddenSlides>0</HiddenSlides>
  <MMClips>0</MMClips>
  <ScaleCrop>false</ScaleCrop>
  <HeadingPairs>
    <vt:vector size="4" baseType="variant">
      <vt:variant>
        <vt:lpstr>Tema</vt:lpstr>
      </vt:variant>
      <vt:variant>
        <vt:i4>2</vt:i4>
      </vt:variant>
      <vt:variant>
        <vt:lpstr>Titoli diapositive</vt:lpstr>
      </vt:variant>
      <vt:variant>
        <vt:i4>20</vt:i4>
      </vt:variant>
    </vt:vector>
  </HeadingPairs>
  <TitlesOfParts>
    <vt:vector size="22" baseType="lpstr">
      <vt:lpstr>Tema di Office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Piccirillo Giuseppe</dc:creator>
  <cp:lastModifiedBy>Piccirillo Giuseppe</cp:lastModifiedBy>
  <cp:revision>29</cp:revision>
  <dcterms:created xsi:type="dcterms:W3CDTF">2024-04-17T18:05:52Z</dcterms:created>
  <dcterms:modified xsi:type="dcterms:W3CDTF">2026-06-01T14:24:36Z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